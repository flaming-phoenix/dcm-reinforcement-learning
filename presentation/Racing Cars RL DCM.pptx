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6264F-DD5C-B333-CBCA-F46BB236BA21}" v="15" dt="2026-01-07T10:16:55.6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38FF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38FF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38FF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521825" y="1687991"/>
            <a:ext cx="4857750" cy="5750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FF6A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38FF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40073"/>
            <a:ext cx="9289415" cy="80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38FF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23013" y="2778489"/>
            <a:ext cx="7841972" cy="4565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024994" y="9926637"/>
            <a:ext cx="818515" cy="19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9CA2AF"/>
                </a:solidFill>
                <a:latin typeface="Microsoft Sans Serif"/>
                <a:cs typeface="Microsoft Sans Serif"/>
              </a:defRPr>
            </a:lvl1pPr>
          </a:lstStyle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-1177" y="2823877"/>
            <a:ext cx="11650345" cy="3608039"/>
          </a:xfrm>
          <a:prstGeom prst="rect">
            <a:avLst/>
          </a:prstGeom>
        </p:spPr>
        <p:txBody>
          <a:bodyPr vert="horz" wrap="square" lIns="0" tIns="271145" rIns="0" bIns="0" rtlCol="0" anchor="t">
            <a:spAutoFit/>
          </a:bodyPr>
          <a:lstStyle/>
          <a:p>
            <a:pPr algn="ctr">
              <a:spcBef>
                <a:spcPts val="2135"/>
              </a:spcBef>
            </a:pPr>
            <a:r>
              <a:rPr sz="8000" b="1" spc="-240" dirty="0">
                <a:solidFill>
                  <a:srgbClr val="FFFFFF"/>
                </a:solidFill>
                <a:latin typeface="Arial"/>
                <a:cs typeface="Arial"/>
              </a:rPr>
              <a:t>Teaching</a:t>
            </a:r>
            <a:r>
              <a:rPr sz="800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spc="-210" dirty="0">
                <a:solidFill>
                  <a:srgbClr val="FFFFFF"/>
                </a:solidFill>
                <a:latin typeface="Arial"/>
                <a:cs typeface="Arial"/>
              </a:rPr>
              <a:t>Machines</a:t>
            </a:r>
            <a:r>
              <a:rPr sz="8000" b="1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spc="-21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8000" b="1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spc="-275" dirty="0">
                <a:solidFill>
                  <a:srgbClr val="FFFFFF"/>
                </a:solidFill>
                <a:latin typeface="Arial"/>
                <a:cs typeface="Arial"/>
              </a:rPr>
              <a:t>Race</a:t>
            </a:r>
            <a:r>
              <a:rPr lang="en-US" sz="8000" b="1" spc="-190" dirty="0">
                <a:solidFill>
                  <a:srgbClr val="FFFFFF"/>
                </a:solidFill>
                <a:latin typeface="Arial"/>
                <a:cs typeface="Arial"/>
              </a:rPr>
              <a:t> Cars</a:t>
            </a:r>
            <a:endParaRPr lang="en-US" sz="8000" b="1" spc="-265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89"/>
              </a:spcBef>
            </a:pPr>
            <a:r>
              <a:rPr sz="4000" spc="-125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4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4000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Random</a:t>
            </a:r>
            <a:r>
              <a:rPr sz="4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4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Actions</a:t>
            </a:r>
            <a:r>
              <a:rPr sz="4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4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Expert</a:t>
            </a:r>
            <a:r>
              <a:rPr sz="4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Drivers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3062" y="8881530"/>
            <a:ext cx="5641975" cy="783590"/>
          </a:xfrm>
          <a:prstGeom prst="rect">
            <a:avLst/>
          </a:prstGeom>
        </p:spPr>
        <p:txBody>
          <a:bodyPr vert="horz" wrap="square" lIns="0" tIns="90805" rIns="0" bIns="0" rtlCol="0" anchor="t">
            <a:spAutoFit/>
          </a:bodyPr>
          <a:lstStyle/>
          <a:p>
            <a:pPr algn="ctr">
              <a:spcBef>
                <a:spcPts val="715"/>
              </a:spcBef>
            </a:pPr>
            <a:r>
              <a:rPr lang="en-US" sz="1950" b="1" spc="-20" dirty="0">
                <a:solidFill>
                  <a:srgbClr val="D0D5DA"/>
                </a:solidFill>
                <a:latin typeface="Microsoft Sans Serif"/>
                <a:ea typeface="Microsoft Sans Serif"/>
                <a:cs typeface="Microsoft Sans Serif"/>
              </a:rPr>
              <a:t>January 2026</a:t>
            </a:r>
            <a:endParaRPr sz="1950" b="1" spc="-20" dirty="0">
              <a:solidFill>
                <a:srgbClr val="D0D5DA"/>
              </a:solidFill>
              <a:latin typeface="Microsoft Sans Serif"/>
              <a:cs typeface="Microsoft Sans Serif"/>
            </a:endParaRPr>
          </a:p>
          <a:p>
            <a:pPr algn="ctr">
              <a:spcBef>
                <a:spcPts val="610"/>
              </a:spcBef>
            </a:pPr>
            <a:r>
              <a:rPr lang="en-US"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Dr SSgt Scott Grandison</a:t>
            </a:r>
            <a:endParaRPr sz="2000" spc="-10" dirty="0">
              <a:solidFill>
                <a:srgbClr val="D0D5DA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BD58FC-57E2-036C-24FA-28C9A708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Driving Cars">
            <a:extLst>
              <a:ext uri="{FF2B5EF4-FFF2-40B4-BE49-F238E27FC236}">
                <a16:creationId xmlns:a16="http://schemas.microsoft.com/office/drawing/2014/main" id="{634D7459-2C6E-8DC2-1B5B-21754305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5" y="2825378"/>
            <a:ext cx="6455228" cy="474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>
                <a:solidFill>
                  <a:srgbClr val="00BEFF"/>
                </a:solidFill>
              </a:rPr>
              <a:t>What</a:t>
            </a:r>
            <a:r>
              <a:rPr spc="-340" dirty="0">
                <a:solidFill>
                  <a:srgbClr val="00BEFF"/>
                </a:solidFill>
              </a:rPr>
              <a:t> </a:t>
            </a:r>
            <a:r>
              <a:rPr spc="-270" dirty="0">
                <a:solidFill>
                  <a:srgbClr val="00BEFF"/>
                </a:solidFill>
              </a:rPr>
              <a:t>We</a:t>
            </a:r>
            <a:r>
              <a:rPr sz="5200" spc="-270" dirty="0">
                <a:solidFill>
                  <a:srgbClr val="00BEFF"/>
                </a:solidFill>
                <a:latin typeface="Verdana"/>
                <a:cs typeface="Verdana"/>
              </a:rPr>
              <a:t>'</a:t>
            </a:r>
            <a:r>
              <a:rPr spc="-270" dirty="0">
                <a:solidFill>
                  <a:srgbClr val="00BEFF"/>
                </a:solidFill>
              </a:rPr>
              <a:t>re</a:t>
            </a:r>
            <a:r>
              <a:rPr spc="-340" dirty="0">
                <a:solidFill>
                  <a:srgbClr val="00BEFF"/>
                </a:solidFill>
              </a:rPr>
              <a:t> </a:t>
            </a:r>
            <a:r>
              <a:rPr spc="-335" dirty="0">
                <a:solidFill>
                  <a:srgbClr val="00BEFF"/>
                </a:solidFill>
              </a:rPr>
              <a:t>Building</a:t>
            </a:r>
            <a:endParaRPr sz="5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3850396"/>
            <a:ext cx="639762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racing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car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simulation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where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drive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5574" y="1290498"/>
            <a:ext cx="17013886" cy="8342607"/>
            <a:chOff x="485574" y="1290498"/>
            <a:chExt cx="17013886" cy="8342607"/>
          </a:xfrm>
        </p:grpSpPr>
        <p:sp>
          <p:nvSpPr>
            <p:cNvPr id="5" name="object 5"/>
            <p:cNvSpPr/>
            <p:nvPr/>
          </p:nvSpPr>
          <p:spPr>
            <a:xfrm>
              <a:off x="485775" y="4805362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242887" y="142875"/>
                  </a:moveTo>
                  <a:lnTo>
                    <a:pt x="271462" y="142875"/>
                  </a:lnTo>
                  <a:lnTo>
                    <a:pt x="280035" y="142875"/>
                  </a:lnTo>
                  <a:lnTo>
                    <a:pt x="285750" y="137160"/>
                  </a:lnTo>
                  <a:lnTo>
                    <a:pt x="285750" y="128587"/>
                  </a:lnTo>
                  <a:lnTo>
                    <a:pt x="285750" y="85725"/>
                  </a:lnTo>
                  <a:lnTo>
                    <a:pt x="284008" y="76460"/>
                  </a:lnTo>
                  <a:lnTo>
                    <a:pt x="243423" y="53109"/>
                  </a:lnTo>
                  <a:lnTo>
                    <a:pt x="200025" y="42862"/>
                  </a:lnTo>
                  <a:lnTo>
                    <a:pt x="189086" y="31097"/>
                  </a:lnTo>
                  <a:lnTo>
                    <a:pt x="156805" y="2857"/>
                  </a:lnTo>
                  <a:lnTo>
                    <a:pt x="142875" y="0"/>
                  </a:lnTo>
                  <a:lnTo>
                    <a:pt x="42862" y="0"/>
                  </a:lnTo>
                  <a:lnTo>
                    <a:pt x="34290" y="0"/>
                  </a:lnTo>
                  <a:lnTo>
                    <a:pt x="2857" y="54292"/>
                  </a:lnTo>
                  <a:lnTo>
                    <a:pt x="0" y="71437"/>
                  </a:lnTo>
                  <a:lnTo>
                    <a:pt x="0" y="128587"/>
                  </a:lnTo>
                  <a:lnTo>
                    <a:pt x="0" y="137160"/>
                  </a:lnTo>
                  <a:lnTo>
                    <a:pt x="5714" y="142875"/>
                  </a:lnTo>
                  <a:lnTo>
                    <a:pt x="14287" y="142875"/>
                  </a:lnTo>
                  <a:lnTo>
                    <a:pt x="42862" y="142875"/>
                  </a:lnTo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" y="4905375"/>
              <a:ext cx="228600" cy="857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5574" y="5228987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5">
                  <a:moveTo>
                    <a:pt x="143075" y="43099"/>
                  </a:moveTo>
                  <a:lnTo>
                    <a:pt x="143092" y="37327"/>
                  </a:lnTo>
                  <a:lnTo>
                    <a:pt x="141988" y="31778"/>
                  </a:lnTo>
                  <a:lnTo>
                    <a:pt x="139763" y="26451"/>
                  </a:lnTo>
                  <a:lnTo>
                    <a:pt x="137538" y="21125"/>
                  </a:lnTo>
                  <a:lnTo>
                    <a:pt x="134367" y="16440"/>
                  </a:lnTo>
                  <a:lnTo>
                    <a:pt x="130249" y="12395"/>
                  </a:lnTo>
                  <a:lnTo>
                    <a:pt x="126131" y="8350"/>
                  </a:lnTo>
                  <a:lnTo>
                    <a:pt x="121389" y="5263"/>
                  </a:lnTo>
                  <a:lnTo>
                    <a:pt x="116024" y="3133"/>
                  </a:lnTo>
                  <a:lnTo>
                    <a:pt x="110659" y="1004"/>
                  </a:lnTo>
                  <a:lnTo>
                    <a:pt x="105091" y="0"/>
                  </a:lnTo>
                  <a:lnTo>
                    <a:pt x="99320" y="120"/>
                  </a:lnTo>
                  <a:lnTo>
                    <a:pt x="93549" y="240"/>
                  </a:lnTo>
                  <a:lnTo>
                    <a:pt x="88027" y="1476"/>
                  </a:lnTo>
                  <a:lnTo>
                    <a:pt x="82755" y="3827"/>
                  </a:lnTo>
                  <a:lnTo>
                    <a:pt x="77483" y="6178"/>
                  </a:lnTo>
                  <a:lnTo>
                    <a:pt x="60008" y="28114"/>
                  </a:lnTo>
                  <a:lnTo>
                    <a:pt x="58007" y="33528"/>
                  </a:lnTo>
                  <a:lnTo>
                    <a:pt x="57135" y="39119"/>
                  </a:lnTo>
                  <a:lnTo>
                    <a:pt x="57393" y="44885"/>
                  </a:lnTo>
                  <a:lnTo>
                    <a:pt x="53194" y="45965"/>
                  </a:lnTo>
                  <a:lnTo>
                    <a:pt x="49170" y="47502"/>
                  </a:lnTo>
                  <a:lnTo>
                    <a:pt x="45321" y="49498"/>
                  </a:lnTo>
                  <a:lnTo>
                    <a:pt x="41471" y="51494"/>
                  </a:lnTo>
                  <a:lnTo>
                    <a:pt x="25760" y="66139"/>
                  </a:lnTo>
                  <a:lnTo>
                    <a:pt x="23173" y="69618"/>
                  </a:lnTo>
                  <a:lnTo>
                    <a:pt x="14346" y="98222"/>
                  </a:lnTo>
                  <a:lnTo>
                    <a:pt x="14522" y="102554"/>
                  </a:lnTo>
                  <a:lnTo>
                    <a:pt x="14698" y="106886"/>
                  </a:lnTo>
                  <a:lnTo>
                    <a:pt x="15358" y="111143"/>
                  </a:lnTo>
                  <a:lnTo>
                    <a:pt x="16503" y="115325"/>
                  </a:lnTo>
                  <a:lnTo>
                    <a:pt x="17648" y="119507"/>
                  </a:lnTo>
                  <a:lnTo>
                    <a:pt x="19248" y="123506"/>
                  </a:lnTo>
                  <a:lnTo>
                    <a:pt x="21303" y="127324"/>
                  </a:lnTo>
                  <a:lnTo>
                    <a:pt x="17689" y="130260"/>
                  </a:lnTo>
                  <a:lnTo>
                    <a:pt x="14482" y="133587"/>
                  </a:lnTo>
                  <a:lnTo>
                    <a:pt x="11682" y="137306"/>
                  </a:lnTo>
                  <a:lnTo>
                    <a:pt x="8882" y="141026"/>
                  </a:lnTo>
                  <a:lnTo>
                    <a:pt x="0" y="171848"/>
                  </a:lnTo>
                  <a:lnTo>
                    <a:pt x="391" y="176487"/>
                  </a:lnTo>
                  <a:lnTo>
                    <a:pt x="783" y="181126"/>
                  </a:lnTo>
                  <a:lnTo>
                    <a:pt x="21473" y="216419"/>
                  </a:lnTo>
                  <a:lnTo>
                    <a:pt x="29247" y="221450"/>
                  </a:lnTo>
                  <a:lnTo>
                    <a:pt x="28746" y="225324"/>
                  </a:lnTo>
                  <a:lnTo>
                    <a:pt x="28643" y="229208"/>
                  </a:lnTo>
                  <a:lnTo>
                    <a:pt x="28939" y="233102"/>
                  </a:lnTo>
                  <a:lnTo>
                    <a:pt x="29235" y="236997"/>
                  </a:lnTo>
                  <a:lnTo>
                    <a:pt x="35350" y="255390"/>
                  </a:lnTo>
                  <a:lnTo>
                    <a:pt x="37169" y="258846"/>
                  </a:lnTo>
                  <a:lnTo>
                    <a:pt x="39320" y="262082"/>
                  </a:lnTo>
                  <a:lnTo>
                    <a:pt x="41802" y="265098"/>
                  </a:lnTo>
                  <a:lnTo>
                    <a:pt x="44285" y="268113"/>
                  </a:lnTo>
                  <a:lnTo>
                    <a:pt x="70730" y="283869"/>
                  </a:lnTo>
                  <a:lnTo>
                    <a:pt x="74495" y="284907"/>
                  </a:lnTo>
                  <a:lnTo>
                    <a:pt x="78327" y="285553"/>
                  </a:lnTo>
                  <a:lnTo>
                    <a:pt x="82224" y="285806"/>
                  </a:lnTo>
                  <a:lnTo>
                    <a:pt x="86122" y="286059"/>
                  </a:lnTo>
                  <a:lnTo>
                    <a:pt x="90005" y="285914"/>
                  </a:lnTo>
                  <a:lnTo>
                    <a:pt x="93873" y="285371"/>
                  </a:lnTo>
                  <a:lnTo>
                    <a:pt x="97740" y="284827"/>
                  </a:lnTo>
                  <a:lnTo>
                    <a:pt x="101513" y="283898"/>
                  </a:lnTo>
                  <a:lnTo>
                    <a:pt x="105190" y="282581"/>
                  </a:lnTo>
                  <a:lnTo>
                    <a:pt x="108867" y="281264"/>
                  </a:lnTo>
                  <a:lnTo>
                    <a:pt x="112373" y="279588"/>
                  </a:lnTo>
                  <a:lnTo>
                    <a:pt x="115706" y="277553"/>
                  </a:lnTo>
                  <a:lnTo>
                    <a:pt x="119040" y="275517"/>
                  </a:lnTo>
                  <a:lnTo>
                    <a:pt x="122132" y="273165"/>
                  </a:lnTo>
                  <a:lnTo>
                    <a:pt x="124984" y="270496"/>
                  </a:lnTo>
                  <a:lnTo>
                    <a:pt x="127835" y="267826"/>
                  </a:lnTo>
                  <a:lnTo>
                    <a:pt x="130386" y="264895"/>
                  </a:lnTo>
                  <a:lnTo>
                    <a:pt x="132636" y="261703"/>
                  </a:lnTo>
                  <a:lnTo>
                    <a:pt x="134887" y="258511"/>
                  </a:lnTo>
                  <a:lnTo>
                    <a:pt x="136790" y="255123"/>
                  </a:lnTo>
                  <a:lnTo>
                    <a:pt x="138345" y="251541"/>
                  </a:lnTo>
                  <a:lnTo>
                    <a:pt x="139901" y="247958"/>
                  </a:lnTo>
                  <a:lnTo>
                    <a:pt x="141077" y="244255"/>
                  </a:lnTo>
                  <a:lnTo>
                    <a:pt x="141874" y="240431"/>
                  </a:lnTo>
                  <a:lnTo>
                    <a:pt x="142671" y="236607"/>
                  </a:lnTo>
                  <a:lnTo>
                    <a:pt x="143071" y="232743"/>
                  </a:lnTo>
                  <a:lnTo>
                    <a:pt x="143075" y="228837"/>
                  </a:lnTo>
                  <a:lnTo>
                    <a:pt x="143075" y="43099"/>
                  </a:lnTo>
                  <a:close/>
                </a:path>
                <a:path w="286384" h="286385">
                  <a:moveTo>
                    <a:pt x="143075" y="43099"/>
                  </a:moveTo>
                  <a:lnTo>
                    <a:pt x="143058" y="37327"/>
                  </a:lnTo>
                  <a:lnTo>
                    <a:pt x="144162" y="31778"/>
                  </a:lnTo>
                  <a:lnTo>
                    <a:pt x="146387" y="26451"/>
                  </a:lnTo>
                  <a:lnTo>
                    <a:pt x="148612" y="21125"/>
                  </a:lnTo>
                  <a:lnTo>
                    <a:pt x="170126" y="3133"/>
                  </a:lnTo>
                  <a:lnTo>
                    <a:pt x="175491" y="1004"/>
                  </a:lnTo>
                  <a:lnTo>
                    <a:pt x="181060" y="0"/>
                  </a:lnTo>
                  <a:lnTo>
                    <a:pt x="186831" y="120"/>
                  </a:lnTo>
                  <a:lnTo>
                    <a:pt x="192602" y="240"/>
                  </a:lnTo>
                  <a:lnTo>
                    <a:pt x="217221" y="13673"/>
                  </a:lnTo>
                  <a:lnTo>
                    <a:pt x="221167" y="17886"/>
                  </a:lnTo>
                  <a:lnTo>
                    <a:pt x="224141" y="22700"/>
                  </a:lnTo>
                  <a:lnTo>
                    <a:pt x="226142" y="28114"/>
                  </a:lnTo>
                  <a:lnTo>
                    <a:pt x="228143" y="33528"/>
                  </a:lnTo>
                  <a:lnTo>
                    <a:pt x="229015" y="39119"/>
                  </a:lnTo>
                  <a:lnTo>
                    <a:pt x="228757" y="44885"/>
                  </a:lnTo>
                  <a:lnTo>
                    <a:pt x="232956" y="45965"/>
                  </a:lnTo>
                  <a:lnTo>
                    <a:pt x="260390" y="66139"/>
                  </a:lnTo>
                  <a:lnTo>
                    <a:pt x="262977" y="69618"/>
                  </a:lnTo>
                  <a:lnTo>
                    <a:pt x="271804" y="98222"/>
                  </a:lnTo>
                  <a:lnTo>
                    <a:pt x="271628" y="102554"/>
                  </a:lnTo>
                  <a:lnTo>
                    <a:pt x="271453" y="106886"/>
                  </a:lnTo>
                  <a:lnTo>
                    <a:pt x="270792" y="111143"/>
                  </a:lnTo>
                  <a:lnTo>
                    <a:pt x="269647" y="115325"/>
                  </a:lnTo>
                  <a:lnTo>
                    <a:pt x="268502" y="119507"/>
                  </a:lnTo>
                  <a:lnTo>
                    <a:pt x="266903" y="123506"/>
                  </a:lnTo>
                  <a:lnTo>
                    <a:pt x="264847" y="127324"/>
                  </a:lnTo>
                  <a:lnTo>
                    <a:pt x="268461" y="130260"/>
                  </a:lnTo>
                  <a:lnTo>
                    <a:pt x="271668" y="133587"/>
                  </a:lnTo>
                  <a:lnTo>
                    <a:pt x="274468" y="137306"/>
                  </a:lnTo>
                  <a:lnTo>
                    <a:pt x="277268" y="141026"/>
                  </a:lnTo>
                  <a:lnTo>
                    <a:pt x="279580" y="145027"/>
                  </a:lnTo>
                  <a:lnTo>
                    <a:pt x="281402" y="149312"/>
                  </a:lnTo>
                  <a:lnTo>
                    <a:pt x="283224" y="153596"/>
                  </a:lnTo>
                  <a:lnTo>
                    <a:pt x="284504" y="158036"/>
                  </a:lnTo>
                  <a:lnTo>
                    <a:pt x="285241" y="162633"/>
                  </a:lnTo>
                  <a:lnTo>
                    <a:pt x="285978" y="167230"/>
                  </a:lnTo>
                  <a:lnTo>
                    <a:pt x="286151" y="171848"/>
                  </a:lnTo>
                  <a:lnTo>
                    <a:pt x="285759" y="176487"/>
                  </a:lnTo>
                  <a:lnTo>
                    <a:pt x="285368" y="181126"/>
                  </a:lnTo>
                  <a:lnTo>
                    <a:pt x="276909" y="202548"/>
                  </a:lnTo>
                  <a:lnTo>
                    <a:pt x="274394" y="206466"/>
                  </a:lnTo>
                  <a:lnTo>
                    <a:pt x="256904" y="221450"/>
                  </a:lnTo>
                  <a:lnTo>
                    <a:pt x="257404" y="225324"/>
                  </a:lnTo>
                  <a:lnTo>
                    <a:pt x="257507" y="229208"/>
                  </a:lnTo>
                  <a:lnTo>
                    <a:pt x="257211" y="233102"/>
                  </a:lnTo>
                  <a:lnTo>
                    <a:pt x="256915" y="236997"/>
                  </a:lnTo>
                  <a:lnTo>
                    <a:pt x="256228" y="240821"/>
                  </a:lnTo>
                  <a:lnTo>
                    <a:pt x="255148" y="244575"/>
                  </a:lnTo>
                  <a:lnTo>
                    <a:pt x="254068" y="248328"/>
                  </a:lnTo>
                  <a:lnTo>
                    <a:pt x="252619" y="251933"/>
                  </a:lnTo>
                  <a:lnTo>
                    <a:pt x="250800" y="255390"/>
                  </a:lnTo>
                  <a:lnTo>
                    <a:pt x="248981" y="258846"/>
                  </a:lnTo>
                  <a:lnTo>
                    <a:pt x="246830" y="262082"/>
                  </a:lnTo>
                  <a:lnTo>
                    <a:pt x="244348" y="265098"/>
                  </a:lnTo>
                  <a:lnTo>
                    <a:pt x="241866" y="268113"/>
                  </a:lnTo>
                  <a:lnTo>
                    <a:pt x="215420" y="283869"/>
                  </a:lnTo>
                  <a:lnTo>
                    <a:pt x="211655" y="284907"/>
                  </a:lnTo>
                  <a:lnTo>
                    <a:pt x="207824" y="285553"/>
                  </a:lnTo>
                  <a:lnTo>
                    <a:pt x="203926" y="285806"/>
                  </a:lnTo>
                  <a:lnTo>
                    <a:pt x="200028" y="286059"/>
                  </a:lnTo>
                  <a:lnTo>
                    <a:pt x="196146" y="285914"/>
                  </a:lnTo>
                  <a:lnTo>
                    <a:pt x="192278" y="285371"/>
                  </a:lnTo>
                  <a:lnTo>
                    <a:pt x="188410" y="284827"/>
                  </a:lnTo>
                  <a:lnTo>
                    <a:pt x="184637" y="283898"/>
                  </a:lnTo>
                  <a:lnTo>
                    <a:pt x="180960" y="282581"/>
                  </a:lnTo>
                  <a:lnTo>
                    <a:pt x="177283" y="281264"/>
                  </a:lnTo>
                  <a:lnTo>
                    <a:pt x="173777" y="279588"/>
                  </a:lnTo>
                  <a:lnTo>
                    <a:pt x="170444" y="277553"/>
                  </a:lnTo>
                  <a:lnTo>
                    <a:pt x="167110" y="275517"/>
                  </a:lnTo>
                  <a:lnTo>
                    <a:pt x="164018" y="273165"/>
                  </a:lnTo>
                  <a:lnTo>
                    <a:pt x="161166" y="270496"/>
                  </a:lnTo>
                  <a:lnTo>
                    <a:pt x="158315" y="267826"/>
                  </a:lnTo>
                  <a:lnTo>
                    <a:pt x="147805" y="251541"/>
                  </a:lnTo>
                  <a:lnTo>
                    <a:pt x="146249" y="247958"/>
                  </a:lnTo>
                  <a:lnTo>
                    <a:pt x="145073" y="244255"/>
                  </a:lnTo>
                  <a:lnTo>
                    <a:pt x="144276" y="240431"/>
                  </a:lnTo>
                  <a:lnTo>
                    <a:pt x="143480" y="236607"/>
                  </a:lnTo>
                  <a:lnTo>
                    <a:pt x="143079" y="232743"/>
                  </a:lnTo>
                  <a:lnTo>
                    <a:pt x="143075" y="228837"/>
                  </a:lnTo>
                  <a:lnTo>
                    <a:pt x="143075" y="43099"/>
                  </a:lnTo>
                  <a:close/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590" y="5259585"/>
              <a:ext cx="272119" cy="1410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821" y="5450452"/>
              <a:ext cx="227965" cy="7620"/>
            </a:xfrm>
            <a:custGeom>
              <a:avLst/>
              <a:gdLst/>
              <a:ahLst/>
              <a:cxnLst/>
              <a:rect l="l" t="t" r="r" b="b"/>
              <a:pathLst>
                <a:path w="227965" h="7620">
                  <a:moveTo>
                    <a:pt x="28103" y="7372"/>
                  </a:moveTo>
                  <a:lnTo>
                    <a:pt x="20714" y="6914"/>
                  </a:lnTo>
                  <a:lnTo>
                    <a:pt x="13567" y="5532"/>
                  </a:lnTo>
                  <a:lnTo>
                    <a:pt x="6662" y="3228"/>
                  </a:lnTo>
                  <a:lnTo>
                    <a:pt x="0" y="0"/>
                  </a:lnTo>
                </a:path>
                <a:path w="227965" h="7620">
                  <a:moveTo>
                    <a:pt x="227657" y="0"/>
                  </a:moveTo>
                  <a:lnTo>
                    <a:pt x="220994" y="3228"/>
                  </a:lnTo>
                  <a:lnTo>
                    <a:pt x="214089" y="5532"/>
                  </a:lnTo>
                  <a:lnTo>
                    <a:pt x="206942" y="6914"/>
                  </a:lnTo>
                  <a:lnTo>
                    <a:pt x="199553" y="7372"/>
                  </a:lnTo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0062" y="5724525"/>
              <a:ext cx="257175" cy="285750"/>
            </a:xfrm>
            <a:custGeom>
              <a:avLst/>
              <a:gdLst/>
              <a:ahLst/>
              <a:cxnLst/>
              <a:rect l="l" t="t" r="r" b="b"/>
              <a:pathLst>
                <a:path w="257175" h="285750">
                  <a:moveTo>
                    <a:pt x="200025" y="0"/>
                  </a:moveTo>
                  <a:lnTo>
                    <a:pt x="257175" y="57150"/>
                  </a:lnTo>
                  <a:lnTo>
                    <a:pt x="200025" y="114300"/>
                  </a:lnTo>
                </a:path>
                <a:path w="257175" h="285750">
                  <a:moveTo>
                    <a:pt x="0" y="128587"/>
                  </a:moveTo>
                  <a:lnTo>
                    <a:pt x="0" y="114300"/>
                  </a:lnTo>
                  <a:lnTo>
                    <a:pt x="0" y="110547"/>
                  </a:lnTo>
                  <a:lnTo>
                    <a:pt x="366" y="106831"/>
                  </a:lnTo>
                  <a:lnTo>
                    <a:pt x="1098" y="103150"/>
                  </a:lnTo>
                  <a:lnTo>
                    <a:pt x="1830" y="99470"/>
                  </a:lnTo>
                  <a:lnTo>
                    <a:pt x="2914" y="95896"/>
                  </a:lnTo>
                  <a:lnTo>
                    <a:pt x="4350" y="92429"/>
                  </a:lnTo>
                  <a:lnTo>
                    <a:pt x="5786" y="88962"/>
                  </a:lnTo>
                  <a:lnTo>
                    <a:pt x="7546" y="85669"/>
                  </a:lnTo>
                  <a:lnTo>
                    <a:pt x="9631" y="82549"/>
                  </a:lnTo>
                  <a:lnTo>
                    <a:pt x="11716" y="79429"/>
                  </a:lnTo>
                  <a:lnTo>
                    <a:pt x="14085" y="76542"/>
                  </a:lnTo>
                  <a:lnTo>
                    <a:pt x="16738" y="73888"/>
                  </a:lnTo>
                  <a:lnTo>
                    <a:pt x="19392" y="71235"/>
                  </a:lnTo>
                  <a:lnTo>
                    <a:pt x="22279" y="68866"/>
                  </a:lnTo>
                  <a:lnTo>
                    <a:pt x="25399" y="66781"/>
                  </a:lnTo>
                  <a:lnTo>
                    <a:pt x="28519" y="64696"/>
                  </a:lnTo>
                  <a:lnTo>
                    <a:pt x="31812" y="62936"/>
                  </a:lnTo>
                  <a:lnTo>
                    <a:pt x="35279" y="61500"/>
                  </a:lnTo>
                  <a:lnTo>
                    <a:pt x="38746" y="60064"/>
                  </a:lnTo>
                  <a:lnTo>
                    <a:pt x="42320" y="58980"/>
                  </a:lnTo>
                  <a:lnTo>
                    <a:pt x="46000" y="58248"/>
                  </a:lnTo>
                  <a:lnTo>
                    <a:pt x="49681" y="57516"/>
                  </a:lnTo>
                  <a:lnTo>
                    <a:pt x="53397" y="57150"/>
                  </a:lnTo>
                  <a:lnTo>
                    <a:pt x="57150" y="57150"/>
                  </a:lnTo>
                  <a:lnTo>
                    <a:pt x="257175" y="57150"/>
                  </a:lnTo>
                </a:path>
                <a:path w="257175" h="285750">
                  <a:moveTo>
                    <a:pt x="57150" y="285750"/>
                  </a:moveTo>
                  <a:lnTo>
                    <a:pt x="0" y="228600"/>
                  </a:lnTo>
                  <a:lnTo>
                    <a:pt x="57150" y="171450"/>
                  </a:lnTo>
                </a:path>
                <a:path w="257175" h="285750">
                  <a:moveTo>
                    <a:pt x="257175" y="157162"/>
                  </a:moveTo>
                  <a:lnTo>
                    <a:pt x="257175" y="171450"/>
                  </a:lnTo>
                  <a:lnTo>
                    <a:pt x="257174" y="175202"/>
                  </a:lnTo>
                  <a:lnTo>
                    <a:pt x="256808" y="178918"/>
                  </a:lnTo>
                  <a:lnTo>
                    <a:pt x="256076" y="182599"/>
                  </a:lnTo>
                  <a:lnTo>
                    <a:pt x="255344" y="186279"/>
                  </a:lnTo>
                  <a:lnTo>
                    <a:pt x="254260" y="189853"/>
                  </a:lnTo>
                  <a:lnTo>
                    <a:pt x="252824" y="193320"/>
                  </a:lnTo>
                  <a:lnTo>
                    <a:pt x="251388" y="196787"/>
                  </a:lnTo>
                  <a:lnTo>
                    <a:pt x="231775" y="218968"/>
                  </a:lnTo>
                  <a:lnTo>
                    <a:pt x="228655" y="221053"/>
                  </a:lnTo>
                  <a:lnTo>
                    <a:pt x="200025" y="228600"/>
                  </a:lnTo>
                  <a:lnTo>
                    <a:pt x="0" y="228600"/>
                  </a:lnTo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5775" y="6291262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285750" y="0"/>
                  </a:moveTo>
                  <a:lnTo>
                    <a:pt x="164306" y="121443"/>
                  </a:lnTo>
                  <a:lnTo>
                    <a:pt x="92868" y="50006"/>
                  </a:lnTo>
                  <a:lnTo>
                    <a:pt x="0" y="142875"/>
                  </a:lnTo>
                </a:path>
                <a:path w="285750" h="142875">
                  <a:moveTo>
                    <a:pt x="200025" y="0"/>
                  </a:moveTo>
                  <a:lnTo>
                    <a:pt x="285750" y="0"/>
                  </a:lnTo>
                  <a:lnTo>
                    <a:pt x="285750" y="85725"/>
                  </a:lnTo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5775" y="6729412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200025" y="257175"/>
                  </a:moveTo>
                  <a:lnTo>
                    <a:pt x="200025" y="228600"/>
                  </a:lnTo>
                  <a:lnTo>
                    <a:pt x="200024" y="224847"/>
                  </a:lnTo>
                  <a:lnTo>
                    <a:pt x="199658" y="221131"/>
                  </a:lnTo>
                  <a:lnTo>
                    <a:pt x="198926" y="217450"/>
                  </a:lnTo>
                  <a:lnTo>
                    <a:pt x="198194" y="213770"/>
                  </a:lnTo>
                  <a:lnTo>
                    <a:pt x="174625" y="181081"/>
                  </a:lnTo>
                  <a:lnTo>
                    <a:pt x="171505" y="178996"/>
                  </a:lnTo>
                  <a:lnTo>
                    <a:pt x="146627" y="171450"/>
                  </a:lnTo>
                  <a:lnTo>
                    <a:pt x="142875" y="171450"/>
                  </a:lnTo>
                  <a:lnTo>
                    <a:pt x="57150" y="171450"/>
                  </a:lnTo>
                  <a:lnTo>
                    <a:pt x="53397" y="171450"/>
                  </a:lnTo>
                  <a:lnTo>
                    <a:pt x="49681" y="171816"/>
                  </a:lnTo>
                  <a:lnTo>
                    <a:pt x="16738" y="188188"/>
                  </a:lnTo>
                  <a:lnTo>
                    <a:pt x="14085" y="190842"/>
                  </a:lnTo>
                  <a:lnTo>
                    <a:pt x="1098" y="217450"/>
                  </a:lnTo>
                  <a:lnTo>
                    <a:pt x="366" y="221131"/>
                  </a:lnTo>
                  <a:lnTo>
                    <a:pt x="0" y="224847"/>
                  </a:lnTo>
                  <a:lnTo>
                    <a:pt x="0" y="228600"/>
                  </a:lnTo>
                  <a:lnTo>
                    <a:pt x="0" y="257175"/>
                  </a:lnTo>
                </a:path>
                <a:path w="285750" h="257175">
                  <a:moveTo>
                    <a:pt x="157162" y="57150"/>
                  </a:moveTo>
                  <a:lnTo>
                    <a:pt x="147530" y="88900"/>
                  </a:lnTo>
                  <a:lnTo>
                    <a:pt x="145446" y="92020"/>
                  </a:lnTo>
                  <a:lnTo>
                    <a:pt x="143077" y="94907"/>
                  </a:lnTo>
                  <a:lnTo>
                    <a:pt x="140423" y="97561"/>
                  </a:lnTo>
                  <a:lnTo>
                    <a:pt x="137770" y="100214"/>
                  </a:lnTo>
                  <a:lnTo>
                    <a:pt x="100012" y="114300"/>
                  </a:lnTo>
                  <a:lnTo>
                    <a:pt x="96259" y="114299"/>
                  </a:lnTo>
                  <a:lnTo>
                    <a:pt x="59601" y="97561"/>
                  </a:lnTo>
                  <a:lnTo>
                    <a:pt x="56947" y="94907"/>
                  </a:lnTo>
                  <a:lnTo>
                    <a:pt x="54578" y="92020"/>
                  </a:lnTo>
                  <a:lnTo>
                    <a:pt x="52494" y="88900"/>
                  </a:lnTo>
                  <a:lnTo>
                    <a:pt x="50409" y="85780"/>
                  </a:lnTo>
                  <a:lnTo>
                    <a:pt x="43960" y="68299"/>
                  </a:lnTo>
                  <a:lnTo>
                    <a:pt x="43228" y="64618"/>
                  </a:lnTo>
                  <a:lnTo>
                    <a:pt x="42862" y="60902"/>
                  </a:lnTo>
                  <a:lnTo>
                    <a:pt x="42862" y="57150"/>
                  </a:lnTo>
                  <a:lnTo>
                    <a:pt x="42862" y="53397"/>
                  </a:lnTo>
                  <a:lnTo>
                    <a:pt x="43228" y="49681"/>
                  </a:lnTo>
                  <a:lnTo>
                    <a:pt x="43960" y="46000"/>
                  </a:lnTo>
                  <a:lnTo>
                    <a:pt x="44692" y="42320"/>
                  </a:lnTo>
                  <a:lnTo>
                    <a:pt x="59601" y="16738"/>
                  </a:lnTo>
                  <a:lnTo>
                    <a:pt x="62254" y="14085"/>
                  </a:lnTo>
                  <a:lnTo>
                    <a:pt x="88863" y="1098"/>
                  </a:lnTo>
                  <a:lnTo>
                    <a:pt x="92543" y="366"/>
                  </a:lnTo>
                  <a:lnTo>
                    <a:pt x="96259" y="0"/>
                  </a:lnTo>
                  <a:lnTo>
                    <a:pt x="100012" y="0"/>
                  </a:lnTo>
                  <a:lnTo>
                    <a:pt x="103765" y="0"/>
                  </a:lnTo>
                  <a:lnTo>
                    <a:pt x="121882" y="4350"/>
                  </a:lnTo>
                  <a:lnTo>
                    <a:pt x="125349" y="5786"/>
                  </a:lnTo>
                  <a:lnTo>
                    <a:pt x="140423" y="16738"/>
                  </a:lnTo>
                  <a:lnTo>
                    <a:pt x="143077" y="19392"/>
                  </a:lnTo>
                  <a:lnTo>
                    <a:pt x="157162" y="53397"/>
                  </a:lnTo>
                  <a:lnTo>
                    <a:pt x="157162" y="57150"/>
                  </a:lnTo>
                  <a:close/>
                </a:path>
                <a:path w="285750" h="257175">
                  <a:moveTo>
                    <a:pt x="285750" y="257175"/>
                  </a:moveTo>
                  <a:lnTo>
                    <a:pt x="285750" y="228600"/>
                  </a:lnTo>
                  <a:lnTo>
                    <a:pt x="285745" y="222268"/>
                  </a:lnTo>
                  <a:lnTo>
                    <a:pt x="284716" y="216108"/>
                  </a:lnTo>
                  <a:lnTo>
                    <a:pt x="282664" y="210118"/>
                  </a:lnTo>
                  <a:lnTo>
                    <a:pt x="280612" y="204129"/>
                  </a:lnTo>
                  <a:lnTo>
                    <a:pt x="249017" y="174890"/>
                  </a:lnTo>
                  <a:lnTo>
                    <a:pt x="242887" y="173307"/>
                  </a:lnTo>
                </a:path>
                <a:path w="285750" h="257175">
                  <a:moveTo>
                    <a:pt x="200025" y="1857"/>
                  </a:moveTo>
                  <a:lnTo>
                    <a:pt x="206171" y="3431"/>
                  </a:lnTo>
                  <a:lnTo>
                    <a:pt x="211897" y="5958"/>
                  </a:lnTo>
                  <a:lnTo>
                    <a:pt x="217202" y="9439"/>
                  </a:lnTo>
                  <a:lnTo>
                    <a:pt x="222506" y="12920"/>
                  </a:lnTo>
                  <a:lnTo>
                    <a:pt x="227104" y="17166"/>
                  </a:lnTo>
                  <a:lnTo>
                    <a:pt x="230995" y="22178"/>
                  </a:lnTo>
                  <a:lnTo>
                    <a:pt x="234885" y="27190"/>
                  </a:lnTo>
                  <a:lnTo>
                    <a:pt x="242999" y="57221"/>
                  </a:lnTo>
                  <a:lnTo>
                    <a:pt x="242999" y="63566"/>
                  </a:lnTo>
                  <a:lnTo>
                    <a:pt x="230995" y="92264"/>
                  </a:lnTo>
                  <a:lnTo>
                    <a:pt x="227104" y="97276"/>
                  </a:lnTo>
                  <a:lnTo>
                    <a:pt x="222506" y="101522"/>
                  </a:lnTo>
                  <a:lnTo>
                    <a:pt x="217202" y="105003"/>
                  </a:lnTo>
                  <a:lnTo>
                    <a:pt x="211897" y="108484"/>
                  </a:lnTo>
                  <a:lnTo>
                    <a:pt x="206171" y="111011"/>
                  </a:lnTo>
                  <a:lnTo>
                    <a:pt x="200025" y="112585"/>
                  </a:lnTo>
                </a:path>
              </a:pathLst>
            </a:custGeom>
            <a:ln w="2857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81493" y="1290498"/>
              <a:ext cx="7617967" cy="8342607"/>
            </a:xfrm>
            <a:custGeom>
              <a:avLst/>
              <a:gdLst/>
              <a:ahLst/>
              <a:cxnLst/>
              <a:rect l="l" t="t" r="r" b="b"/>
              <a:pathLst>
                <a:path w="8439150" h="8553450">
                  <a:moveTo>
                    <a:pt x="0" y="84867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8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0" y="13668"/>
                  </a:lnTo>
                  <a:lnTo>
                    <a:pt x="29631" y="11236"/>
                  </a:lnTo>
                  <a:lnTo>
                    <a:pt x="33270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2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372475" y="0"/>
                  </a:lnTo>
                  <a:lnTo>
                    <a:pt x="8376852" y="0"/>
                  </a:lnTo>
                  <a:lnTo>
                    <a:pt x="8381187" y="427"/>
                  </a:lnTo>
                  <a:lnTo>
                    <a:pt x="8385480" y="1281"/>
                  </a:lnTo>
                  <a:lnTo>
                    <a:pt x="8389774" y="2135"/>
                  </a:lnTo>
                  <a:lnTo>
                    <a:pt x="8409513" y="11236"/>
                  </a:lnTo>
                  <a:lnTo>
                    <a:pt x="8413154" y="13668"/>
                  </a:lnTo>
                  <a:lnTo>
                    <a:pt x="8434072" y="41159"/>
                  </a:lnTo>
                  <a:lnTo>
                    <a:pt x="8435747" y="45204"/>
                  </a:lnTo>
                  <a:lnTo>
                    <a:pt x="8437012" y="49373"/>
                  </a:lnTo>
                  <a:lnTo>
                    <a:pt x="8437867" y="53667"/>
                  </a:lnTo>
                  <a:lnTo>
                    <a:pt x="8438722" y="57961"/>
                  </a:lnTo>
                  <a:lnTo>
                    <a:pt x="8439150" y="62297"/>
                  </a:lnTo>
                  <a:lnTo>
                    <a:pt x="8439150" y="66675"/>
                  </a:lnTo>
                  <a:lnTo>
                    <a:pt x="8439150" y="8486775"/>
                  </a:lnTo>
                  <a:lnTo>
                    <a:pt x="8439150" y="8491152"/>
                  </a:lnTo>
                  <a:lnTo>
                    <a:pt x="8438722" y="8495488"/>
                  </a:lnTo>
                  <a:lnTo>
                    <a:pt x="8422713" y="8530825"/>
                  </a:lnTo>
                  <a:lnTo>
                    <a:pt x="8397987" y="8548373"/>
                  </a:lnTo>
                  <a:lnTo>
                    <a:pt x="8393942" y="8550049"/>
                  </a:lnTo>
                  <a:lnTo>
                    <a:pt x="8389774" y="8551314"/>
                  </a:lnTo>
                  <a:lnTo>
                    <a:pt x="8385480" y="8552167"/>
                  </a:lnTo>
                  <a:lnTo>
                    <a:pt x="8381187" y="8553022"/>
                  </a:lnTo>
                  <a:lnTo>
                    <a:pt x="8376852" y="8553449"/>
                  </a:lnTo>
                  <a:lnTo>
                    <a:pt x="8372475" y="8553450"/>
                  </a:lnTo>
                  <a:lnTo>
                    <a:pt x="66675" y="8553450"/>
                  </a:lnTo>
                  <a:lnTo>
                    <a:pt x="62297" y="8553449"/>
                  </a:lnTo>
                  <a:lnTo>
                    <a:pt x="57960" y="8553022"/>
                  </a:lnTo>
                  <a:lnTo>
                    <a:pt x="53665" y="8552167"/>
                  </a:lnTo>
                  <a:lnTo>
                    <a:pt x="49372" y="8551314"/>
                  </a:lnTo>
                  <a:lnTo>
                    <a:pt x="45202" y="8550049"/>
                  </a:lnTo>
                  <a:lnTo>
                    <a:pt x="41158" y="8548373"/>
                  </a:lnTo>
                  <a:lnTo>
                    <a:pt x="37113" y="8546697"/>
                  </a:lnTo>
                  <a:lnTo>
                    <a:pt x="33271" y="8544643"/>
                  </a:lnTo>
                  <a:lnTo>
                    <a:pt x="29631" y="8542211"/>
                  </a:lnTo>
                  <a:lnTo>
                    <a:pt x="25991" y="8539779"/>
                  </a:lnTo>
                  <a:lnTo>
                    <a:pt x="22623" y="8537016"/>
                  </a:lnTo>
                  <a:lnTo>
                    <a:pt x="19528" y="8533920"/>
                  </a:lnTo>
                  <a:lnTo>
                    <a:pt x="16432" y="8530825"/>
                  </a:lnTo>
                  <a:lnTo>
                    <a:pt x="5074" y="8512289"/>
                  </a:lnTo>
                  <a:lnTo>
                    <a:pt x="3399" y="8508244"/>
                  </a:lnTo>
                  <a:lnTo>
                    <a:pt x="2134" y="8504075"/>
                  </a:lnTo>
                  <a:lnTo>
                    <a:pt x="1281" y="8499782"/>
                  </a:lnTo>
                  <a:lnTo>
                    <a:pt x="426" y="8495488"/>
                  </a:lnTo>
                  <a:lnTo>
                    <a:pt x="0" y="8491152"/>
                  </a:lnTo>
                  <a:lnTo>
                    <a:pt x="0" y="8486775"/>
                  </a:lnTo>
                  <a:close/>
                </a:path>
              </a:pathLst>
            </a:custGeom>
            <a:ln w="1905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9800" y="4552953"/>
            <a:ext cx="7801390" cy="2489200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marL="12700" marR="1051560">
              <a:lnSpc>
                <a:spcPct val="126699"/>
              </a:lnSpc>
              <a:spcBef>
                <a:spcPts val="70"/>
              </a:spcBef>
            </a:pP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Racing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car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navigates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autonomously </a:t>
            </a:r>
            <a:br>
              <a:rPr lang="en-US"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</a:b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pre</a:t>
            </a:r>
            <a:r>
              <a:rPr sz="2600" spc="-8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programmed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instructions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Learns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trial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</a:t>
            </a:r>
            <a:endParaRPr sz="2500">
              <a:latin typeface="Microsoft Sans Serif"/>
              <a:cs typeface="Microsoft Sans Serif"/>
            </a:endParaRPr>
          </a:p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Improves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performance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over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thousands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attempts 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Competes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against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other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600" spc="-13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trained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cars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2</a:t>
            </a:fld>
            <a:r>
              <a:rPr spc="-20" dirty="0"/>
              <a:t>/25</a:t>
            </a:r>
          </a:p>
        </p:txBody>
      </p:sp>
      <p:pic>
        <p:nvPicPr>
          <p:cNvPr id="18" name="Picture 17" descr="A video game screen shot of a race car&#10;&#10;AI-generated content may be incorrect.">
            <a:extLst>
              <a:ext uri="{FF2B5EF4-FFF2-40B4-BE49-F238E27FC236}">
                <a16:creationId xmlns:a16="http://schemas.microsoft.com/office/drawing/2014/main" id="{15412588-3C40-C6D3-5E84-136A569AF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322" y="1309456"/>
            <a:ext cx="7514577" cy="8311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Competition</a:t>
            </a:r>
            <a:r>
              <a:rPr spc="-335" dirty="0"/>
              <a:t> </a:t>
            </a:r>
            <a:r>
              <a:rPr spc="-325" dirty="0"/>
              <a:t>Format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252537"/>
            <a:ext cx="10153650" cy="4424680"/>
            <a:chOff x="457200" y="1252537"/>
            <a:chExt cx="10153650" cy="4424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487" y="1252537"/>
              <a:ext cx="314325" cy="3143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5067300"/>
              <a:ext cx="10153650" cy="609600"/>
            </a:xfrm>
            <a:custGeom>
              <a:avLst/>
              <a:gdLst/>
              <a:ahLst/>
              <a:cxnLst/>
              <a:rect l="l" t="t" r="r" b="b"/>
              <a:pathLst>
                <a:path w="10153650" h="609600">
                  <a:moveTo>
                    <a:pt x="1015365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10153650" y="0"/>
                  </a:lnTo>
                  <a:lnTo>
                    <a:pt x="10153650" y="6096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5067300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1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60960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5" y="5267325"/>
              <a:ext cx="133350" cy="2095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39800" y="1043883"/>
            <a:ext cx="6204585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spc="-26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050" b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1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05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25" dirty="0">
                <a:solidFill>
                  <a:srgbClr val="FFFFFF"/>
                </a:solidFill>
                <a:latin typeface="Arial"/>
                <a:cs typeface="Arial"/>
              </a:rPr>
              <a:t>Competition</a:t>
            </a:r>
            <a:r>
              <a:rPr sz="4050" b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190" dirty="0">
                <a:solidFill>
                  <a:srgbClr val="FFFFFF"/>
                </a:solidFill>
                <a:latin typeface="Arial"/>
                <a:cs typeface="Arial"/>
              </a:rPr>
              <a:t>Works</a:t>
            </a:r>
            <a:endParaRPr sz="4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3150" y="1888246"/>
            <a:ext cx="540131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trains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their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own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racing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car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3150" y="2564106"/>
            <a:ext cx="8065411" cy="39818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cars</a:t>
            </a:r>
            <a:r>
              <a:rPr sz="25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use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same</a:t>
            </a:r>
            <a:r>
              <a:rPr lang="en-US"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 DQN</a:t>
            </a:r>
            <a:r>
              <a:rPr lang="en-US" sz="2500" spc="-240" dirty="0">
                <a:solidFill>
                  <a:srgbClr val="FFFFFF"/>
                </a:solidFill>
                <a:latin typeface="Microsoft Sans Serif"/>
                <a:cs typeface="Microsoft Sans Serif"/>
              </a:rPr>
              <a:t> 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framework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3150" y="3095426"/>
            <a:ext cx="733170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Teams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customize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rewards</a:t>
            </a:r>
            <a:r>
              <a:rPr sz="2600" spc="-65" dirty="0">
                <a:solidFill>
                  <a:srgbClr val="FFFFFF"/>
                </a:solidFill>
                <a:latin typeface="Britannic Bold"/>
                <a:cs typeface="Britannic Bold"/>
              </a:rPr>
              <a:t>,</a:t>
            </a:r>
            <a:r>
              <a:rPr sz="2600" spc="-150" dirty="0">
                <a:solidFill>
                  <a:srgbClr val="FFFFFF"/>
                </a:solidFill>
                <a:latin typeface="Britannic Bold"/>
                <a:cs typeface="Britannic Bold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parameters</a:t>
            </a:r>
            <a:r>
              <a:rPr sz="2600" spc="-65" dirty="0">
                <a:solidFill>
                  <a:srgbClr val="FFFFFF"/>
                </a:solidFill>
                <a:latin typeface="Britannic Bold"/>
                <a:cs typeface="Britannic Bold"/>
              </a:rPr>
              <a:t>,</a:t>
            </a:r>
            <a:r>
              <a:rPr sz="2600" spc="-150" dirty="0">
                <a:solidFill>
                  <a:srgbClr val="FFFFFF"/>
                </a:solidFill>
                <a:latin typeface="Britannic Bold"/>
                <a:cs typeface="Britannic Bold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strategies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3150" y="3717046"/>
            <a:ext cx="581279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trained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cars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compete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same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1710419"/>
            <a:ext cx="360680" cy="307340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950" b="1" spc="-25" dirty="0">
                <a:solidFill>
                  <a:srgbClr val="00BEFF"/>
                </a:solidFill>
                <a:latin typeface="Arial"/>
                <a:cs typeface="Arial"/>
              </a:rPr>
              <a:t>1.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950" b="1" spc="40" dirty="0">
                <a:solidFill>
                  <a:srgbClr val="00BEFF"/>
                </a:solidFill>
                <a:latin typeface="Arial"/>
                <a:cs typeface="Arial"/>
              </a:rPr>
              <a:t>2.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950" b="1" spc="35" dirty="0">
                <a:solidFill>
                  <a:srgbClr val="00BEFF"/>
                </a:solidFill>
                <a:latin typeface="Arial"/>
                <a:cs typeface="Arial"/>
              </a:rPr>
              <a:t>3.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950" b="1" spc="55" dirty="0">
                <a:solidFill>
                  <a:srgbClr val="00BEFF"/>
                </a:solidFill>
                <a:latin typeface="Arial"/>
                <a:cs typeface="Arial"/>
              </a:rPr>
              <a:t>4.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950" b="1" spc="-25" dirty="0">
                <a:solidFill>
                  <a:srgbClr val="00BEFF"/>
                </a:solidFill>
                <a:latin typeface="Arial"/>
                <a:cs typeface="Arial"/>
              </a:rPr>
              <a:t>5.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3150" y="4326646"/>
            <a:ext cx="719010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Performance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measured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lap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times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consistency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300" y="5171281"/>
            <a:ext cx="1011555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Every</a:t>
            </a:r>
            <a:r>
              <a:rPr sz="20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team</a:t>
            </a:r>
            <a:r>
              <a:rPr sz="20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starts</a:t>
            </a:r>
            <a:r>
              <a:rPr sz="20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zero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knowledge</a:t>
            </a:r>
            <a:r>
              <a:rPr sz="2050" dirty="0">
                <a:solidFill>
                  <a:srgbClr val="FFFFFF"/>
                </a:solidFill>
                <a:latin typeface="Britannic Bold"/>
                <a:cs typeface="Britannic Bold"/>
              </a:rPr>
              <a:t>—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0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0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must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0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scratch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3</a:t>
            </a:fld>
            <a:r>
              <a:rPr spc="-20" dirty="0"/>
              <a:t>/25</a:t>
            </a:r>
          </a:p>
        </p:txBody>
      </p:sp>
      <p:pic>
        <p:nvPicPr>
          <p:cNvPr id="21" name="Picture 20" descr="A video game with a race car&#10;&#10;AI-generated content may be incorrect.">
            <a:extLst>
              <a:ext uri="{FF2B5EF4-FFF2-40B4-BE49-F238E27FC236}">
                <a16:creationId xmlns:a16="http://schemas.microsoft.com/office/drawing/2014/main" id="{C89FF431-8B1D-8D9B-C0AE-0C7E2A583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70955"/>
            <a:ext cx="18288000" cy="3028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>
                <a:solidFill>
                  <a:srgbClr val="FF6A34"/>
                </a:solidFill>
              </a:rPr>
              <a:t>Why</a:t>
            </a:r>
            <a:r>
              <a:rPr spc="-345" dirty="0">
                <a:solidFill>
                  <a:srgbClr val="FF6A34"/>
                </a:solidFill>
              </a:rPr>
              <a:t> </a:t>
            </a:r>
            <a:r>
              <a:rPr spc="-254" dirty="0">
                <a:solidFill>
                  <a:srgbClr val="FF6A34"/>
                </a:solidFill>
              </a:rPr>
              <a:t>This</a:t>
            </a:r>
            <a:r>
              <a:rPr spc="-345" dirty="0">
                <a:solidFill>
                  <a:srgbClr val="FF6A34"/>
                </a:solidFill>
              </a:rPr>
              <a:t> </a:t>
            </a:r>
            <a:r>
              <a:rPr spc="-254" dirty="0">
                <a:solidFill>
                  <a:srgbClr val="FF6A34"/>
                </a:solidFill>
              </a:rPr>
              <a:t>Is</a:t>
            </a:r>
            <a:r>
              <a:rPr spc="-340" dirty="0">
                <a:solidFill>
                  <a:srgbClr val="FF6A34"/>
                </a:solidFill>
              </a:rPr>
              <a:t> </a:t>
            </a:r>
            <a:r>
              <a:rPr spc="-280" dirty="0">
                <a:solidFill>
                  <a:srgbClr val="FF6A34"/>
                </a:solidFill>
              </a:rPr>
              <a:t>Challenging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029" y="1126246"/>
            <a:ext cx="13876019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Teaching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car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race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autonomously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presents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unique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challenges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make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difficult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6103" y="1828799"/>
            <a:ext cx="5497497" cy="3258845"/>
            <a:chOff x="457200" y="1828799"/>
            <a:chExt cx="5486400" cy="7620000"/>
          </a:xfrm>
        </p:grpSpPr>
        <p:sp>
          <p:nvSpPr>
            <p:cNvPr id="5" name="object 5"/>
            <p:cNvSpPr/>
            <p:nvPr/>
          </p:nvSpPr>
          <p:spPr>
            <a:xfrm>
              <a:off x="457200" y="1847850"/>
              <a:ext cx="5486400" cy="7600950"/>
            </a:xfrm>
            <a:custGeom>
              <a:avLst/>
              <a:gdLst/>
              <a:ahLst/>
              <a:cxnLst/>
              <a:rect l="l" t="t" r="r" b="b"/>
              <a:pathLst>
                <a:path w="5486400" h="7600950">
                  <a:moveTo>
                    <a:pt x="5415203" y="7600949"/>
                  </a:moveTo>
                  <a:lnTo>
                    <a:pt x="71196" y="7600949"/>
                  </a:lnTo>
                  <a:lnTo>
                    <a:pt x="66241" y="7600461"/>
                  </a:lnTo>
                  <a:lnTo>
                    <a:pt x="29705" y="7585327"/>
                  </a:lnTo>
                  <a:lnTo>
                    <a:pt x="3885" y="7549287"/>
                  </a:lnTo>
                  <a:lnTo>
                    <a:pt x="0" y="7529753"/>
                  </a:lnTo>
                  <a:lnTo>
                    <a:pt x="0" y="75247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3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7529753"/>
                  </a:lnTo>
                  <a:lnTo>
                    <a:pt x="5470777" y="7571243"/>
                  </a:lnTo>
                  <a:lnTo>
                    <a:pt x="5434737" y="7597062"/>
                  </a:lnTo>
                  <a:lnTo>
                    <a:pt x="5420158" y="7600461"/>
                  </a:lnTo>
                  <a:lnTo>
                    <a:pt x="5415203" y="76009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477" y="18287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4" y="12830"/>
                  </a:lnTo>
                  <a:lnTo>
                    <a:pt x="5475831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5486400" h="70485">
                  <a:moveTo>
                    <a:pt x="5485844" y="70449"/>
                  </a:moveTo>
                  <a:lnTo>
                    <a:pt x="5452264" y="44514"/>
                  </a:lnTo>
                  <a:lnTo>
                    <a:pt x="5409922" y="38100"/>
                  </a:lnTo>
                  <a:lnTo>
                    <a:pt x="5475831" y="38100"/>
                  </a:lnTo>
                  <a:lnTo>
                    <a:pt x="5485759" y="68693"/>
                  </a:lnTo>
                  <a:lnTo>
                    <a:pt x="5485844" y="70449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7200" y="2222500"/>
              <a:ext cx="406400" cy="508000"/>
            </a:xfrm>
            <a:custGeom>
              <a:avLst/>
              <a:gdLst/>
              <a:ahLst/>
              <a:cxnLst/>
              <a:rect l="l" t="t" r="r" b="b"/>
              <a:pathLst>
                <a:path w="406400" h="508000">
                  <a:moveTo>
                    <a:pt x="203200" y="381000"/>
                  </a:moveTo>
                  <a:lnTo>
                    <a:pt x="203454" y="381000"/>
                  </a:lnTo>
                </a:path>
                <a:path w="406400" h="508000">
                  <a:moveTo>
                    <a:pt x="279400" y="0"/>
                  </a:moveTo>
                  <a:lnTo>
                    <a:pt x="50800" y="0"/>
                  </a:lnTo>
                  <a:lnTo>
                    <a:pt x="47464" y="0"/>
                  </a:lnTo>
                  <a:lnTo>
                    <a:pt x="44160" y="325"/>
                  </a:lnTo>
                  <a:lnTo>
                    <a:pt x="40889" y="976"/>
                  </a:lnTo>
                  <a:lnTo>
                    <a:pt x="37617" y="1626"/>
                  </a:lnTo>
                  <a:lnTo>
                    <a:pt x="34441" y="2590"/>
                  </a:lnTo>
                  <a:lnTo>
                    <a:pt x="31359" y="3866"/>
                  </a:lnTo>
                  <a:lnTo>
                    <a:pt x="28278" y="5143"/>
                  </a:lnTo>
                  <a:lnTo>
                    <a:pt x="25350" y="6708"/>
                  </a:lnTo>
                  <a:lnTo>
                    <a:pt x="22577" y="8561"/>
                  </a:lnTo>
                  <a:lnTo>
                    <a:pt x="19803" y="10414"/>
                  </a:lnTo>
                  <a:lnTo>
                    <a:pt x="17237" y="12520"/>
                  </a:lnTo>
                  <a:lnTo>
                    <a:pt x="14878" y="14878"/>
                  </a:lnTo>
                  <a:lnTo>
                    <a:pt x="12520" y="17237"/>
                  </a:lnTo>
                  <a:lnTo>
                    <a:pt x="10414" y="19803"/>
                  </a:lnTo>
                  <a:lnTo>
                    <a:pt x="8561" y="22577"/>
                  </a:lnTo>
                  <a:lnTo>
                    <a:pt x="6708" y="25350"/>
                  </a:lnTo>
                  <a:lnTo>
                    <a:pt x="0" y="47464"/>
                  </a:lnTo>
                  <a:lnTo>
                    <a:pt x="0" y="50800"/>
                  </a:lnTo>
                  <a:lnTo>
                    <a:pt x="0" y="457200"/>
                  </a:lnTo>
                  <a:lnTo>
                    <a:pt x="3866" y="476640"/>
                  </a:lnTo>
                  <a:lnTo>
                    <a:pt x="5143" y="479721"/>
                  </a:lnTo>
                  <a:lnTo>
                    <a:pt x="6708" y="482649"/>
                  </a:lnTo>
                  <a:lnTo>
                    <a:pt x="8561" y="485423"/>
                  </a:lnTo>
                  <a:lnTo>
                    <a:pt x="10414" y="488196"/>
                  </a:lnTo>
                  <a:lnTo>
                    <a:pt x="31359" y="504133"/>
                  </a:lnTo>
                  <a:lnTo>
                    <a:pt x="34441" y="505409"/>
                  </a:lnTo>
                  <a:lnTo>
                    <a:pt x="37617" y="506373"/>
                  </a:lnTo>
                  <a:lnTo>
                    <a:pt x="40889" y="507023"/>
                  </a:lnTo>
                  <a:lnTo>
                    <a:pt x="44160" y="507674"/>
                  </a:lnTo>
                  <a:lnTo>
                    <a:pt x="47464" y="508000"/>
                  </a:lnTo>
                  <a:lnTo>
                    <a:pt x="50800" y="508000"/>
                  </a:lnTo>
                  <a:lnTo>
                    <a:pt x="355600" y="508000"/>
                  </a:lnTo>
                  <a:lnTo>
                    <a:pt x="358935" y="508000"/>
                  </a:lnTo>
                  <a:lnTo>
                    <a:pt x="362239" y="507674"/>
                  </a:lnTo>
                  <a:lnTo>
                    <a:pt x="365510" y="507023"/>
                  </a:lnTo>
                  <a:lnTo>
                    <a:pt x="368782" y="506373"/>
                  </a:lnTo>
                  <a:lnTo>
                    <a:pt x="371958" y="505409"/>
                  </a:lnTo>
                  <a:lnTo>
                    <a:pt x="375040" y="504133"/>
                  </a:lnTo>
                  <a:lnTo>
                    <a:pt x="378121" y="502856"/>
                  </a:lnTo>
                  <a:lnTo>
                    <a:pt x="397838" y="485423"/>
                  </a:lnTo>
                  <a:lnTo>
                    <a:pt x="399691" y="482649"/>
                  </a:lnTo>
                  <a:lnTo>
                    <a:pt x="401256" y="479721"/>
                  </a:lnTo>
                  <a:lnTo>
                    <a:pt x="402533" y="476640"/>
                  </a:lnTo>
                  <a:lnTo>
                    <a:pt x="403809" y="473558"/>
                  </a:lnTo>
                  <a:lnTo>
                    <a:pt x="404773" y="470382"/>
                  </a:lnTo>
                  <a:lnTo>
                    <a:pt x="405423" y="467110"/>
                  </a:lnTo>
                  <a:lnTo>
                    <a:pt x="406074" y="463839"/>
                  </a:lnTo>
                  <a:lnTo>
                    <a:pt x="406400" y="460535"/>
                  </a:lnTo>
                  <a:lnTo>
                    <a:pt x="406400" y="457200"/>
                  </a:lnTo>
                  <a:lnTo>
                    <a:pt x="406400" y="127000"/>
                  </a:lnTo>
                  <a:lnTo>
                    <a:pt x="279400" y="0"/>
                  </a:lnTo>
                  <a:close/>
                </a:path>
              </a:pathLst>
            </a:custGeom>
            <a:ln w="508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1339" y="2324683"/>
              <a:ext cx="198628" cy="20261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1830" y="2770187"/>
            <a:ext cx="4897120" cy="19818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19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80" dirty="0">
                <a:solidFill>
                  <a:srgbClr val="FFFFFF"/>
                </a:solidFill>
                <a:latin typeface="Arial"/>
                <a:cs typeface="Arial"/>
              </a:rPr>
              <a:t>Explicit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80" dirty="0">
                <a:solidFill>
                  <a:srgbClr val="FFFFFF"/>
                </a:solidFill>
                <a:latin typeface="Arial"/>
                <a:cs typeface="Arial"/>
              </a:rPr>
              <a:t>Instructions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doesn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'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receive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step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by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step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driving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instructions</a:t>
            </a:r>
            <a:r>
              <a:rPr sz="20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must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discover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how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5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navigate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entirely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its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own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 experimentation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0799" y="1828799"/>
            <a:ext cx="5486400" cy="3247748"/>
            <a:chOff x="6400799" y="1828799"/>
            <a:chExt cx="5486400" cy="7620000"/>
          </a:xfrm>
        </p:grpSpPr>
        <p:sp>
          <p:nvSpPr>
            <p:cNvPr id="11" name="object 11"/>
            <p:cNvSpPr/>
            <p:nvPr/>
          </p:nvSpPr>
          <p:spPr>
            <a:xfrm>
              <a:off x="6400799" y="1847850"/>
              <a:ext cx="5486400" cy="7600950"/>
            </a:xfrm>
            <a:custGeom>
              <a:avLst/>
              <a:gdLst/>
              <a:ahLst/>
              <a:cxnLst/>
              <a:rect l="l" t="t" r="r" b="b"/>
              <a:pathLst>
                <a:path w="5486400" h="7600950">
                  <a:moveTo>
                    <a:pt x="5415203" y="7600949"/>
                  </a:moveTo>
                  <a:lnTo>
                    <a:pt x="71197" y="7600949"/>
                  </a:lnTo>
                  <a:lnTo>
                    <a:pt x="66241" y="7600461"/>
                  </a:lnTo>
                  <a:lnTo>
                    <a:pt x="29705" y="7585327"/>
                  </a:lnTo>
                  <a:lnTo>
                    <a:pt x="3885" y="7549287"/>
                  </a:lnTo>
                  <a:lnTo>
                    <a:pt x="0" y="7529753"/>
                  </a:lnTo>
                  <a:lnTo>
                    <a:pt x="0" y="75247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30"/>
                  </a:lnTo>
                  <a:lnTo>
                    <a:pt x="71197" y="0"/>
                  </a:lnTo>
                  <a:lnTo>
                    <a:pt x="5415203" y="0"/>
                  </a:lnTo>
                  <a:lnTo>
                    <a:pt x="5456692" y="11716"/>
                  </a:lnTo>
                  <a:lnTo>
                    <a:pt x="5483959" y="42319"/>
                  </a:lnTo>
                  <a:lnTo>
                    <a:pt x="5486399" y="53397"/>
                  </a:lnTo>
                  <a:lnTo>
                    <a:pt x="5486399" y="7529753"/>
                  </a:lnTo>
                  <a:lnTo>
                    <a:pt x="5470777" y="7571243"/>
                  </a:lnTo>
                  <a:lnTo>
                    <a:pt x="5434736" y="7597062"/>
                  </a:lnTo>
                  <a:lnTo>
                    <a:pt x="5420157" y="7600461"/>
                  </a:lnTo>
                  <a:lnTo>
                    <a:pt x="5415203" y="76009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1077" y="18287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30"/>
                  </a:lnTo>
                  <a:lnTo>
                    <a:pt x="5475830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30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90000" y="2247900"/>
              <a:ext cx="508000" cy="457200"/>
            </a:xfrm>
            <a:custGeom>
              <a:avLst/>
              <a:gdLst/>
              <a:ahLst/>
              <a:cxnLst/>
              <a:rect l="l" t="t" r="r" b="b"/>
              <a:pathLst>
                <a:path w="508000" h="457200">
                  <a:moveTo>
                    <a:pt x="355600" y="330200"/>
                  </a:moveTo>
                  <a:lnTo>
                    <a:pt x="431800" y="127000"/>
                  </a:lnTo>
                  <a:lnTo>
                    <a:pt x="508000" y="330200"/>
                  </a:lnTo>
                  <a:lnTo>
                    <a:pt x="490628" y="341133"/>
                  </a:lnTo>
                  <a:lnTo>
                    <a:pt x="471900" y="349091"/>
                  </a:lnTo>
                  <a:lnTo>
                    <a:pt x="452171" y="353953"/>
                  </a:lnTo>
                  <a:lnTo>
                    <a:pt x="431800" y="355600"/>
                  </a:lnTo>
                  <a:lnTo>
                    <a:pt x="411428" y="353953"/>
                  </a:lnTo>
                  <a:lnTo>
                    <a:pt x="391699" y="349091"/>
                  </a:lnTo>
                  <a:lnTo>
                    <a:pt x="372971" y="341133"/>
                  </a:lnTo>
                  <a:lnTo>
                    <a:pt x="355600" y="330200"/>
                  </a:lnTo>
                  <a:close/>
                </a:path>
                <a:path w="508000" h="457200">
                  <a:moveTo>
                    <a:pt x="0" y="330200"/>
                  </a:moveTo>
                  <a:lnTo>
                    <a:pt x="76200" y="127000"/>
                  </a:lnTo>
                  <a:lnTo>
                    <a:pt x="152400" y="330200"/>
                  </a:lnTo>
                  <a:lnTo>
                    <a:pt x="135028" y="341133"/>
                  </a:lnTo>
                  <a:lnTo>
                    <a:pt x="116300" y="349091"/>
                  </a:lnTo>
                  <a:lnTo>
                    <a:pt x="96571" y="353953"/>
                  </a:lnTo>
                  <a:lnTo>
                    <a:pt x="76200" y="355600"/>
                  </a:lnTo>
                  <a:lnTo>
                    <a:pt x="55828" y="353953"/>
                  </a:lnTo>
                  <a:lnTo>
                    <a:pt x="36099" y="349091"/>
                  </a:lnTo>
                  <a:lnTo>
                    <a:pt x="17371" y="341133"/>
                  </a:lnTo>
                  <a:lnTo>
                    <a:pt x="0" y="330200"/>
                  </a:lnTo>
                  <a:close/>
                </a:path>
                <a:path w="508000" h="457200">
                  <a:moveTo>
                    <a:pt x="127000" y="457200"/>
                  </a:moveTo>
                  <a:lnTo>
                    <a:pt x="381000" y="457200"/>
                  </a:lnTo>
                </a:path>
                <a:path w="508000" h="457200">
                  <a:moveTo>
                    <a:pt x="254000" y="0"/>
                  </a:moveTo>
                  <a:lnTo>
                    <a:pt x="254000" y="457200"/>
                  </a:lnTo>
                </a:path>
                <a:path w="508000" h="457200">
                  <a:moveTo>
                    <a:pt x="25400" y="101600"/>
                  </a:moveTo>
                  <a:lnTo>
                    <a:pt x="76200" y="101600"/>
                  </a:lnTo>
                  <a:lnTo>
                    <a:pt x="118268" y="97234"/>
                  </a:lnTo>
                  <a:lnTo>
                    <a:pt x="165100" y="85725"/>
                  </a:lnTo>
                  <a:lnTo>
                    <a:pt x="211931" y="69453"/>
                  </a:lnTo>
                  <a:lnTo>
                    <a:pt x="254000" y="50800"/>
                  </a:lnTo>
                  <a:lnTo>
                    <a:pt x="296068" y="69453"/>
                  </a:lnTo>
                  <a:lnTo>
                    <a:pt x="342900" y="85725"/>
                  </a:lnTo>
                  <a:lnTo>
                    <a:pt x="389731" y="97234"/>
                  </a:lnTo>
                  <a:lnTo>
                    <a:pt x="431800" y="101600"/>
                  </a:lnTo>
                  <a:lnTo>
                    <a:pt x="482600" y="101600"/>
                  </a:lnTo>
                </a:path>
              </a:pathLst>
            </a:custGeom>
            <a:ln w="508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55407" y="2749749"/>
            <a:ext cx="4777105" cy="200215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050" b="1" spc="-195" dirty="0">
                <a:solidFill>
                  <a:srgbClr val="FFFFFF"/>
                </a:solidFill>
                <a:latin typeface="Arial"/>
                <a:cs typeface="Arial"/>
              </a:rPr>
              <a:t>Balance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8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60" dirty="0">
                <a:solidFill>
                  <a:srgbClr val="FFFFFF"/>
                </a:solidFill>
                <a:latin typeface="Comic Sans MS"/>
                <a:cs typeface="Comic Sans MS"/>
              </a:rPr>
              <a:t>&amp;</a:t>
            </a:r>
            <a:r>
              <a:rPr sz="2950" b="1" spc="-5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3050" b="1" spc="-3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car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must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maximize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while 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maintaining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control</a:t>
            </a:r>
            <a:r>
              <a:rPr sz="20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Too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fast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crashes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;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too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slow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loses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race</a:t>
            </a:r>
            <a:r>
              <a:rPr sz="20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Finding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the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optimal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balance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non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trivial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44400" y="1828799"/>
            <a:ext cx="5486400" cy="3269942"/>
            <a:chOff x="12344400" y="1828799"/>
            <a:chExt cx="5486400" cy="7620000"/>
          </a:xfrm>
        </p:grpSpPr>
        <p:sp>
          <p:nvSpPr>
            <p:cNvPr id="16" name="object 16"/>
            <p:cNvSpPr/>
            <p:nvPr/>
          </p:nvSpPr>
          <p:spPr>
            <a:xfrm>
              <a:off x="12344400" y="1847850"/>
              <a:ext cx="5486400" cy="7600950"/>
            </a:xfrm>
            <a:custGeom>
              <a:avLst/>
              <a:gdLst/>
              <a:ahLst/>
              <a:cxnLst/>
              <a:rect l="l" t="t" r="r" b="b"/>
              <a:pathLst>
                <a:path w="5486400" h="7600950">
                  <a:moveTo>
                    <a:pt x="5415202" y="7600949"/>
                  </a:moveTo>
                  <a:lnTo>
                    <a:pt x="71196" y="7600949"/>
                  </a:lnTo>
                  <a:lnTo>
                    <a:pt x="66241" y="7600461"/>
                  </a:lnTo>
                  <a:lnTo>
                    <a:pt x="29703" y="7585327"/>
                  </a:lnTo>
                  <a:lnTo>
                    <a:pt x="3883" y="7549287"/>
                  </a:lnTo>
                  <a:lnTo>
                    <a:pt x="0" y="7529753"/>
                  </a:lnTo>
                  <a:lnTo>
                    <a:pt x="0" y="7524750"/>
                  </a:lnTo>
                  <a:lnTo>
                    <a:pt x="0" y="53397"/>
                  </a:lnTo>
                  <a:lnTo>
                    <a:pt x="18779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2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7529753"/>
                  </a:lnTo>
                  <a:lnTo>
                    <a:pt x="5470777" y="7571243"/>
                  </a:lnTo>
                  <a:lnTo>
                    <a:pt x="5434736" y="7597062"/>
                  </a:lnTo>
                  <a:lnTo>
                    <a:pt x="5420156" y="7600461"/>
                  </a:lnTo>
                  <a:lnTo>
                    <a:pt x="5415202" y="76009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344678" y="18287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30"/>
                  </a:lnTo>
                  <a:lnTo>
                    <a:pt x="5475828" y="38100"/>
                  </a:lnTo>
                  <a:lnTo>
                    <a:pt x="75922" y="38100"/>
                  </a:lnTo>
                  <a:lnTo>
                    <a:pt x="68414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28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884400" y="22733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50800" y="0"/>
                  </a:moveTo>
                  <a:lnTo>
                    <a:pt x="355600" y="0"/>
                  </a:lnTo>
                  <a:lnTo>
                    <a:pt x="358935" y="0"/>
                  </a:lnTo>
                  <a:lnTo>
                    <a:pt x="362239" y="325"/>
                  </a:lnTo>
                  <a:lnTo>
                    <a:pt x="365510" y="976"/>
                  </a:lnTo>
                  <a:lnTo>
                    <a:pt x="368782" y="1626"/>
                  </a:lnTo>
                  <a:lnTo>
                    <a:pt x="371958" y="2590"/>
                  </a:lnTo>
                  <a:lnTo>
                    <a:pt x="375040" y="3866"/>
                  </a:lnTo>
                  <a:lnTo>
                    <a:pt x="378121" y="5143"/>
                  </a:lnTo>
                  <a:lnTo>
                    <a:pt x="381049" y="6708"/>
                  </a:lnTo>
                  <a:lnTo>
                    <a:pt x="383823" y="8561"/>
                  </a:lnTo>
                  <a:lnTo>
                    <a:pt x="386596" y="10414"/>
                  </a:lnTo>
                  <a:lnTo>
                    <a:pt x="397838" y="22577"/>
                  </a:lnTo>
                  <a:lnTo>
                    <a:pt x="399691" y="25350"/>
                  </a:lnTo>
                  <a:lnTo>
                    <a:pt x="401256" y="28278"/>
                  </a:lnTo>
                  <a:lnTo>
                    <a:pt x="402533" y="31359"/>
                  </a:lnTo>
                  <a:lnTo>
                    <a:pt x="403809" y="34441"/>
                  </a:lnTo>
                  <a:lnTo>
                    <a:pt x="404773" y="37617"/>
                  </a:lnTo>
                  <a:lnTo>
                    <a:pt x="405423" y="40889"/>
                  </a:lnTo>
                  <a:lnTo>
                    <a:pt x="406074" y="44160"/>
                  </a:lnTo>
                  <a:lnTo>
                    <a:pt x="406400" y="47464"/>
                  </a:lnTo>
                  <a:lnTo>
                    <a:pt x="406400" y="50800"/>
                  </a:lnTo>
                  <a:lnTo>
                    <a:pt x="406400" y="355600"/>
                  </a:lnTo>
                  <a:lnTo>
                    <a:pt x="406400" y="358935"/>
                  </a:lnTo>
                  <a:lnTo>
                    <a:pt x="406074" y="362239"/>
                  </a:lnTo>
                  <a:lnTo>
                    <a:pt x="405423" y="365510"/>
                  </a:lnTo>
                  <a:lnTo>
                    <a:pt x="404773" y="368782"/>
                  </a:lnTo>
                  <a:lnTo>
                    <a:pt x="403809" y="371958"/>
                  </a:lnTo>
                  <a:lnTo>
                    <a:pt x="402533" y="375040"/>
                  </a:lnTo>
                  <a:lnTo>
                    <a:pt x="401256" y="378121"/>
                  </a:lnTo>
                  <a:lnTo>
                    <a:pt x="399691" y="381049"/>
                  </a:lnTo>
                  <a:lnTo>
                    <a:pt x="397838" y="383823"/>
                  </a:lnTo>
                  <a:lnTo>
                    <a:pt x="395985" y="386596"/>
                  </a:lnTo>
                  <a:lnTo>
                    <a:pt x="383823" y="397838"/>
                  </a:lnTo>
                  <a:lnTo>
                    <a:pt x="381049" y="399691"/>
                  </a:lnTo>
                  <a:lnTo>
                    <a:pt x="378121" y="401256"/>
                  </a:lnTo>
                  <a:lnTo>
                    <a:pt x="375040" y="402533"/>
                  </a:lnTo>
                  <a:lnTo>
                    <a:pt x="371958" y="403809"/>
                  </a:lnTo>
                  <a:lnTo>
                    <a:pt x="368782" y="404773"/>
                  </a:lnTo>
                  <a:lnTo>
                    <a:pt x="365510" y="405423"/>
                  </a:lnTo>
                  <a:lnTo>
                    <a:pt x="362239" y="406074"/>
                  </a:lnTo>
                  <a:lnTo>
                    <a:pt x="358935" y="406400"/>
                  </a:lnTo>
                  <a:lnTo>
                    <a:pt x="355600" y="406400"/>
                  </a:lnTo>
                  <a:lnTo>
                    <a:pt x="50800" y="406400"/>
                  </a:lnTo>
                  <a:lnTo>
                    <a:pt x="47464" y="406400"/>
                  </a:lnTo>
                  <a:lnTo>
                    <a:pt x="44160" y="406074"/>
                  </a:lnTo>
                  <a:lnTo>
                    <a:pt x="40889" y="405423"/>
                  </a:lnTo>
                  <a:lnTo>
                    <a:pt x="37617" y="404773"/>
                  </a:lnTo>
                  <a:lnTo>
                    <a:pt x="34441" y="403809"/>
                  </a:lnTo>
                  <a:lnTo>
                    <a:pt x="31359" y="402533"/>
                  </a:lnTo>
                  <a:lnTo>
                    <a:pt x="28278" y="401256"/>
                  </a:lnTo>
                  <a:lnTo>
                    <a:pt x="25350" y="399691"/>
                  </a:lnTo>
                  <a:lnTo>
                    <a:pt x="22577" y="397838"/>
                  </a:lnTo>
                  <a:lnTo>
                    <a:pt x="19803" y="395985"/>
                  </a:lnTo>
                  <a:lnTo>
                    <a:pt x="8561" y="383823"/>
                  </a:lnTo>
                  <a:lnTo>
                    <a:pt x="6708" y="381049"/>
                  </a:lnTo>
                  <a:lnTo>
                    <a:pt x="5143" y="378121"/>
                  </a:lnTo>
                  <a:lnTo>
                    <a:pt x="3866" y="375040"/>
                  </a:lnTo>
                  <a:lnTo>
                    <a:pt x="2590" y="371958"/>
                  </a:lnTo>
                  <a:lnTo>
                    <a:pt x="1626" y="368782"/>
                  </a:lnTo>
                  <a:lnTo>
                    <a:pt x="976" y="365510"/>
                  </a:lnTo>
                  <a:lnTo>
                    <a:pt x="325" y="362239"/>
                  </a:lnTo>
                  <a:lnTo>
                    <a:pt x="0" y="358935"/>
                  </a:lnTo>
                  <a:lnTo>
                    <a:pt x="0" y="355600"/>
                  </a:lnTo>
                  <a:lnTo>
                    <a:pt x="0" y="50800"/>
                  </a:lnTo>
                  <a:lnTo>
                    <a:pt x="3866" y="31359"/>
                  </a:lnTo>
                  <a:lnTo>
                    <a:pt x="5143" y="28278"/>
                  </a:lnTo>
                  <a:lnTo>
                    <a:pt x="6708" y="25350"/>
                  </a:lnTo>
                  <a:lnTo>
                    <a:pt x="8561" y="22577"/>
                  </a:lnTo>
                  <a:lnTo>
                    <a:pt x="10414" y="19803"/>
                  </a:lnTo>
                  <a:lnTo>
                    <a:pt x="12520" y="17237"/>
                  </a:lnTo>
                  <a:lnTo>
                    <a:pt x="14878" y="14878"/>
                  </a:lnTo>
                  <a:lnTo>
                    <a:pt x="17237" y="12520"/>
                  </a:lnTo>
                  <a:lnTo>
                    <a:pt x="19803" y="10414"/>
                  </a:lnTo>
                  <a:lnTo>
                    <a:pt x="22577" y="8561"/>
                  </a:lnTo>
                  <a:lnTo>
                    <a:pt x="25350" y="6708"/>
                  </a:lnTo>
                  <a:lnTo>
                    <a:pt x="28278" y="5143"/>
                  </a:lnTo>
                  <a:lnTo>
                    <a:pt x="31359" y="3866"/>
                  </a:lnTo>
                  <a:lnTo>
                    <a:pt x="34441" y="2590"/>
                  </a:lnTo>
                  <a:lnTo>
                    <a:pt x="37617" y="1626"/>
                  </a:lnTo>
                  <a:lnTo>
                    <a:pt x="40889" y="976"/>
                  </a:lnTo>
                  <a:lnTo>
                    <a:pt x="44160" y="325"/>
                  </a:lnTo>
                  <a:lnTo>
                    <a:pt x="47464" y="0"/>
                  </a:lnTo>
                  <a:lnTo>
                    <a:pt x="50800" y="0"/>
                  </a:lnTo>
                  <a:close/>
                </a:path>
              </a:pathLst>
            </a:custGeom>
            <a:ln w="508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6000" y="2374900"/>
              <a:ext cx="203200" cy="203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833600" y="22225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330200" y="0"/>
                  </a:moveTo>
                  <a:lnTo>
                    <a:pt x="330200" y="50800"/>
                  </a:lnTo>
                </a:path>
                <a:path w="508000" h="508000">
                  <a:moveTo>
                    <a:pt x="330200" y="457200"/>
                  </a:moveTo>
                  <a:lnTo>
                    <a:pt x="330200" y="508000"/>
                  </a:lnTo>
                </a:path>
                <a:path w="508000" h="508000">
                  <a:moveTo>
                    <a:pt x="0" y="330200"/>
                  </a:moveTo>
                  <a:lnTo>
                    <a:pt x="50800" y="330200"/>
                  </a:lnTo>
                </a:path>
                <a:path w="508000" h="508000">
                  <a:moveTo>
                    <a:pt x="0" y="177800"/>
                  </a:moveTo>
                  <a:lnTo>
                    <a:pt x="50800" y="177800"/>
                  </a:lnTo>
                </a:path>
                <a:path w="508000" h="508000">
                  <a:moveTo>
                    <a:pt x="457200" y="330200"/>
                  </a:moveTo>
                  <a:lnTo>
                    <a:pt x="508000" y="330200"/>
                  </a:lnTo>
                </a:path>
                <a:path w="508000" h="508000">
                  <a:moveTo>
                    <a:pt x="457200" y="177800"/>
                  </a:moveTo>
                  <a:lnTo>
                    <a:pt x="508000" y="177800"/>
                  </a:lnTo>
                </a:path>
                <a:path w="508000" h="508000">
                  <a:moveTo>
                    <a:pt x="177800" y="0"/>
                  </a:moveTo>
                  <a:lnTo>
                    <a:pt x="177800" y="50800"/>
                  </a:lnTo>
                </a:path>
                <a:path w="508000" h="508000">
                  <a:moveTo>
                    <a:pt x="177800" y="457200"/>
                  </a:moveTo>
                  <a:lnTo>
                    <a:pt x="177800" y="508000"/>
                  </a:lnTo>
                </a:path>
              </a:pathLst>
            </a:custGeom>
            <a:ln w="508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844264" y="2770187"/>
            <a:ext cx="4486910" cy="19818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210" dirty="0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sz="30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55" dirty="0">
                <a:solidFill>
                  <a:srgbClr val="FFFFFF"/>
                </a:solidFill>
                <a:latin typeface="Arial"/>
                <a:cs typeface="Arial"/>
              </a:rPr>
              <a:t>Physics</a:t>
            </a:r>
            <a:endParaRPr sz="3050">
              <a:latin typeface="Arial"/>
              <a:cs typeface="Arial"/>
            </a:endParaRPr>
          </a:p>
          <a:p>
            <a:pPr marL="12700" marR="5080" indent="-635" algn="ctr">
              <a:lnSpc>
                <a:spcPts val="2400"/>
              </a:lnSpc>
              <a:spcBef>
                <a:spcPts val="994"/>
              </a:spcBef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includes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realistic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physics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: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acceleration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friction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momentum</a:t>
            </a:r>
            <a:r>
              <a:rPr sz="20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turning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radius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must</a:t>
            </a:r>
            <a:r>
              <a:rPr sz="20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how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all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these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factors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interact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drive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effectively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4</a:t>
            </a:fld>
            <a:r>
              <a:rPr spc="-20" dirty="0"/>
              <a:t>/25</a:t>
            </a:r>
          </a:p>
        </p:txBody>
      </p:sp>
      <p:pic>
        <p:nvPicPr>
          <p:cNvPr id="25" name="Picture 24" descr="Cartoon robot driving a race car&#10;&#10;AI-generated content may be incorrect.">
            <a:extLst>
              <a:ext uri="{FF2B5EF4-FFF2-40B4-BE49-F238E27FC236}">
                <a16:creationId xmlns:a16="http://schemas.microsoft.com/office/drawing/2014/main" id="{E0DC02F4-F6C3-3385-C788-9F9726AF8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5293680"/>
            <a:ext cx="4671134" cy="4771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1166" y="126603"/>
            <a:ext cx="1120584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>
                <a:solidFill>
                  <a:srgbClr val="FFFFFF"/>
                </a:solidFill>
              </a:rPr>
              <a:t>Traditional</a:t>
            </a:r>
            <a:r>
              <a:rPr spc="-320" dirty="0">
                <a:solidFill>
                  <a:srgbClr val="FFFFFF"/>
                </a:solidFill>
              </a:rPr>
              <a:t> </a:t>
            </a:r>
            <a:r>
              <a:rPr spc="-330" dirty="0">
                <a:solidFill>
                  <a:srgbClr val="FFFFFF"/>
                </a:solidFill>
              </a:rPr>
              <a:t>Programming</a:t>
            </a:r>
            <a:r>
              <a:rPr spc="-320" dirty="0">
                <a:solidFill>
                  <a:srgbClr val="FFFFFF"/>
                </a:solidFill>
              </a:rPr>
              <a:t> </a:t>
            </a:r>
            <a:r>
              <a:rPr spc="-250" dirty="0">
                <a:solidFill>
                  <a:srgbClr val="FFFFFF"/>
                </a:solidFill>
              </a:rPr>
              <a:t>vs</a:t>
            </a:r>
            <a:r>
              <a:rPr sz="5200" b="0" spc="-250" dirty="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sz="5200" b="0" spc="-7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pc="-250" dirty="0">
                <a:solidFill>
                  <a:srgbClr val="FFFFFF"/>
                </a:solidFill>
              </a:rPr>
              <a:t>AI</a:t>
            </a:r>
            <a:r>
              <a:rPr spc="-315" dirty="0">
                <a:solidFill>
                  <a:srgbClr val="FFFFFF"/>
                </a:solidFill>
              </a:rPr>
              <a:t> </a:t>
            </a:r>
            <a:r>
              <a:rPr spc="-290" dirty="0">
                <a:solidFill>
                  <a:srgbClr val="FFFFFF"/>
                </a:solidFill>
              </a:rPr>
              <a:t>Learning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5775" y="1323975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00025" y="171450"/>
                </a:moveTo>
                <a:lnTo>
                  <a:pt x="285750" y="85725"/>
                </a:lnTo>
                <a:lnTo>
                  <a:pt x="200025" y="0"/>
                </a:lnTo>
              </a:path>
              <a:path w="285750" h="171450">
                <a:moveTo>
                  <a:pt x="85725" y="0"/>
                </a:moveTo>
                <a:lnTo>
                  <a:pt x="0" y="85725"/>
                </a:lnTo>
                <a:lnTo>
                  <a:pt x="85725" y="171450"/>
                </a:lnTo>
              </a:path>
            </a:pathLst>
          </a:custGeom>
          <a:ln w="28575">
            <a:solidFill>
              <a:srgbClr val="9CA2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500" y="687418"/>
            <a:ext cx="5957570" cy="4163695"/>
          </a:xfrm>
          <a:prstGeom prst="rect">
            <a:avLst/>
          </a:prstGeom>
        </p:spPr>
        <p:txBody>
          <a:bodyPr vert="horz" wrap="square" lIns="0" tIns="36957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2910"/>
              </a:spcBef>
            </a:pPr>
            <a:r>
              <a:rPr sz="4050" b="1" spc="-220" dirty="0">
                <a:solidFill>
                  <a:srgbClr val="FFFFFF"/>
                </a:solidFill>
                <a:latin typeface="Arial"/>
                <a:cs typeface="Arial"/>
              </a:rPr>
              <a:t>Traditional</a:t>
            </a:r>
            <a:r>
              <a:rPr sz="4050" b="1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85" dirty="0">
                <a:solidFill>
                  <a:srgbClr val="FFFFFF"/>
                </a:solidFill>
                <a:latin typeface="Arial"/>
                <a:cs typeface="Arial"/>
              </a:rPr>
              <a:t>Programming</a:t>
            </a:r>
            <a:endParaRPr sz="4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500" b="1" spc="-150" dirty="0">
                <a:solidFill>
                  <a:srgbClr val="FFFFFF"/>
                </a:solidFill>
                <a:latin typeface="Arial"/>
                <a:cs typeface="Arial"/>
              </a:rPr>
              <a:t>Human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95" dirty="0">
                <a:solidFill>
                  <a:srgbClr val="FFFFFF"/>
                </a:solidFill>
                <a:latin typeface="Arial"/>
                <a:cs typeface="Arial"/>
              </a:rPr>
              <a:t>defines</a:t>
            </a:r>
            <a:r>
              <a:rPr sz="25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8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20" dirty="0">
                <a:solidFill>
                  <a:srgbClr val="FFFFFF"/>
                </a:solidFill>
                <a:latin typeface="Arial"/>
                <a:cs typeface="Arial"/>
              </a:rPr>
              <a:t>rule</a:t>
            </a:r>
            <a:endParaRPr sz="2500">
              <a:latin typeface="Arial"/>
              <a:cs typeface="Arial"/>
            </a:endParaRPr>
          </a:p>
          <a:p>
            <a:pPr marL="252729" indent="-240029">
              <a:lnSpc>
                <a:spcPct val="100000"/>
              </a:lnSpc>
              <a:spcBef>
                <a:spcPts val="14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Programmer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writes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15" dirty="0">
                <a:solidFill>
                  <a:srgbClr val="FFFFFF"/>
                </a:solidFill>
                <a:latin typeface="Microsoft Sans Serif"/>
                <a:cs typeface="Microsoft Sans Serif"/>
              </a:rPr>
              <a:t>IF</a:t>
            </a:r>
            <a:r>
              <a:rPr sz="2600" spc="-21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500" spc="-175" dirty="0">
                <a:solidFill>
                  <a:srgbClr val="FFFFFF"/>
                </a:solidFill>
                <a:latin typeface="Microsoft Sans Serif"/>
                <a:cs typeface="Microsoft Sans Serif"/>
              </a:rPr>
              <a:t>THEN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88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Define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speed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limits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curve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9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Specify</a:t>
            </a:r>
            <a:r>
              <a:rPr sz="2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steering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angles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8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Hard</a:t>
            </a:r>
            <a:r>
              <a:rPr sz="2600" spc="-10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code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response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scenario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88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Manually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adjust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rule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9402158"/>
            <a:ext cx="8251825" cy="340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-105" dirty="0">
                <a:solidFill>
                  <a:srgbClr val="FF6A34"/>
                </a:solidFill>
                <a:latin typeface="Arial"/>
                <a:cs typeface="Arial"/>
              </a:rPr>
              <a:t>Requires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expert</a:t>
            </a:r>
            <a:r>
              <a:rPr sz="2050" i="1" spc="-4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knowledge</a:t>
            </a:r>
            <a:r>
              <a:rPr sz="2050" i="1" spc="-4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FF6A34"/>
                </a:solidFill>
                <a:latin typeface="Arial"/>
                <a:cs typeface="Arial"/>
              </a:rPr>
              <a:t>of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racing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dynamics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FF6A34"/>
                </a:solidFill>
                <a:latin typeface="Arial"/>
                <a:cs typeface="Arial"/>
              </a:rPr>
              <a:t>and</a:t>
            </a:r>
            <a:r>
              <a:rPr sz="2050" i="1" spc="-4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65" dirty="0">
                <a:solidFill>
                  <a:srgbClr val="FF6A34"/>
                </a:solidFill>
                <a:latin typeface="Arial"/>
                <a:cs typeface="Arial"/>
              </a:rPr>
              <a:t>extensive</a:t>
            </a:r>
            <a:r>
              <a:rPr sz="2050" i="1" spc="-4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5" dirty="0">
                <a:solidFill>
                  <a:srgbClr val="FF6A34"/>
                </a:solidFill>
                <a:latin typeface="Arial"/>
                <a:cs typeface="Arial"/>
              </a:rPr>
              <a:t>manual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FF6A34"/>
                </a:solidFill>
                <a:latin typeface="Arial"/>
                <a:cs typeface="Arial"/>
              </a:rPr>
              <a:t>tuning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372600" y="1181100"/>
            <a:ext cx="8458200" cy="8572500"/>
            <a:chOff x="9372600" y="1181100"/>
            <a:chExt cx="8458200" cy="8572500"/>
          </a:xfrm>
        </p:grpSpPr>
        <p:sp>
          <p:nvSpPr>
            <p:cNvPr id="7" name="object 7"/>
            <p:cNvSpPr/>
            <p:nvPr/>
          </p:nvSpPr>
          <p:spPr>
            <a:xfrm>
              <a:off x="9377362" y="1185862"/>
              <a:ext cx="8448675" cy="8562975"/>
            </a:xfrm>
            <a:custGeom>
              <a:avLst/>
              <a:gdLst/>
              <a:ahLst/>
              <a:cxnLst/>
              <a:rect l="l" t="t" r="r" b="b"/>
              <a:pathLst>
                <a:path w="8448675" h="8562975">
                  <a:moveTo>
                    <a:pt x="8381927" y="8562975"/>
                  </a:moveTo>
                  <a:lnTo>
                    <a:pt x="66746" y="8562975"/>
                  </a:lnTo>
                  <a:lnTo>
                    <a:pt x="62101" y="8562517"/>
                  </a:lnTo>
                  <a:lnTo>
                    <a:pt x="24240" y="8545367"/>
                  </a:lnTo>
                  <a:lnTo>
                    <a:pt x="2287" y="8510074"/>
                  </a:lnTo>
                  <a:lnTo>
                    <a:pt x="0" y="8496227"/>
                  </a:lnTo>
                  <a:lnTo>
                    <a:pt x="0" y="8491537"/>
                  </a:lnTo>
                  <a:lnTo>
                    <a:pt x="0" y="66747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381927" y="0"/>
                  </a:lnTo>
                  <a:lnTo>
                    <a:pt x="8420824" y="14645"/>
                  </a:lnTo>
                  <a:lnTo>
                    <a:pt x="8445031" y="48433"/>
                  </a:lnTo>
                  <a:lnTo>
                    <a:pt x="8448674" y="66747"/>
                  </a:lnTo>
                  <a:lnTo>
                    <a:pt x="8448674" y="8496227"/>
                  </a:lnTo>
                  <a:lnTo>
                    <a:pt x="8434028" y="8535125"/>
                  </a:lnTo>
                  <a:lnTo>
                    <a:pt x="8400239" y="8559331"/>
                  </a:lnTo>
                  <a:lnTo>
                    <a:pt x="8386572" y="8562517"/>
                  </a:lnTo>
                  <a:lnTo>
                    <a:pt x="8381927" y="8562975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7362" y="1185862"/>
              <a:ext cx="8448675" cy="8562975"/>
            </a:xfrm>
            <a:custGeom>
              <a:avLst/>
              <a:gdLst/>
              <a:ahLst/>
              <a:cxnLst/>
              <a:rect l="l" t="t" r="r" b="b"/>
              <a:pathLst>
                <a:path w="8448675" h="8562975">
                  <a:moveTo>
                    <a:pt x="0" y="84915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1" y="48433"/>
                  </a:lnTo>
                  <a:lnTo>
                    <a:pt x="5437" y="44099"/>
                  </a:lnTo>
                  <a:lnTo>
                    <a:pt x="7231" y="39765"/>
                  </a:lnTo>
                  <a:lnTo>
                    <a:pt x="9432" y="35649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377237" y="0"/>
                  </a:lnTo>
                  <a:lnTo>
                    <a:pt x="8381927" y="0"/>
                  </a:lnTo>
                  <a:lnTo>
                    <a:pt x="8386572" y="457"/>
                  </a:lnTo>
                  <a:lnTo>
                    <a:pt x="8391172" y="1372"/>
                  </a:lnTo>
                  <a:lnTo>
                    <a:pt x="8395772" y="2287"/>
                  </a:lnTo>
                  <a:lnTo>
                    <a:pt x="8416923" y="12039"/>
                  </a:lnTo>
                  <a:lnTo>
                    <a:pt x="8420824" y="14645"/>
                  </a:lnTo>
                  <a:lnTo>
                    <a:pt x="8424434" y="17606"/>
                  </a:lnTo>
                  <a:lnTo>
                    <a:pt x="8427750" y="20923"/>
                  </a:lnTo>
                  <a:lnTo>
                    <a:pt x="8431067" y="24240"/>
                  </a:lnTo>
                  <a:lnTo>
                    <a:pt x="8447300" y="57500"/>
                  </a:lnTo>
                  <a:lnTo>
                    <a:pt x="8448216" y="62101"/>
                  </a:lnTo>
                  <a:lnTo>
                    <a:pt x="8448674" y="66747"/>
                  </a:lnTo>
                  <a:lnTo>
                    <a:pt x="8448675" y="71437"/>
                  </a:lnTo>
                  <a:lnTo>
                    <a:pt x="8448675" y="8491537"/>
                  </a:lnTo>
                  <a:lnTo>
                    <a:pt x="8448674" y="8496227"/>
                  </a:lnTo>
                  <a:lnTo>
                    <a:pt x="8448216" y="8500872"/>
                  </a:lnTo>
                  <a:lnTo>
                    <a:pt x="8447300" y="8505473"/>
                  </a:lnTo>
                  <a:lnTo>
                    <a:pt x="8446386" y="8510074"/>
                  </a:lnTo>
                  <a:lnTo>
                    <a:pt x="8427750" y="8542050"/>
                  </a:lnTo>
                  <a:lnTo>
                    <a:pt x="8424434" y="8545367"/>
                  </a:lnTo>
                  <a:lnTo>
                    <a:pt x="8386572" y="8562517"/>
                  </a:lnTo>
                  <a:lnTo>
                    <a:pt x="8381927" y="8562975"/>
                  </a:lnTo>
                  <a:lnTo>
                    <a:pt x="8377237" y="8562975"/>
                  </a:lnTo>
                  <a:lnTo>
                    <a:pt x="71437" y="8562975"/>
                  </a:lnTo>
                  <a:lnTo>
                    <a:pt x="66746" y="8562975"/>
                  </a:lnTo>
                  <a:lnTo>
                    <a:pt x="62101" y="8562517"/>
                  </a:lnTo>
                  <a:lnTo>
                    <a:pt x="57500" y="8561602"/>
                  </a:lnTo>
                  <a:lnTo>
                    <a:pt x="52900" y="8560686"/>
                  </a:lnTo>
                  <a:lnTo>
                    <a:pt x="48433" y="8559331"/>
                  </a:lnTo>
                  <a:lnTo>
                    <a:pt x="44099" y="8557536"/>
                  </a:lnTo>
                  <a:lnTo>
                    <a:pt x="39765" y="8555741"/>
                  </a:lnTo>
                  <a:lnTo>
                    <a:pt x="9432" y="8527324"/>
                  </a:lnTo>
                  <a:lnTo>
                    <a:pt x="5437" y="8518874"/>
                  </a:lnTo>
                  <a:lnTo>
                    <a:pt x="3641" y="8514541"/>
                  </a:lnTo>
                  <a:lnTo>
                    <a:pt x="2287" y="8510074"/>
                  </a:lnTo>
                  <a:lnTo>
                    <a:pt x="1372" y="8505473"/>
                  </a:lnTo>
                  <a:lnTo>
                    <a:pt x="457" y="8500872"/>
                  </a:lnTo>
                  <a:lnTo>
                    <a:pt x="0" y="8496227"/>
                  </a:lnTo>
                  <a:lnTo>
                    <a:pt x="0" y="8491537"/>
                  </a:lnTo>
                  <a:close/>
                </a:path>
              </a:pathLst>
            </a:custGeom>
            <a:ln w="9524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12196" y="1825165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27426" y="38385"/>
                  </a:moveTo>
                  <a:lnTo>
                    <a:pt x="127441" y="33244"/>
                  </a:lnTo>
                  <a:lnTo>
                    <a:pt x="126458" y="28302"/>
                  </a:lnTo>
                  <a:lnTo>
                    <a:pt x="124477" y="23558"/>
                  </a:lnTo>
                  <a:lnTo>
                    <a:pt x="122495" y="18815"/>
                  </a:lnTo>
                  <a:lnTo>
                    <a:pt x="119670" y="14641"/>
                  </a:lnTo>
                  <a:lnTo>
                    <a:pt x="116003" y="11039"/>
                  </a:lnTo>
                  <a:lnTo>
                    <a:pt x="112335" y="7436"/>
                  </a:lnTo>
                  <a:lnTo>
                    <a:pt x="108112" y="4687"/>
                  </a:lnTo>
                  <a:lnTo>
                    <a:pt x="103334" y="2791"/>
                  </a:lnTo>
                  <a:lnTo>
                    <a:pt x="98555" y="894"/>
                  </a:lnTo>
                  <a:lnTo>
                    <a:pt x="93596" y="0"/>
                  </a:lnTo>
                  <a:lnTo>
                    <a:pt x="88456" y="107"/>
                  </a:lnTo>
                  <a:lnTo>
                    <a:pt x="83317" y="214"/>
                  </a:lnTo>
                  <a:lnTo>
                    <a:pt x="78399" y="1314"/>
                  </a:lnTo>
                  <a:lnTo>
                    <a:pt x="73704" y="3408"/>
                  </a:lnTo>
                  <a:lnTo>
                    <a:pt x="69009" y="5502"/>
                  </a:lnTo>
                  <a:lnTo>
                    <a:pt x="53445" y="25039"/>
                  </a:lnTo>
                  <a:lnTo>
                    <a:pt x="51663" y="29861"/>
                  </a:lnTo>
                  <a:lnTo>
                    <a:pt x="50886" y="34840"/>
                  </a:lnTo>
                  <a:lnTo>
                    <a:pt x="51116" y="39976"/>
                  </a:lnTo>
                  <a:lnTo>
                    <a:pt x="47376" y="40937"/>
                  </a:lnTo>
                  <a:lnTo>
                    <a:pt x="43792" y="42307"/>
                  </a:lnTo>
                  <a:lnTo>
                    <a:pt x="40364" y="44084"/>
                  </a:lnTo>
                  <a:lnTo>
                    <a:pt x="36935" y="45861"/>
                  </a:lnTo>
                  <a:lnTo>
                    <a:pt x="22942" y="58905"/>
                  </a:lnTo>
                  <a:lnTo>
                    <a:pt x="20639" y="62004"/>
                  </a:lnTo>
                  <a:lnTo>
                    <a:pt x="12777" y="87479"/>
                  </a:lnTo>
                  <a:lnTo>
                    <a:pt x="12933" y="91337"/>
                  </a:lnTo>
                  <a:lnTo>
                    <a:pt x="13090" y="95195"/>
                  </a:lnTo>
                  <a:lnTo>
                    <a:pt x="13678" y="98987"/>
                  </a:lnTo>
                  <a:lnTo>
                    <a:pt x="14698" y="102711"/>
                  </a:lnTo>
                  <a:lnTo>
                    <a:pt x="15717" y="106436"/>
                  </a:lnTo>
                  <a:lnTo>
                    <a:pt x="17142" y="109998"/>
                  </a:lnTo>
                  <a:lnTo>
                    <a:pt x="18973" y="113398"/>
                  </a:lnTo>
                  <a:lnTo>
                    <a:pt x="15754" y="116012"/>
                  </a:lnTo>
                  <a:lnTo>
                    <a:pt x="12898" y="118976"/>
                  </a:lnTo>
                  <a:lnTo>
                    <a:pt x="10404" y="122288"/>
                  </a:lnTo>
                  <a:lnTo>
                    <a:pt x="7910" y="125601"/>
                  </a:lnTo>
                  <a:lnTo>
                    <a:pt x="0" y="153052"/>
                  </a:lnTo>
                  <a:lnTo>
                    <a:pt x="348" y="157184"/>
                  </a:lnTo>
                  <a:lnTo>
                    <a:pt x="697" y="161316"/>
                  </a:lnTo>
                  <a:lnTo>
                    <a:pt x="16111" y="189900"/>
                  </a:lnTo>
                  <a:lnTo>
                    <a:pt x="19124" y="192748"/>
                  </a:lnTo>
                  <a:lnTo>
                    <a:pt x="22437" y="195191"/>
                  </a:lnTo>
                  <a:lnTo>
                    <a:pt x="26048" y="197229"/>
                  </a:lnTo>
                  <a:lnTo>
                    <a:pt x="25602" y="200679"/>
                  </a:lnTo>
                  <a:lnTo>
                    <a:pt x="25511" y="204138"/>
                  </a:lnTo>
                  <a:lnTo>
                    <a:pt x="25774" y="207607"/>
                  </a:lnTo>
                  <a:lnTo>
                    <a:pt x="26037" y="211075"/>
                  </a:lnTo>
                  <a:lnTo>
                    <a:pt x="31484" y="227457"/>
                  </a:lnTo>
                  <a:lnTo>
                    <a:pt x="33104" y="230535"/>
                  </a:lnTo>
                  <a:lnTo>
                    <a:pt x="35019" y="233417"/>
                  </a:lnTo>
                  <a:lnTo>
                    <a:pt x="37230" y="236103"/>
                  </a:lnTo>
                  <a:lnTo>
                    <a:pt x="39441" y="238788"/>
                  </a:lnTo>
                  <a:lnTo>
                    <a:pt x="62994" y="252821"/>
                  </a:lnTo>
                  <a:lnTo>
                    <a:pt x="66347" y="253745"/>
                  </a:lnTo>
                  <a:lnTo>
                    <a:pt x="69760" y="254320"/>
                  </a:lnTo>
                  <a:lnTo>
                    <a:pt x="73231" y="254546"/>
                  </a:lnTo>
                  <a:lnTo>
                    <a:pt x="76702" y="254771"/>
                  </a:lnTo>
                  <a:lnTo>
                    <a:pt x="80160" y="254642"/>
                  </a:lnTo>
                  <a:lnTo>
                    <a:pt x="83605" y="254158"/>
                  </a:lnTo>
                  <a:lnTo>
                    <a:pt x="87050" y="253674"/>
                  </a:lnTo>
                  <a:lnTo>
                    <a:pt x="90410" y="252846"/>
                  </a:lnTo>
                  <a:lnTo>
                    <a:pt x="93685" y="251674"/>
                  </a:lnTo>
                  <a:lnTo>
                    <a:pt x="96960" y="250501"/>
                  </a:lnTo>
                  <a:lnTo>
                    <a:pt x="100082" y="249008"/>
                  </a:lnTo>
                  <a:lnTo>
                    <a:pt x="103051" y="247195"/>
                  </a:lnTo>
                  <a:lnTo>
                    <a:pt x="106020" y="245383"/>
                  </a:lnTo>
                  <a:lnTo>
                    <a:pt x="108774" y="243288"/>
                  </a:lnTo>
                  <a:lnTo>
                    <a:pt x="111314" y="240910"/>
                  </a:lnTo>
                  <a:lnTo>
                    <a:pt x="113853" y="238533"/>
                  </a:lnTo>
                  <a:lnTo>
                    <a:pt x="116125" y="235922"/>
                  </a:lnTo>
                  <a:lnTo>
                    <a:pt x="118129" y="233079"/>
                  </a:lnTo>
                  <a:lnTo>
                    <a:pt x="120133" y="230236"/>
                  </a:lnTo>
                  <a:lnTo>
                    <a:pt x="121828" y="227219"/>
                  </a:lnTo>
                  <a:lnTo>
                    <a:pt x="123214" y="224028"/>
                  </a:lnTo>
                  <a:lnTo>
                    <a:pt x="124599" y="220838"/>
                  </a:lnTo>
                  <a:lnTo>
                    <a:pt x="125647" y="217539"/>
                  </a:lnTo>
                  <a:lnTo>
                    <a:pt x="126356" y="214134"/>
                  </a:lnTo>
                  <a:lnTo>
                    <a:pt x="127066" y="210728"/>
                  </a:lnTo>
                  <a:lnTo>
                    <a:pt x="127422" y="207286"/>
                  </a:lnTo>
                  <a:lnTo>
                    <a:pt x="127426" y="203808"/>
                  </a:lnTo>
                  <a:lnTo>
                    <a:pt x="127426" y="38385"/>
                  </a:lnTo>
                  <a:close/>
                </a:path>
                <a:path w="255270" h="255269">
                  <a:moveTo>
                    <a:pt x="127426" y="38385"/>
                  </a:moveTo>
                  <a:lnTo>
                    <a:pt x="127411" y="33244"/>
                  </a:lnTo>
                  <a:lnTo>
                    <a:pt x="128394" y="28302"/>
                  </a:lnTo>
                  <a:lnTo>
                    <a:pt x="130376" y="23558"/>
                  </a:lnTo>
                  <a:lnTo>
                    <a:pt x="132357" y="18815"/>
                  </a:lnTo>
                  <a:lnTo>
                    <a:pt x="151519" y="2791"/>
                  </a:lnTo>
                  <a:lnTo>
                    <a:pt x="156297" y="894"/>
                  </a:lnTo>
                  <a:lnTo>
                    <a:pt x="161256" y="0"/>
                  </a:lnTo>
                  <a:lnTo>
                    <a:pt x="166396" y="107"/>
                  </a:lnTo>
                  <a:lnTo>
                    <a:pt x="171536" y="214"/>
                  </a:lnTo>
                  <a:lnTo>
                    <a:pt x="193463" y="12177"/>
                  </a:lnTo>
                  <a:lnTo>
                    <a:pt x="196977" y="15930"/>
                  </a:lnTo>
                  <a:lnTo>
                    <a:pt x="199625" y="20217"/>
                  </a:lnTo>
                  <a:lnTo>
                    <a:pt x="201408" y="25039"/>
                  </a:lnTo>
                  <a:lnTo>
                    <a:pt x="203190" y="29861"/>
                  </a:lnTo>
                  <a:lnTo>
                    <a:pt x="203966" y="34840"/>
                  </a:lnTo>
                  <a:lnTo>
                    <a:pt x="203737" y="39976"/>
                  </a:lnTo>
                  <a:lnTo>
                    <a:pt x="207477" y="40937"/>
                  </a:lnTo>
                  <a:lnTo>
                    <a:pt x="231910" y="58905"/>
                  </a:lnTo>
                  <a:lnTo>
                    <a:pt x="234214" y="62004"/>
                  </a:lnTo>
                  <a:lnTo>
                    <a:pt x="242076" y="87479"/>
                  </a:lnTo>
                  <a:lnTo>
                    <a:pt x="241919" y="91337"/>
                  </a:lnTo>
                  <a:lnTo>
                    <a:pt x="241762" y="95195"/>
                  </a:lnTo>
                  <a:lnTo>
                    <a:pt x="241174" y="98987"/>
                  </a:lnTo>
                  <a:lnTo>
                    <a:pt x="240155" y="102711"/>
                  </a:lnTo>
                  <a:lnTo>
                    <a:pt x="239135" y="106436"/>
                  </a:lnTo>
                  <a:lnTo>
                    <a:pt x="237710" y="109998"/>
                  </a:lnTo>
                  <a:lnTo>
                    <a:pt x="235880" y="113398"/>
                  </a:lnTo>
                  <a:lnTo>
                    <a:pt x="239098" y="116012"/>
                  </a:lnTo>
                  <a:lnTo>
                    <a:pt x="241954" y="118976"/>
                  </a:lnTo>
                  <a:lnTo>
                    <a:pt x="244448" y="122288"/>
                  </a:lnTo>
                  <a:lnTo>
                    <a:pt x="246942" y="125601"/>
                  </a:lnTo>
                  <a:lnTo>
                    <a:pt x="249000" y="129165"/>
                  </a:lnTo>
                  <a:lnTo>
                    <a:pt x="250623" y="132981"/>
                  </a:lnTo>
                  <a:lnTo>
                    <a:pt x="252246" y="136796"/>
                  </a:lnTo>
                  <a:lnTo>
                    <a:pt x="253386" y="140751"/>
                  </a:lnTo>
                  <a:lnTo>
                    <a:pt x="254043" y="144845"/>
                  </a:lnTo>
                  <a:lnTo>
                    <a:pt x="254699" y="148939"/>
                  </a:lnTo>
                  <a:lnTo>
                    <a:pt x="254853" y="153052"/>
                  </a:lnTo>
                  <a:lnTo>
                    <a:pt x="254504" y="157184"/>
                  </a:lnTo>
                  <a:lnTo>
                    <a:pt x="254155" y="161316"/>
                  </a:lnTo>
                  <a:lnTo>
                    <a:pt x="246622" y="180394"/>
                  </a:lnTo>
                  <a:lnTo>
                    <a:pt x="244382" y="183884"/>
                  </a:lnTo>
                  <a:lnTo>
                    <a:pt x="228805" y="197229"/>
                  </a:lnTo>
                  <a:lnTo>
                    <a:pt x="229251" y="200679"/>
                  </a:lnTo>
                  <a:lnTo>
                    <a:pt x="229342" y="204138"/>
                  </a:lnTo>
                  <a:lnTo>
                    <a:pt x="229079" y="207607"/>
                  </a:lnTo>
                  <a:lnTo>
                    <a:pt x="228815" y="211075"/>
                  </a:lnTo>
                  <a:lnTo>
                    <a:pt x="228203" y="214481"/>
                  </a:lnTo>
                  <a:lnTo>
                    <a:pt x="227241" y="217824"/>
                  </a:lnTo>
                  <a:lnTo>
                    <a:pt x="226279" y="221167"/>
                  </a:lnTo>
                  <a:lnTo>
                    <a:pt x="224989" y="224378"/>
                  </a:lnTo>
                  <a:lnTo>
                    <a:pt x="223369" y="227457"/>
                  </a:lnTo>
                  <a:lnTo>
                    <a:pt x="221749" y="230535"/>
                  </a:lnTo>
                  <a:lnTo>
                    <a:pt x="219833" y="233417"/>
                  </a:lnTo>
                  <a:lnTo>
                    <a:pt x="217622" y="236103"/>
                  </a:lnTo>
                  <a:lnTo>
                    <a:pt x="215412" y="238788"/>
                  </a:lnTo>
                  <a:lnTo>
                    <a:pt x="191859" y="252821"/>
                  </a:lnTo>
                  <a:lnTo>
                    <a:pt x="188505" y="253745"/>
                  </a:lnTo>
                  <a:lnTo>
                    <a:pt x="185093" y="254321"/>
                  </a:lnTo>
                  <a:lnTo>
                    <a:pt x="181621" y="254546"/>
                  </a:lnTo>
                  <a:lnTo>
                    <a:pt x="178150" y="254771"/>
                  </a:lnTo>
                  <a:lnTo>
                    <a:pt x="174692" y="254642"/>
                  </a:lnTo>
                  <a:lnTo>
                    <a:pt x="171247" y="254158"/>
                  </a:lnTo>
                  <a:lnTo>
                    <a:pt x="167802" y="253674"/>
                  </a:lnTo>
                  <a:lnTo>
                    <a:pt x="164442" y="252846"/>
                  </a:lnTo>
                  <a:lnTo>
                    <a:pt x="161167" y="251674"/>
                  </a:lnTo>
                  <a:lnTo>
                    <a:pt x="157892" y="250501"/>
                  </a:lnTo>
                  <a:lnTo>
                    <a:pt x="154770" y="249008"/>
                  </a:lnTo>
                  <a:lnTo>
                    <a:pt x="151801" y="247195"/>
                  </a:lnTo>
                  <a:lnTo>
                    <a:pt x="148832" y="245383"/>
                  </a:lnTo>
                  <a:lnTo>
                    <a:pt x="146078" y="243288"/>
                  </a:lnTo>
                  <a:lnTo>
                    <a:pt x="143539" y="240910"/>
                  </a:lnTo>
                  <a:lnTo>
                    <a:pt x="140999" y="238533"/>
                  </a:lnTo>
                  <a:lnTo>
                    <a:pt x="131639" y="224028"/>
                  </a:lnTo>
                  <a:lnTo>
                    <a:pt x="130253" y="220838"/>
                  </a:lnTo>
                  <a:lnTo>
                    <a:pt x="129205" y="217539"/>
                  </a:lnTo>
                  <a:lnTo>
                    <a:pt x="128496" y="214134"/>
                  </a:lnTo>
                  <a:lnTo>
                    <a:pt x="127786" y="210728"/>
                  </a:lnTo>
                  <a:lnTo>
                    <a:pt x="127430" y="207286"/>
                  </a:lnTo>
                  <a:lnTo>
                    <a:pt x="127426" y="203808"/>
                  </a:lnTo>
                  <a:lnTo>
                    <a:pt x="127426" y="38385"/>
                  </a:lnTo>
                  <a:close/>
                </a:path>
              </a:pathLst>
            </a:custGeom>
            <a:ln w="2544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8444" y="1852417"/>
              <a:ext cx="242356" cy="1256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38244" y="2022407"/>
              <a:ext cx="203200" cy="6985"/>
            </a:xfrm>
            <a:custGeom>
              <a:avLst/>
              <a:gdLst/>
              <a:ahLst/>
              <a:cxnLst/>
              <a:rect l="l" t="t" r="r" b="b"/>
              <a:pathLst>
                <a:path w="203200" h="6985">
                  <a:moveTo>
                    <a:pt x="25029" y="6565"/>
                  </a:moveTo>
                  <a:lnTo>
                    <a:pt x="18448" y="6157"/>
                  </a:lnTo>
                  <a:lnTo>
                    <a:pt x="12083" y="4927"/>
                  </a:lnTo>
                  <a:lnTo>
                    <a:pt x="5933" y="2874"/>
                  </a:lnTo>
                  <a:lnTo>
                    <a:pt x="0" y="0"/>
                  </a:lnTo>
                </a:path>
                <a:path w="203200" h="6985">
                  <a:moveTo>
                    <a:pt x="202757" y="0"/>
                  </a:moveTo>
                  <a:lnTo>
                    <a:pt x="196823" y="2874"/>
                  </a:lnTo>
                  <a:lnTo>
                    <a:pt x="190673" y="4927"/>
                  </a:lnTo>
                  <a:lnTo>
                    <a:pt x="184308" y="6157"/>
                  </a:lnTo>
                  <a:lnTo>
                    <a:pt x="177727" y="6565"/>
                  </a:lnTo>
                </a:path>
              </a:pathLst>
            </a:custGeom>
            <a:ln w="2544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74225" y="1344612"/>
            <a:ext cx="6529070" cy="427799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469900" marR="5080">
              <a:lnSpc>
                <a:spcPct val="72300"/>
              </a:lnSpc>
              <a:spcBef>
                <a:spcPts val="1490"/>
              </a:spcBef>
            </a:pPr>
            <a:r>
              <a:rPr sz="4050" b="1" spc="-235" dirty="0">
                <a:solidFill>
                  <a:srgbClr val="38FF13"/>
                </a:solidFill>
                <a:latin typeface="Arial"/>
                <a:cs typeface="Arial"/>
              </a:rPr>
              <a:t>AI</a:t>
            </a:r>
            <a:r>
              <a:rPr sz="4050" b="1" spc="-204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050" b="1" spc="-240" dirty="0">
                <a:solidFill>
                  <a:srgbClr val="38FF13"/>
                </a:solidFill>
                <a:latin typeface="Arial"/>
                <a:cs typeface="Arial"/>
              </a:rPr>
              <a:t>Learning</a:t>
            </a:r>
            <a:r>
              <a:rPr sz="4050" b="1" spc="-204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150" b="1" spc="-215" dirty="0">
                <a:solidFill>
                  <a:srgbClr val="38FF13"/>
                </a:solidFill>
                <a:latin typeface="Trebuchet MS"/>
                <a:cs typeface="Trebuchet MS"/>
              </a:rPr>
              <a:t>(</a:t>
            </a:r>
            <a:r>
              <a:rPr sz="4050" b="1" spc="-215" dirty="0">
                <a:solidFill>
                  <a:srgbClr val="38FF13"/>
                </a:solidFill>
                <a:latin typeface="Arial"/>
                <a:cs typeface="Arial"/>
              </a:rPr>
              <a:t>Reinforcement </a:t>
            </a:r>
            <a:r>
              <a:rPr sz="4050" b="1" spc="-120" dirty="0">
                <a:solidFill>
                  <a:srgbClr val="38FF13"/>
                </a:solidFill>
                <a:latin typeface="Arial"/>
                <a:cs typeface="Arial"/>
              </a:rPr>
              <a:t>Learning</a:t>
            </a:r>
            <a:r>
              <a:rPr sz="4150" b="1" spc="-120" dirty="0">
                <a:solidFill>
                  <a:srgbClr val="38FF13"/>
                </a:solidFill>
                <a:latin typeface="Trebuchet MS"/>
                <a:cs typeface="Trebuchet MS"/>
              </a:rPr>
              <a:t>)</a:t>
            </a:r>
            <a:endParaRPr sz="4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500" b="1" spc="-135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discovers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25" dirty="0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sz="25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35" dirty="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endParaRPr sz="2500">
              <a:latin typeface="Arial"/>
              <a:cs typeface="Arial"/>
            </a:endParaRPr>
          </a:p>
          <a:p>
            <a:pPr marL="252729" indent="-240029">
              <a:lnSpc>
                <a:spcPct val="100000"/>
              </a:lnSpc>
              <a:spcBef>
                <a:spcPts val="15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tries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random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actions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initially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9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Receives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rewards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good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9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Receives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penalties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mistakes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9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Learns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experience</a:t>
            </a:r>
            <a:endParaRPr sz="25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900"/>
              </a:spcBef>
              <a:buSzPct val="104000"/>
              <a:buFont typeface="Verdana"/>
              <a:buChar char="•"/>
              <a:tabLst>
                <a:tab pos="252729" algn="l"/>
              </a:tabLst>
            </a:pP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Improves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strategy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automatically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5</a:t>
            </a:fld>
            <a:r>
              <a:rPr spc="-20" dirty="0"/>
              <a:t>/25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74225" y="8773121"/>
            <a:ext cx="7479665" cy="6553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25"/>
              </a:spcBef>
            </a:pPr>
            <a:r>
              <a:rPr sz="2050" i="1" spc="-100" dirty="0">
                <a:solidFill>
                  <a:srgbClr val="00BEFF"/>
                </a:solidFill>
                <a:latin typeface="Arial"/>
                <a:cs typeface="Arial"/>
              </a:rPr>
              <a:t>No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00BEFF"/>
                </a:solidFill>
                <a:latin typeface="Arial"/>
                <a:cs typeface="Arial"/>
              </a:rPr>
              <a:t>expert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00BEFF"/>
                </a:solidFill>
                <a:latin typeface="Arial"/>
                <a:cs typeface="Arial"/>
              </a:rPr>
              <a:t>knowledge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20" dirty="0">
                <a:solidFill>
                  <a:srgbClr val="00BEFF"/>
                </a:solidFill>
                <a:latin typeface="Arial"/>
                <a:cs typeface="Arial"/>
              </a:rPr>
              <a:t>needed</a:t>
            </a:r>
            <a:r>
              <a:rPr sz="2150" i="1" spc="-120" dirty="0">
                <a:solidFill>
                  <a:srgbClr val="00BEFF"/>
                </a:solidFill>
                <a:latin typeface="Arial"/>
                <a:cs typeface="Arial"/>
              </a:rPr>
              <a:t>—</a:t>
            </a:r>
            <a:r>
              <a:rPr sz="2050" i="1" spc="-114" dirty="0">
                <a:solidFill>
                  <a:srgbClr val="00BEFF"/>
                </a:solidFill>
                <a:latin typeface="Arial"/>
                <a:cs typeface="Arial"/>
              </a:rPr>
              <a:t>AI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00BEFF"/>
                </a:solidFill>
                <a:latin typeface="Arial"/>
                <a:cs typeface="Arial"/>
              </a:rPr>
              <a:t>discovers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optimal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00BEFF"/>
                </a:solidFill>
                <a:latin typeface="Arial"/>
                <a:cs typeface="Arial"/>
              </a:rPr>
              <a:t>strategy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00BEFF"/>
                </a:solidFill>
                <a:latin typeface="Arial"/>
                <a:cs typeface="Arial"/>
              </a:rPr>
              <a:t>through </a:t>
            </a:r>
            <a:r>
              <a:rPr sz="2050" i="1" spc="-25" dirty="0">
                <a:solidFill>
                  <a:srgbClr val="00BEFF"/>
                </a:solidFill>
                <a:latin typeface="Arial"/>
                <a:cs typeface="Arial"/>
              </a:rPr>
              <a:t>trial</a:t>
            </a:r>
            <a:r>
              <a:rPr sz="2050" i="1" spc="-9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00BEFF"/>
                </a:solidFill>
                <a:latin typeface="Arial"/>
                <a:cs typeface="Arial"/>
              </a:rPr>
              <a:t>and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20" dirty="0">
                <a:solidFill>
                  <a:srgbClr val="00BEFF"/>
                </a:solidFill>
                <a:latin typeface="Arial"/>
                <a:cs typeface="Arial"/>
              </a:rPr>
              <a:t>error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5" dirty="0">
                <a:solidFill>
                  <a:srgbClr val="00BEFF"/>
                </a:solidFill>
              </a:rPr>
              <a:t>Enter</a:t>
            </a:r>
            <a:r>
              <a:rPr spc="-350" dirty="0">
                <a:solidFill>
                  <a:srgbClr val="00BEFF"/>
                </a:solidFill>
              </a:rPr>
              <a:t> </a:t>
            </a:r>
            <a:r>
              <a:rPr spc="-275" dirty="0">
                <a:solidFill>
                  <a:srgbClr val="00BEFF"/>
                </a:solidFill>
              </a:rPr>
              <a:t>Reinforcement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290" dirty="0">
                <a:solidFill>
                  <a:srgbClr val="00BEFF"/>
                </a:solidFill>
              </a:rPr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8715205" y="3218711"/>
            <a:ext cx="857885" cy="954405"/>
          </a:xfrm>
          <a:custGeom>
            <a:avLst/>
            <a:gdLst/>
            <a:ahLst/>
            <a:cxnLst/>
            <a:rect l="l" t="t" r="r" b="b"/>
            <a:pathLst>
              <a:path w="857884" h="954404">
                <a:moveTo>
                  <a:pt x="47794" y="572238"/>
                </a:moveTo>
                <a:lnTo>
                  <a:pt x="12060" y="556338"/>
                </a:lnTo>
                <a:lnTo>
                  <a:pt x="0" y="525797"/>
                </a:lnTo>
                <a:lnTo>
                  <a:pt x="336" y="519024"/>
                </a:lnTo>
                <a:lnTo>
                  <a:pt x="482134" y="8834"/>
                </a:lnTo>
                <a:lnTo>
                  <a:pt x="485776" y="4630"/>
                </a:lnTo>
                <a:lnTo>
                  <a:pt x="490332" y="2022"/>
                </a:lnTo>
                <a:lnTo>
                  <a:pt x="495801" y="1011"/>
                </a:lnTo>
                <a:lnTo>
                  <a:pt x="501271" y="0"/>
                </a:lnTo>
                <a:lnTo>
                  <a:pt x="506458" y="805"/>
                </a:lnTo>
                <a:lnTo>
                  <a:pt x="511363" y="3429"/>
                </a:lnTo>
                <a:lnTo>
                  <a:pt x="516268" y="6052"/>
                </a:lnTo>
                <a:lnTo>
                  <a:pt x="519817" y="9920"/>
                </a:lnTo>
                <a:lnTo>
                  <a:pt x="522012" y="15031"/>
                </a:lnTo>
                <a:lnTo>
                  <a:pt x="524207" y="20142"/>
                </a:lnTo>
                <a:lnTo>
                  <a:pt x="524567" y="25379"/>
                </a:lnTo>
                <a:lnTo>
                  <a:pt x="523091" y="30742"/>
                </a:lnTo>
                <a:lnTo>
                  <a:pt x="431651" y="317444"/>
                </a:lnTo>
                <a:lnTo>
                  <a:pt x="430303" y="321052"/>
                </a:lnTo>
                <a:lnTo>
                  <a:pt x="429406" y="324769"/>
                </a:lnTo>
                <a:lnTo>
                  <a:pt x="428960" y="328595"/>
                </a:lnTo>
                <a:lnTo>
                  <a:pt x="428514" y="332421"/>
                </a:lnTo>
                <a:lnTo>
                  <a:pt x="428531" y="336245"/>
                </a:lnTo>
                <a:lnTo>
                  <a:pt x="429013" y="340066"/>
                </a:lnTo>
                <a:lnTo>
                  <a:pt x="429494" y="343888"/>
                </a:lnTo>
                <a:lnTo>
                  <a:pt x="430425" y="347597"/>
                </a:lnTo>
                <a:lnTo>
                  <a:pt x="431807" y="351192"/>
                </a:lnTo>
                <a:lnTo>
                  <a:pt x="433188" y="354788"/>
                </a:lnTo>
                <a:lnTo>
                  <a:pt x="434979" y="358166"/>
                </a:lnTo>
                <a:lnTo>
                  <a:pt x="437180" y="361327"/>
                </a:lnTo>
                <a:lnTo>
                  <a:pt x="439381" y="364488"/>
                </a:lnTo>
                <a:lnTo>
                  <a:pt x="441928" y="367340"/>
                </a:lnTo>
                <a:lnTo>
                  <a:pt x="444821" y="369883"/>
                </a:lnTo>
                <a:lnTo>
                  <a:pt x="447714" y="372426"/>
                </a:lnTo>
                <a:lnTo>
                  <a:pt x="472567" y="381750"/>
                </a:lnTo>
                <a:lnTo>
                  <a:pt x="476419" y="381738"/>
                </a:lnTo>
                <a:lnTo>
                  <a:pt x="809794" y="381738"/>
                </a:lnTo>
                <a:lnTo>
                  <a:pt x="845528" y="397638"/>
                </a:lnTo>
                <a:lnTo>
                  <a:pt x="857588" y="428179"/>
                </a:lnTo>
                <a:lnTo>
                  <a:pt x="857252" y="434951"/>
                </a:lnTo>
                <a:lnTo>
                  <a:pt x="375454" y="945142"/>
                </a:lnTo>
                <a:lnTo>
                  <a:pt x="371812" y="949346"/>
                </a:lnTo>
                <a:lnTo>
                  <a:pt x="367256" y="951953"/>
                </a:lnTo>
                <a:lnTo>
                  <a:pt x="361787" y="952965"/>
                </a:lnTo>
                <a:lnTo>
                  <a:pt x="356317" y="953976"/>
                </a:lnTo>
                <a:lnTo>
                  <a:pt x="351130" y="953170"/>
                </a:lnTo>
                <a:lnTo>
                  <a:pt x="346225" y="950547"/>
                </a:lnTo>
                <a:lnTo>
                  <a:pt x="341320" y="947924"/>
                </a:lnTo>
                <a:lnTo>
                  <a:pt x="337771" y="944056"/>
                </a:lnTo>
                <a:lnTo>
                  <a:pt x="335576" y="938945"/>
                </a:lnTo>
                <a:lnTo>
                  <a:pt x="333381" y="933834"/>
                </a:lnTo>
                <a:lnTo>
                  <a:pt x="333021" y="928597"/>
                </a:lnTo>
                <a:lnTo>
                  <a:pt x="334496" y="923234"/>
                </a:lnTo>
                <a:lnTo>
                  <a:pt x="425937" y="636532"/>
                </a:lnTo>
                <a:lnTo>
                  <a:pt x="427285" y="632924"/>
                </a:lnTo>
                <a:lnTo>
                  <a:pt x="428182" y="629207"/>
                </a:lnTo>
                <a:lnTo>
                  <a:pt x="428628" y="625381"/>
                </a:lnTo>
                <a:lnTo>
                  <a:pt x="429075" y="621555"/>
                </a:lnTo>
                <a:lnTo>
                  <a:pt x="429057" y="617731"/>
                </a:lnTo>
                <a:lnTo>
                  <a:pt x="428575" y="613910"/>
                </a:lnTo>
                <a:lnTo>
                  <a:pt x="428094" y="610088"/>
                </a:lnTo>
                <a:lnTo>
                  <a:pt x="427163" y="606379"/>
                </a:lnTo>
                <a:lnTo>
                  <a:pt x="425781" y="602784"/>
                </a:lnTo>
                <a:lnTo>
                  <a:pt x="424400" y="599188"/>
                </a:lnTo>
                <a:lnTo>
                  <a:pt x="422609" y="595810"/>
                </a:lnTo>
                <a:lnTo>
                  <a:pt x="420408" y="592649"/>
                </a:lnTo>
                <a:lnTo>
                  <a:pt x="418207" y="589488"/>
                </a:lnTo>
                <a:lnTo>
                  <a:pt x="392561" y="573582"/>
                </a:lnTo>
                <a:lnTo>
                  <a:pt x="388818" y="572674"/>
                </a:lnTo>
                <a:lnTo>
                  <a:pt x="385021" y="572225"/>
                </a:lnTo>
                <a:lnTo>
                  <a:pt x="381169" y="572238"/>
                </a:lnTo>
                <a:lnTo>
                  <a:pt x="47794" y="572238"/>
                </a:lnTo>
                <a:close/>
              </a:path>
            </a:pathLst>
          </a:custGeom>
          <a:ln w="95250">
            <a:solidFill>
              <a:srgbClr val="38FF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68253" y="4114356"/>
            <a:ext cx="11151235" cy="2259330"/>
          </a:xfrm>
          <a:prstGeom prst="rect">
            <a:avLst/>
          </a:prstGeom>
        </p:spPr>
        <p:txBody>
          <a:bodyPr vert="horz" wrap="square" lIns="0" tIns="425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0"/>
              </a:spcBef>
            </a:pPr>
            <a:r>
              <a:rPr sz="6100" b="1" spc="-37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6100" b="1" spc="-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00" b="1" spc="-49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6100" b="1" spc="-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00" b="1" spc="-275" dirty="0">
                <a:solidFill>
                  <a:srgbClr val="FFFFFF"/>
                </a:solidFill>
                <a:latin typeface="Arial"/>
                <a:cs typeface="Arial"/>
              </a:rPr>
              <a:t>Machines</a:t>
            </a:r>
            <a:r>
              <a:rPr sz="6100" b="1" spc="-4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00" b="1" spc="-335" dirty="0">
                <a:solidFill>
                  <a:srgbClr val="FFFFFF"/>
                </a:solidFill>
                <a:latin typeface="Arial"/>
                <a:cs typeface="Arial"/>
              </a:rPr>
              <a:t>Learn</a:t>
            </a:r>
            <a:r>
              <a:rPr sz="6100" b="1" spc="-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00" b="1" spc="-28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6100" b="1" spc="-4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00" b="1" spc="-395" dirty="0">
                <a:solidFill>
                  <a:srgbClr val="FFFFFF"/>
                </a:solidFill>
                <a:latin typeface="Arial"/>
                <a:cs typeface="Arial"/>
              </a:rPr>
              <a:t>Race</a:t>
            </a:r>
            <a:r>
              <a:rPr sz="5900" b="1" spc="-395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endParaRPr sz="59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sz="4050" b="1" spc="-175" dirty="0">
                <a:solidFill>
                  <a:srgbClr val="38FF13"/>
                </a:solidFill>
                <a:latin typeface="Arial"/>
                <a:cs typeface="Arial"/>
              </a:rPr>
              <a:t>The</a:t>
            </a:r>
            <a:r>
              <a:rPr sz="4050" b="1" spc="-20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050" b="1" spc="-254" dirty="0">
                <a:solidFill>
                  <a:srgbClr val="38FF13"/>
                </a:solidFill>
                <a:latin typeface="Arial"/>
                <a:cs typeface="Arial"/>
              </a:rPr>
              <a:t>Power</a:t>
            </a:r>
            <a:r>
              <a:rPr sz="4050" b="1" spc="-20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050" b="1" spc="-135" dirty="0">
                <a:solidFill>
                  <a:srgbClr val="38FF13"/>
                </a:solidFill>
                <a:latin typeface="Arial"/>
                <a:cs typeface="Arial"/>
              </a:rPr>
              <a:t>of</a:t>
            </a:r>
            <a:r>
              <a:rPr sz="4050" b="1" spc="-19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050" b="1" spc="-235" dirty="0">
                <a:solidFill>
                  <a:srgbClr val="38FF13"/>
                </a:solidFill>
                <a:latin typeface="Arial"/>
                <a:cs typeface="Arial"/>
              </a:rPr>
              <a:t>Reinforcement</a:t>
            </a:r>
            <a:r>
              <a:rPr sz="4050" b="1" spc="-20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4050" b="1" spc="-80" dirty="0">
                <a:solidFill>
                  <a:srgbClr val="38FF13"/>
                </a:solidFill>
                <a:latin typeface="Arial"/>
                <a:cs typeface="Arial"/>
              </a:rPr>
              <a:t>Learning</a:t>
            </a:r>
            <a:endParaRPr sz="4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9926637"/>
            <a:ext cx="113855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114" dirty="0">
                <a:solidFill>
                  <a:srgbClr val="00BEFF"/>
                </a:solidFill>
                <a:latin typeface="Microsoft Sans Serif"/>
                <a:cs typeface="Microsoft Sans Serif"/>
              </a:rPr>
              <a:t>RL</a:t>
            </a:r>
            <a:r>
              <a:rPr sz="1300" spc="-1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00BEFF"/>
                </a:solidFill>
                <a:latin typeface="Microsoft Sans Serif"/>
                <a:cs typeface="Microsoft Sans Serif"/>
              </a:rPr>
              <a:t>Concepts</a:t>
            </a:r>
            <a:r>
              <a:rPr sz="1300" spc="-6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00BEFF"/>
                </a:solidFill>
                <a:latin typeface="Times New Roman"/>
                <a:cs typeface="Times New Roman"/>
              </a:rPr>
              <a:t>→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0" dirty="0"/>
              <a:t>6</a:t>
            </a:fld>
            <a:r>
              <a:rPr spc="-20" dirty="0"/>
              <a:t>/25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36579" y="6714926"/>
            <a:ext cx="8415020" cy="110807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065" marR="5080" algn="ctr">
              <a:lnSpc>
                <a:spcPts val="2700"/>
              </a:lnSpc>
              <a:spcBef>
                <a:spcPts val="540"/>
              </a:spcBef>
            </a:pP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Let</a:t>
            </a:r>
            <a:r>
              <a:rPr sz="2600" spc="-55" dirty="0">
                <a:solidFill>
                  <a:srgbClr val="D0D5DA"/>
                </a:solidFill>
                <a:latin typeface="Sitka Text"/>
                <a:cs typeface="Sitka Text"/>
              </a:rPr>
              <a:t>'</a:t>
            </a: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s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explore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fundamental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concepts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that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enable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AI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complex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behaviors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like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autonomous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</a:t>
            </a:r>
            <a:r>
              <a:rPr sz="2600" spc="-20" dirty="0">
                <a:solidFill>
                  <a:srgbClr val="D0D5DA"/>
                </a:solidFill>
                <a:latin typeface="Sitka Text"/>
                <a:cs typeface="Sitka Text"/>
              </a:rPr>
              <a:t>—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no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manual </a:t>
            </a: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programming</a:t>
            </a:r>
            <a:r>
              <a:rPr sz="25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required</a:t>
            </a:r>
            <a:r>
              <a:rPr sz="2600" spc="-10" dirty="0">
                <a:solidFill>
                  <a:srgbClr val="D0D5DA"/>
                </a:solidFill>
                <a:latin typeface="Sitka Text"/>
                <a:cs typeface="Sitka Text"/>
              </a:rPr>
              <a:t>.</a:t>
            </a:r>
            <a:endParaRPr sz="2600">
              <a:latin typeface="Sitka Text"/>
              <a:cs typeface="Sitka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What</a:t>
            </a:r>
            <a:r>
              <a:rPr spc="-345" dirty="0"/>
              <a:t> </a:t>
            </a:r>
            <a:r>
              <a:rPr spc="-270" dirty="0"/>
              <a:t>is</a:t>
            </a:r>
            <a:r>
              <a:rPr spc="-340" dirty="0"/>
              <a:t> </a:t>
            </a:r>
            <a:r>
              <a:rPr spc="-275" dirty="0"/>
              <a:t>Reinforcement</a:t>
            </a:r>
            <a:r>
              <a:rPr spc="-345" dirty="0"/>
              <a:t> </a:t>
            </a:r>
            <a:r>
              <a:rPr spc="-290" dirty="0"/>
              <a:t>Learning</a:t>
            </a:r>
            <a:r>
              <a:rPr sz="4950" spc="-290" dirty="0">
                <a:latin typeface="Century Gothic"/>
                <a:cs typeface="Century Gothic"/>
              </a:rPr>
              <a:t>?</a:t>
            </a:r>
            <a:endParaRPr sz="495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1181100"/>
            <a:ext cx="8458200" cy="6057900"/>
            <a:chOff x="457200" y="1181100"/>
            <a:chExt cx="8458200" cy="6057900"/>
          </a:xfrm>
        </p:grpSpPr>
        <p:sp>
          <p:nvSpPr>
            <p:cNvPr id="4" name="object 4"/>
            <p:cNvSpPr/>
            <p:nvPr/>
          </p:nvSpPr>
          <p:spPr>
            <a:xfrm>
              <a:off x="457200" y="1181100"/>
              <a:ext cx="8458200" cy="1485900"/>
            </a:xfrm>
            <a:custGeom>
              <a:avLst/>
              <a:gdLst/>
              <a:ahLst/>
              <a:cxnLst/>
              <a:rect l="l" t="t" r="r" b="b"/>
              <a:pathLst>
                <a:path w="8458200" h="1485900">
                  <a:moveTo>
                    <a:pt x="8387002" y="1485900"/>
                  </a:moveTo>
                  <a:lnTo>
                    <a:pt x="71196" y="1485900"/>
                  </a:lnTo>
                  <a:lnTo>
                    <a:pt x="66241" y="1485411"/>
                  </a:lnTo>
                  <a:lnTo>
                    <a:pt x="29705" y="1470277"/>
                  </a:lnTo>
                  <a:lnTo>
                    <a:pt x="3885" y="1434237"/>
                  </a:lnTo>
                  <a:lnTo>
                    <a:pt x="0" y="1414703"/>
                  </a:lnTo>
                  <a:lnTo>
                    <a:pt x="0" y="140970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8387002" y="0"/>
                  </a:lnTo>
                  <a:lnTo>
                    <a:pt x="8428493" y="15621"/>
                  </a:lnTo>
                  <a:lnTo>
                    <a:pt x="8454312" y="51661"/>
                  </a:lnTo>
                  <a:lnTo>
                    <a:pt x="8458199" y="71196"/>
                  </a:lnTo>
                  <a:lnTo>
                    <a:pt x="8458199" y="1414703"/>
                  </a:lnTo>
                  <a:lnTo>
                    <a:pt x="8442577" y="1456194"/>
                  </a:lnTo>
                  <a:lnTo>
                    <a:pt x="8406537" y="1482013"/>
                  </a:lnTo>
                  <a:lnTo>
                    <a:pt x="8391957" y="1485411"/>
                  </a:lnTo>
                  <a:lnTo>
                    <a:pt x="8387002" y="14859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300" y="1460500"/>
              <a:ext cx="177800" cy="177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00100" y="167640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0"/>
                  </a:moveTo>
                  <a:lnTo>
                    <a:pt x="76200" y="0"/>
                  </a:lnTo>
                </a:path>
                <a:path w="76200" h="50800">
                  <a:moveTo>
                    <a:pt x="12700" y="50800"/>
                  </a:moveTo>
                  <a:lnTo>
                    <a:pt x="63500" y="50800"/>
                  </a:lnTo>
                </a:path>
              </a:pathLst>
            </a:custGeom>
            <a:ln w="254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971800"/>
              <a:ext cx="8458200" cy="2819400"/>
            </a:xfrm>
            <a:custGeom>
              <a:avLst/>
              <a:gdLst/>
              <a:ahLst/>
              <a:cxnLst/>
              <a:rect l="l" t="t" r="r" b="b"/>
              <a:pathLst>
                <a:path w="8458200" h="2819400">
                  <a:moveTo>
                    <a:pt x="8387002" y="2819399"/>
                  </a:moveTo>
                  <a:lnTo>
                    <a:pt x="71196" y="2819399"/>
                  </a:lnTo>
                  <a:lnTo>
                    <a:pt x="66241" y="2818911"/>
                  </a:lnTo>
                  <a:lnTo>
                    <a:pt x="29705" y="2803777"/>
                  </a:lnTo>
                  <a:lnTo>
                    <a:pt x="3885" y="2767737"/>
                  </a:lnTo>
                  <a:lnTo>
                    <a:pt x="0" y="2748203"/>
                  </a:lnTo>
                  <a:lnTo>
                    <a:pt x="0" y="274320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8387002" y="0"/>
                  </a:lnTo>
                  <a:lnTo>
                    <a:pt x="8428493" y="15621"/>
                  </a:lnTo>
                  <a:lnTo>
                    <a:pt x="8454312" y="51661"/>
                  </a:lnTo>
                  <a:lnTo>
                    <a:pt x="8458199" y="71196"/>
                  </a:lnTo>
                  <a:lnTo>
                    <a:pt x="8458199" y="2748203"/>
                  </a:lnTo>
                  <a:lnTo>
                    <a:pt x="8442577" y="2789693"/>
                  </a:lnTo>
                  <a:lnTo>
                    <a:pt x="8406537" y="2815512"/>
                  </a:lnTo>
                  <a:lnTo>
                    <a:pt x="8391957" y="2818911"/>
                  </a:lnTo>
                  <a:lnTo>
                    <a:pt x="8387002" y="28193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500" y="3276600"/>
              <a:ext cx="279400" cy="241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00" y="6096000"/>
              <a:ext cx="8458200" cy="1143000"/>
            </a:xfrm>
            <a:custGeom>
              <a:avLst/>
              <a:gdLst/>
              <a:ahLst/>
              <a:cxnLst/>
              <a:rect l="l" t="t" r="r" b="b"/>
              <a:pathLst>
                <a:path w="8458200" h="1143000">
                  <a:moveTo>
                    <a:pt x="84582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8458200" y="0"/>
                  </a:lnTo>
                  <a:lnTo>
                    <a:pt x="8458200" y="11430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096000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1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114300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6372225"/>
              <a:ext cx="209550" cy="2002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300" y="1354846"/>
            <a:ext cx="8420100" cy="56680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647700" marR="320040">
              <a:lnSpc>
                <a:spcPts val="2700"/>
              </a:lnSpc>
              <a:spcBef>
                <a:spcPts val="445"/>
              </a:spcBef>
            </a:pP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Reinforcement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type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machine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where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agent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learns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make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decisions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interacting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environment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receiving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feedback</a:t>
            </a:r>
            <a:endParaRPr sz="2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609600">
              <a:lnSpc>
                <a:spcPct val="100000"/>
              </a:lnSpc>
            </a:pPr>
            <a:r>
              <a:rPr sz="3050" b="1" spc="-215" dirty="0">
                <a:solidFill>
                  <a:srgbClr val="00BEFF"/>
                </a:solidFill>
                <a:latin typeface="Arial"/>
                <a:cs typeface="Arial"/>
              </a:rPr>
              <a:t>Like</a:t>
            </a:r>
            <a:r>
              <a:rPr sz="3050" b="1" spc="-15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185" dirty="0">
                <a:solidFill>
                  <a:srgbClr val="00BEFF"/>
                </a:solidFill>
                <a:latin typeface="Arial"/>
                <a:cs typeface="Arial"/>
              </a:rPr>
              <a:t>Learning</a:t>
            </a:r>
            <a:r>
              <a:rPr sz="3050" b="1" spc="-15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170" dirty="0">
                <a:solidFill>
                  <a:srgbClr val="00BEFF"/>
                </a:solidFill>
                <a:latin typeface="Arial"/>
                <a:cs typeface="Arial"/>
              </a:rPr>
              <a:t>to</a:t>
            </a:r>
            <a:r>
              <a:rPr sz="3050" b="1" spc="-15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229" dirty="0">
                <a:solidFill>
                  <a:srgbClr val="00BEFF"/>
                </a:solidFill>
                <a:latin typeface="Arial"/>
                <a:cs typeface="Arial"/>
              </a:rPr>
              <a:t>Ride</a:t>
            </a:r>
            <a:r>
              <a:rPr sz="3050" b="1" spc="-15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160" dirty="0">
                <a:solidFill>
                  <a:srgbClr val="00BEFF"/>
                </a:solidFill>
                <a:latin typeface="Arial"/>
                <a:cs typeface="Arial"/>
              </a:rPr>
              <a:t>a</a:t>
            </a:r>
            <a:r>
              <a:rPr sz="3050" b="1" spc="-15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20" dirty="0">
                <a:solidFill>
                  <a:srgbClr val="00BEFF"/>
                </a:solidFill>
                <a:latin typeface="Arial"/>
                <a:cs typeface="Arial"/>
              </a:rPr>
              <a:t>Bike</a:t>
            </a:r>
            <a:endParaRPr sz="3050">
              <a:latin typeface="Arial"/>
              <a:cs typeface="Arial"/>
            </a:endParaRPr>
          </a:p>
          <a:p>
            <a:pPr marL="381635" indent="-191135">
              <a:lnSpc>
                <a:spcPct val="100000"/>
              </a:lnSpc>
              <a:spcBef>
                <a:spcPts val="865"/>
              </a:spcBef>
              <a:buSzPct val="102500"/>
              <a:buFont typeface="Century Gothic"/>
              <a:buChar char="•"/>
              <a:tabLst>
                <a:tab pos="381635" algn="l"/>
              </a:tabLst>
            </a:pPr>
            <a:r>
              <a:rPr sz="20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try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different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actions </a:t>
            </a:r>
            <a:r>
              <a:rPr sz="2050" spc="-45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pedaling</a:t>
            </a:r>
            <a:r>
              <a:rPr sz="2050" spc="-4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050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steering</a:t>
            </a:r>
            <a:r>
              <a:rPr sz="2050" spc="-1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050">
              <a:latin typeface="Century Gothic"/>
              <a:cs typeface="Century Gothic"/>
            </a:endParaRPr>
          </a:p>
          <a:p>
            <a:pPr marL="381635" indent="-191135">
              <a:lnSpc>
                <a:spcPct val="100000"/>
              </a:lnSpc>
              <a:spcBef>
                <a:spcPts val="540"/>
              </a:spcBef>
              <a:buSzPct val="102500"/>
              <a:buFont typeface="Century Gothic"/>
              <a:buChar char="•"/>
              <a:tabLst>
                <a:tab pos="381635" algn="l"/>
              </a:tabLst>
            </a:pPr>
            <a:r>
              <a:rPr sz="20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get</a:t>
            </a:r>
            <a:r>
              <a:rPr sz="20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immediate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feedback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balance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fall</a:t>
            </a:r>
            <a:r>
              <a:rPr sz="2050" spc="-1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050">
              <a:latin typeface="Century Gothic"/>
              <a:cs typeface="Century Gothic"/>
            </a:endParaRPr>
          </a:p>
          <a:p>
            <a:pPr marL="381635" indent="-191135">
              <a:lnSpc>
                <a:spcPct val="100000"/>
              </a:lnSpc>
              <a:spcBef>
                <a:spcPts val="590"/>
              </a:spcBef>
              <a:buSzPct val="102500"/>
              <a:buFont typeface="Century Gothic"/>
              <a:buChar char="•"/>
              <a:tabLst>
                <a:tab pos="381635" algn="l"/>
              </a:tabLst>
            </a:pPr>
            <a:r>
              <a:rPr sz="20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</a:t>
            </a:r>
            <a:r>
              <a:rPr sz="20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mistakes</a:t>
            </a:r>
            <a:r>
              <a:rPr sz="2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successes</a:t>
            </a:r>
            <a:endParaRPr sz="2000">
              <a:latin typeface="Microsoft Sans Serif"/>
              <a:cs typeface="Microsoft Sans Serif"/>
            </a:endParaRPr>
          </a:p>
          <a:p>
            <a:pPr marL="381635" indent="-191135">
              <a:lnSpc>
                <a:spcPct val="100000"/>
              </a:lnSpc>
              <a:spcBef>
                <a:spcPts val="600"/>
              </a:spcBef>
              <a:buSzPct val="102500"/>
              <a:buFont typeface="Century Gothic"/>
              <a:buChar char="•"/>
              <a:tabLst>
                <a:tab pos="381635" algn="l"/>
              </a:tabLst>
            </a:pPr>
            <a:r>
              <a:rPr sz="20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improve</a:t>
            </a:r>
            <a:r>
              <a:rPr sz="20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practice</a:t>
            </a:r>
            <a:endParaRPr sz="2000">
              <a:latin typeface="Microsoft Sans Serif"/>
              <a:cs typeface="Microsoft Sans Serif"/>
            </a:endParaRPr>
          </a:p>
          <a:p>
            <a:pPr marL="381635" indent="-191135">
              <a:lnSpc>
                <a:spcPct val="100000"/>
              </a:lnSpc>
              <a:spcBef>
                <a:spcPts val="550"/>
              </a:spcBef>
              <a:buSzPct val="102500"/>
              <a:buFont typeface="Century Gothic"/>
              <a:buChar char="•"/>
              <a:tabLst>
                <a:tab pos="381635" algn="l"/>
              </a:tabLst>
            </a:pPr>
            <a:r>
              <a:rPr sz="20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Eventually</a:t>
            </a:r>
            <a:r>
              <a:rPr sz="2050" spc="-6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050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becomes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automatic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571500" marR="988694">
              <a:lnSpc>
                <a:spcPts val="2700"/>
              </a:lnSpc>
            </a:pP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key</a:t>
            </a:r>
            <a:r>
              <a:rPr sz="2600" spc="-65" dirty="0">
                <a:solidFill>
                  <a:srgbClr val="FFFFFF"/>
                </a:solidFill>
                <a:latin typeface="Century Gothic"/>
                <a:cs typeface="Century Gothic"/>
              </a:rPr>
              <a:t>:</a:t>
            </a:r>
            <a:r>
              <a:rPr sz="2600" spc="-1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happens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trial</a:t>
            </a:r>
            <a:r>
              <a:rPr sz="2600" spc="-30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00" spc="-1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</a:t>
            </a:r>
            <a:r>
              <a:rPr sz="2600" spc="-5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00" spc="-1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feedback</a:t>
            </a:r>
            <a:r>
              <a:rPr sz="2600" spc="-75" dirty="0">
                <a:solidFill>
                  <a:srgbClr val="FFFFFF"/>
                </a:solidFill>
                <a:latin typeface="Century Gothic"/>
                <a:cs typeface="Century Gothic"/>
              </a:rPr>
              <a:t>—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not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explicit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programming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5" dirty="0"/>
              <a:t>7</a:t>
            </a:fld>
            <a:r>
              <a:rPr spc="-25" dirty="0"/>
              <a:t>/25</a:t>
            </a:r>
          </a:p>
        </p:txBody>
      </p:sp>
      <p:pic>
        <p:nvPicPr>
          <p:cNvPr id="15" name="Picture 14" descr="Reinforcement Learning">
            <a:extLst>
              <a:ext uri="{FF2B5EF4-FFF2-40B4-BE49-F238E27FC236}">
                <a16:creationId xmlns:a16="http://schemas.microsoft.com/office/drawing/2014/main" id="{FD94B05E-2FB7-33E6-D3A8-F30F108D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893" y="1833598"/>
            <a:ext cx="9288235" cy="5176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>
                <a:solidFill>
                  <a:srgbClr val="00BEFF"/>
                </a:solidFill>
              </a:rPr>
              <a:t>Why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665" dirty="0">
                <a:solidFill>
                  <a:srgbClr val="00BEFF"/>
                </a:solidFill>
              </a:rPr>
              <a:t>RL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190" dirty="0">
                <a:solidFill>
                  <a:srgbClr val="00BEFF"/>
                </a:solidFill>
              </a:rPr>
              <a:t>for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340" dirty="0">
                <a:solidFill>
                  <a:srgbClr val="00BEFF"/>
                </a:solidFill>
              </a:rPr>
              <a:t>Racing</a:t>
            </a:r>
            <a:r>
              <a:rPr sz="4950" spc="-340" dirty="0">
                <a:solidFill>
                  <a:srgbClr val="00BEFF"/>
                </a:solidFill>
                <a:latin typeface="Century Gothic"/>
                <a:cs typeface="Century Gothic"/>
              </a:rPr>
              <a:t>?</a:t>
            </a:r>
            <a:endParaRPr sz="49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420" y="1043883"/>
            <a:ext cx="9911080" cy="1023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4855"/>
              </a:lnSpc>
              <a:spcBef>
                <a:spcPts val="105"/>
              </a:spcBef>
            </a:pPr>
            <a:r>
              <a:rPr sz="4050" b="1" spc="-235" dirty="0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sz="405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4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405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405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160" dirty="0">
                <a:solidFill>
                  <a:srgbClr val="FFFFFF"/>
                </a:solidFill>
                <a:latin typeface="Arial"/>
                <a:cs typeface="Arial"/>
              </a:rPr>
              <a:t>Perfect</a:t>
            </a:r>
            <a:r>
              <a:rPr sz="405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17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405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95" dirty="0">
                <a:solidFill>
                  <a:srgbClr val="FFFFFF"/>
                </a:solidFill>
                <a:latin typeface="Arial"/>
                <a:cs typeface="Arial"/>
              </a:rPr>
              <a:t>Racing</a:t>
            </a:r>
            <a:endParaRPr sz="4050">
              <a:latin typeface="Arial"/>
              <a:cs typeface="Arial"/>
            </a:endParaRPr>
          </a:p>
          <a:p>
            <a:pPr algn="ctr">
              <a:lnSpc>
                <a:spcPts val="2995"/>
              </a:lnSpc>
            </a:pPr>
            <a:r>
              <a:rPr sz="2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Three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key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advantages</a:t>
            </a:r>
            <a:r>
              <a:rPr sz="25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make</a:t>
            </a:r>
            <a:r>
              <a:rPr sz="2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50" dirty="0">
                <a:solidFill>
                  <a:srgbClr val="D0D5DA"/>
                </a:solidFill>
                <a:latin typeface="Microsoft Sans Serif"/>
                <a:cs typeface="Microsoft Sans Serif"/>
              </a:rPr>
              <a:t>RL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ideal</a:t>
            </a:r>
            <a:r>
              <a:rPr sz="25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5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this</a:t>
            </a:r>
            <a:r>
              <a:rPr sz="25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challenge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362199"/>
            <a:ext cx="5486400" cy="7391400"/>
            <a:chOff x="457200" y="2362199"/>
            <a:chExt cx="5486400" cy="7391400"/>
          </a:xfrm>
        </p:grpSpPr>
        <p:sp>
          <p:nvSpPr>
            <p:cNvPr id="5" name="object 5"/>
            <p:cNvSpPr/>
            <p:nvPr/>
          </p:nvSpPr>
          <p:spPr>
            <a:xfrm>
              <a:off x="457200" y="2381250"/>
              <a:ext cx="5486400" cy="7372350"/>
            </a:xfrm>
            <a:custGeom>
              <a:avLst/>
              <a:gdLst/>
              <a:ahLst/>
              <a:cxnLst/>
              <a:rect l="l" t="t" r="r" b="b"/>
              <a:pathLst>
                <a:path w="5486400" h="7372350">
                  <a:moveTo>
                    <a:pt x="5415203" y="7372349"/>
                  </a:moveTo>
                  <a:lnTo>
                    <a:pt x="71196" y="7372349"/>
                  </a:lnTo>
                  <a:lnTo>
                    <a:pt x="66241" y="7371860"/>
                  </a:lnTo>
                  <a:lnTo>
                    <a:pt x="29705" y="7356726"/>
                  </a:lnTo>
                  <a:lnTo>
                    <a:pt x="3885" y="7320687"/>
                  </a:lnTo>
                  <a:lnTo>
                    <a:pt x="0" y="7301153"/>
                  </a:lnTo>
                  <a:lnTo>
                    <a:pt x="0" y="72961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29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3" y="11715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7301153"/>
                  </a:lnTo>
                  <a:lnTo>
                    <a:pt x="5470777" y="7342643"/>
                  </a:lnTo>
                  <a:lnTo>
                    <a:pt x="5434737" y="7368462"/>
                  </a:lnTo>
                  <a:lnTo>
                    <a:pt x="5420158" y="7371861"/>
                  </a:lnTo>
                  <a:lnTo>
                    <a:pt x="5415203" y="73723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477" y="23621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4" y="12830"/>
                  </a:lnTo>
                  <a:lnTo>
                    <a:pt x="5475831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5486400" h="70485">
                  <a:moveTo>
                    <a:pt x="5485844" y="70449"/>
                  </a:moveTo>
                  <a:lnTo>
                    <a:pt x="5452264" y="44514"/>
                  </a:lnTo>
                  <a:lnTo>
                    <a:pt x="5409922" y="38100"/>
                  </a:lnTo>
                  <a:lnTo>
                    <a:pt x="5475831" y="38100"/>
                  </a:lnTo>
                  <a:lnTo>
                    <a:pt x="5485759" y="68693"/>
                  </a:lnTo>
                  <a:lnTo>
                    <a:pt x="5485844" y="70449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7200" y="2755900"/>
              <a:ext cx="406400" cy="508000"/>
            </a:xfrm>
            <a:custGeom>
              <a:avLst/>
              <a:gdLst/>
              <a:ahLst/>
              <a:cxnLst/>
              <a:rect l="l" t="t" r="r" b="b"/>
              <a:pathLst>
                <a:path w="406400" h="508000">
                  <a:moveTo>
                    <a:pt x="279400" y="0"/>
                  </a:moveTo>
                  <a:lnTo>
                    <a:pt x="50800" y="0"/>
                  </a:lnTo>
                  <a:lnTo>
                    <a:pt x="47464" y="0"/>
                  </a:lnTo>
                  <a:lnTo>
                    <a:pt x="44160" y="325"/>
                  </a:lnTo>
                  <a:lnTo>
                    <a:pt x="40889" y="976"/>
                  </a:lnTo>
                  <a:lnTo>
                    <a:pt x="37617" y="1626"/>
                  </a:lnTo>
                  <a:lnTo>
                    <a:pt x="34441" y="2590"/>
                  </a:lnTo>
                  <a:lnTo>
                    <a:pt x="31359" y="3866"/>
                  </a:lnTo>
                  <a:lnTo>
                    <a:pt x="28278" y="5143"/>
                  </a:lnTo>
                  <a:lnTo>
                    <a:pt x="25350" y="6708"/>
                  </a:lnTo>
                  <a:lnTo>
                    <a:pt x="22577" y="8561"/>
                  </a:lnTo>
                  <a:lnTo>
                    <a:pt x="19803" y="10414"/>
                  </a:lnTo>
                  <a:lnTo>
                    <a:pt x="17237" y="12520"/>
                  </a:lnTo>
                  <a:lnTo>
                    <a:pt x="14878" y="14878"/>
                  </a:lnTo>
                  <a:lnTo>
                    <a:pt x="12520" y="17237"/>
                  </a:lnTo>
                  <a:lnTo>
                    <a:pt x="10414" y="19803"/>
                  </a:lnTo>
                  <a:lnTo>
                    <a:pt x="8561" y="22577"/>
                  </a:lnTo>
                  <a:lnTo>
                    <a:pt x="6708" y="25350"/>
                  </a:lnTo>
                  <a:lnTo>
                    <a:pt x="0" y="47464"/>
                  </a:lnTo>
                  <a:lnTo>
                    <a:pt x="0" y="50800"/>
                  </a:lnTo>
                  <a:lnTo>
                    <a:pt x="0" y="457200"/>
                  </a:lnTo>
                  <a:lnTo>
                    <a:pt x="3866" y="476640"/>
                  </a:lnTo>
                  <a:lnTo>
                    <a:pt x="5143" y="479721"/>
                  </a:lnTo>
                  <a:lnTo>
                    <a:pt x="6708" y="482649"/>
                  </a:lnTo>
                  <a:lnTo>
                    <a:pt x="8561" y="485423"/>
                  </a:lnTo>
                  <a:lnTo>
                    <a:pt x="10414" y="488196"/>
                  </a:lnTo>
                  <a:lnTo>
                    <a:pt x="31359" y="504133"/>
                  </a:lnTo>
                  <a:lnTo>
                    <a:pt x="34441" y="505409"/>
                  </a:lnTo>
                  <a:lnTo>
                    <a:pt x="37617" y="506373"/>
                  </a:lnTo>
                  <a:lnTo>
                    <a:pt x="40889" y="507023"/>
                  </a:lnTo>
                  <a:lnTo>
                    <a:pt x="44160" y="507674"/>
                  </a:lnTo>
                  <a:lnTo>
                    <a:pt x="47464" y="508000"/>
                  </a:lnTo>
                  <a:lnTo>
                    <a:pt x="50800" y="508000"/>
                  </a:lnTo>
                  <a:lnTo>
                    <a:pt x="355600" y="508000"/>
                  </a:lnTo>
                  <a:lnTo>
                    <a:pt x="358935" y="508000"/>
                  </a:lnTo>
                  <a:lnTo>
                    <a:pt x="362239" y="507674"/>
                  </a:lnTo>
                  <a:lnTo>
                    <a:pt x="365510" y="507023"/>
                  </a:lnTo>
                  <a:lnTo>
                    <a:pt x="368782" y="506373"/>
                  </a:lnTo>
                  <a:lnTo>
                    <a:pt x="371958" y="505409"/>
                  </a:lnTo>
                  <a:lnTo>
                    <a:pt x="375040" y="504133"/>
                  </a:lnTo>
                  <a:lnTo>
                    <a:pt x="378121" y="502856"/>
                  </a:lnTo>
                  <a:lnTo>
                    <a:pt x="397838" y="485423"/>
                  </a:lnTo>
                  <a:lnTo>
                    <a:pt x="399691" y="482649"/>
                  </a:lnTo>
                  <a:lnTo>
                    <a:pt x="401256" y="479721"/>
                  </a:lnTo>
                  <a:lnTo>
                    <a:pt x="402533" y="476640"/>
                  </a:lnTo>
                  <a:lnTo>
                    <a:pt x="403809" y="473558"/>
                  </a:lnTo>
                  <a:lnTo>
                    <a:pt x="404773" y="470382"/>
                  </a:lnTo>
                  <a:lnTo>
                    <a:pt x="405423" y="467110"/>
                  </a:lnTo>
                  <a:lnTo>
                    <a:pt x="406074" y="463839"/>
                  </a:lnTo>
                  <a:lnTo>
                    <a:pt x="406400" y="460535"/>
                  </a:lnTo>
                  <a:lnTo>
                    <a:pt x="406400" y="457200"/>
                  </a:lnTo>
                  <a:lnTo>
                    <a:pt x="406400" y="127000"/>
                  </a:lnTo>
                  <a:lnTo>
                    <a:pt x="279400" y="0"/>
                  </a:lnTo>
                  <a:close/>
                </a:path>
              </a:pathLst>
            </a:custGeom>
            <a:ln w="508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5800" y="2730500"/>
              <a:ext cx="203200" cy="203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36900" y="30226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127000"/>
                  </a:lnTo>
                </a:path>
                <a:path w="127000" h="127000">
                  <a:moveTo>
                    <a:pt x="0" y="0"/>
                  </a:moveTo>
                  <a:lnTo>
                    <a:pt x="127000" y="127000"/>
                  </a:lnTo>
                </a:path>
              </a:pathLst>
            </a:custGeom>
            <a:ln w="508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88751" y="3303587"/>
            <a:ext cx="4623435" cy="19818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19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240" dirty="0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70" dirty="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sz="2000" spc="-155" dirty="0">
                <a:solidFill>
                  <a:srgbClr val="D0D5DA"/>
                </a:solidFill>
                <a:latin typeface="Microsoft Sans Serif"/>
                <a:cs typeface="Microsoft Sans Serif"/>
              </a:rPr>
              <a:t>We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don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'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need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manually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program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strategies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discovers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optimal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lines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braking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points</a:t>
            </a:r>
            <a:r>
              <a:rPr sz="20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acceleration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patterns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its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own</a:t>
            </a:r>
            <a:r>
              <a:rPr sz="20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8010" y="8883940"/>
            <a:ext cx="4105275" cy="5549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080770" marR="5080" indent="-1068705">
              <a:lnSpc>
                <a:spcPct val="102899"/>
              </a:lnSpc>
              <a:spcBef>
                <a:spcPts val="60"/>
              </a:spcBef>
            </a:pPr>
            <a:r>
              <a:rPr sz="1700" i="1" spc="-85" dirty="0">
                <a:solidFill>
                  <a:srgbClr val="FF6A34"/>
                </a:solidFill>
                <a:latin typeface="Arial"/>
                <a:cs typeface="Arial"/>
              </a:rPr>
              <a:t>No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need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FF6A34"/>
                </a:solidFill>
                <a:latin typeface="Arial"/>
                <a:cs typeface="Arial"/>
              </a:rPr>
              <a:t>to</a:t>
            </a:r>
            <a:r>
              <a:rPr sz="1700" i="1" spc="-9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code: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'IF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curve_radius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FF6A34"/>
                </a:solidFill>
                <a:latin typeface="Arial"/>
                <a:cs typeface="Arial"/>
              </a:rPr>
              <a:t>&lt;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FF6A34"/>
                </a:solidFill>
                <a:latin typeface="Arial"/>
                <a:cs typeface="Arial"/>
              </a:rPr>
              <a:t>50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130" dirty="0">
                <a:solidFill>
                  <a:srgbClr val="FF6A34"/>
                </a:solidFill>
                <a:latin typeface="Arial"/>
                <a:cs typeface="Arial"/>
              </a:rPr>
              <a:t>THEN </a:t>
            </a:r>
            <a:r>
              <a:rPr sz="1700" i="1" spc="-30" dirty="0">
                <a:solidFill>
                  <a:srgbClr val="FF6A34"/>
                </a:solidFill>
                <a:latin typeface="Arial"/>
                <a:cs typeface="Arial"/>
              </a:rPr>
              <a:t>reduce_speed_by_30'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00799" y="2362199"/>
            <a:ext cx="5486400" cy="7391400"/>
            <a:chOff x="6400799" y="2362199"/>
            <a:chExt cx="5486400" cy="7391400"/>
          </a:xfrm>
        </p:grpSpPr>
        <p:sp>
          <p:nvSpPr>
            <p:cNvPr id="13" name="object 13"/>
            <p:cNvSpPr/>
            <p:nvPr/>
          </p:nvSpPr>
          <p:spPr>
            <a:xfrm>
              <a:off x="6400799" y="2381250"/>
              <a:ext cx="5486400" cy="7372350"/>
            </a:xfrm>
            <a:custGeom>
              <a:avLst/>
              <a:gdLst/>
              <a:ahLst/>
              <a:cxnLst/>
              <a:rect l="l" t="t" r="r" b="b"/>
              <a:pathLst>
                <a:path w="5486400" h="7372350">
                  <a:moveTo>
                    <a:pt x="5415203" y="7372349"/>
                  </a:moveTo>
                  <a:lnTo>
                    <a:pt x="71197" y="7372349"/>
                  </a:lnTo>
                  <a:lnTo>
                    <a:pt x="66241" y="7371860"/>
                  </a:lnTo>
                  <a:lnTo>
                    <a:pt x="29705" y="7356726"/>
                  </a:lnTo>
                  <a:lnTo>
                    <a:pt x="3885" y="7320687"/>
                  </a:lnTo>
                  <a:lnTo>
                    <a:pt x="0" y="7301153"/>
                  </a:lnTo>
                  <a:lnTo>
                    <a:pt x="0" y="72961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29"/>
                  </a:lnTo>
                  <a:lnTo>
                    <a:pt x="71197" y="0"/>
                  </a:lnTo>
                  <a:lnTo>
                    <a:pt x="5415203" y="0"/>
                  </a:lnTo>
                  <a:lnTo>
                    <a:pt x="5456692" y="11715"/>
                  </a:lnTo>
                  <a:lnTo>
                    <a:pt x="5483959" y="42319"/>
                  </a:lnTo>
                  <a:lnTo>
                    <a:pt x="5486399" y="53397"/>
                  </a:lnTo>
                  <a:lnTo>
                    <a:pt x="5486399" y="7301153"/>
                  </a:lnTo>
                  <a:lnTo>
                    <a:pt x="5470777" y="7342643"/>
                  </a:lnTo>
                  <a:lnTo>
                    <a:pt x="5434736" y="7368462"/>
                  </a:lnTo>
                  <a:lnTo>
                    <a:pt x="5420157" y="7371861"/>
                  </a:lnTo>
                  <a:lnTo>
                    <a:pt x="5415203" y="73723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01077" y="23621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30"/>
                  </a:lnTo>
                  <a:lnTo>
                    <a:pt x="5475830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30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90000" y="27559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508000" y="254000"/>
                  </a:moveTo>
                  <a:lnTo>
                    <a:pt x="508000" y="262318"/>
                  </a:lnTo>
                  <a:lnTo>
                    <a:pt x="507592" y="270617"/>
                  </a:lnTo>
                  <a:lnTo>
                    <a:pt x="506776" y="278896"/>
                  </a:lnTo>
                  <a:lnTo>
                    <a:pt x="505961" y="287175"/>
                  </a:lnTo>
                  <a:lnTo>
                    <a:pt x="504742" y="295394"/>
                  </a:lnTo>
                  <a:lnTo>
                    <a:pt x="503119" y="303552"/>
                  </a:lnTo>
                  <a:lnTo>
                    <a:pt x="501496" y="311711"/>
                  </a:lnTo>
                  <a:lnTo>
                    <a:pt x="488665" y="351201"/>
                  </a:lnTo>
                  <a:lnTo>
                    <a:pt x="469814" y="388197"/>
                  </a:lnTo>
                  <a:lnTo>
                    <a:pt x="465193" y="395114"/>
                  </a:lnTo>
                  <a:lnTo>
                    <a:pt x="460571" y="402031"/>
                  </a:lnTo>
                  <a:lnTo>
                    <a:pt x="433605" y="433605"/>
                  </a:lnTo>
                  <a:lnTo>
                    <a:pt x="402031" y="460571"/>
                  </a:lnTo>
                  <a:lnTo>
                    <a:pt x="395114" y="465193"/>
                  </a:lnTo>
                  <a:lnTo>
                    <a:pt x="388197" y="469814"/>
                  </a:lnTo>
                  <a:lnTo>
                    <a:pt x="351201" y="488665"/>
                  </a:lnTo>
                  <a:lnTo>
                    <a:pt x="327732" y="497062"/>
                  </a:lnTo>
                  <a:lnTo>
                    <a:pt x="319771" y="499477"/>
                  </a:lnTo>
                  <a:lnTo>
                    <a:pt x="311711" y="501496"/>
                  </a:lnTo>
                  <a:lnTo>
                    <a:pt x="303552" y="503119"/>
                  </a:lnTo>
                  <a:lnTo>
                    <a:pt x="295393" y="504742"/>
                  </a:lnTo>
                  <a:lnTo>
                    <a:pt x="287175" y="505961"/>
                  </a:lnTo>
                  <a:lnTo>
                    <a:pt x="278896" y="506776"/>
                  </a:lnTo>
                  <a:lnTo>
                    <a:pt x="270617" y="507592"/>
                  </a:lnTo>
                  <a:lnTo>
                    <a:pt x="262318" y="508000"/>
                  </a:lnTo>
                  <a:lnTo>
                    <a:pt x="254000" y="508000"/>
                  </a:lnTo>
                  <a:lnTo>
                    <a:pt x="245681" y="508000"/>
                  </a:lnTo>
                  <a:lnTo>
                    <a:pt x="204447" y="503119"/>
                  </a:lnTo>
                  <a:lnTo>
                    <a:pt x="196288" y="501496"/>
                  </a:lnTo>
                  <a:lnTo>
                    <a:pt x="156798" y="488665"/>
                  </a:lnTo>
                  <a:lnTo>
                    <a:pt x="119802" y="469814"/>
                  </a:lnTo>
                  <a:lnTo>
                    <a:pt x="112885" y="465193"/>
                  </a:lnTo>
                  <a:lnTo>
                    <a:pt x="105968" y="460571"/>
                  </a:lnTo>
                  <a:lnTo>
                    <a:pt x="74394" y="433605"/>
                  </a:lnTo>
                  <a:lnTo>
                    <a:pt x="47428" y="402031"/>
                  </a:lnTo>
                  <a:lnTo>
                    <a:pt x="42806" y="395114"/>
                  </a:lnTo>
                  <a:lnTo>
                    <a:pt x="38185" y="388197"/>
                  </a:lnTo>
                  <a:lnTo>
                    <a:pt x="19334" y="351201"/>
                  </a:lnTo>
                  <a:lnTo>
                    <a:pt x="16151" y="343516"/>
                  </a:lnTo>
                  <a:lnTo>
                    <a:pt x="13351" y="335692"/>
                  </a:lnTo>
                  <a:lnTo>
                    <a:pt x="10937" y="327732"/>
                  </a:lnTo>
                  <a:lnTo>
                    <a:pt x="8522" y="319771"/>
                  </a:lnTo>
                  <a:lnTo>
                    <a:pt x="6503" y="311711"/>
                  </a:lnTo>
                  <a:lnTo>
                    <a:pt x="4880" y="303552"/>
                  </a:lnTo>
                  <a:lnTo>
                    <a:pt x="3257" y="295393"/>
                  </a:lnTo>
                  <a:lnTo>
                    <a:pt x="2038" y="287175"/>
                  </a:lnTo>
                  <a:lnTo>
                    <a:pt x="1223" y="278896"/>
                  </a:lnTo>
                  <a:lnTo>
                    <a:pt x="407" y="270617"/>
                  </a:lnTo>
                  <a:lnTo>
                    <a:pt x="0" y="262318"/>
                  </a:lnTo>
                  <a:lnTo>
                    <a:pt x="0" y="254000"/>
                  </a:lnTo>
                  <a:lnTo>
                    <a:pt x="0" y="245681"/>
                  </a:lnTo>
                  <a:lnTo>
                    <a:pt x="407" y="237382"/>
                  </a:lnTo>
                  <a:lnTo>
                    <a:pt x="1223" y="229103"/>
                  </a:lnTo>
                  <a:lnTo>
                    <a:pt x="2038" y="220824"/>
                  </a:lnTo>
                  <a:lnTo>
                    <a:pt x="10937" y="180267"/>
                  </a:lnTo>
                  <a:lnTo>
                    <a:pt x="26070" y="141601"/>
                  </a:lnTo>
                  <a:lnTo>
                    <a:pt x="29992" y="134265"/>
                  </a:lnTo>
                  <a:lnTo>
                    <a:pt x="33913" y="126928"/>
                  </a:lnTo>
                  <a:lnTo>
                    <a:pt x="57655" y="92864"/>
                  </a:lnTo>
                  <a:lnTo>
                    <a:pt x="86433" y="62932"/>
                  </a:lnTo>
                  <a:lnTo>
                    <a:pt x="119802" y="38185"/>
                  </a:lnTo>
                  <a:lnTo>
                    <a:pt x="156798" y="19334"/>
                  </a:lnTo>
                  <a:lnTo>
                    <a:pt x="196288" y="6503"/>
                  </a:lnTo>
                  <a:lnTo>
                    <a:pt x="229103" y="1223"/>
                  </a:lnTo>
                  <a:lnTo>
                    <a:pt x="237382" y="407"/>
                  </a:lnTo>
                  <a:lnTo>
                    <a:pt x="245681" y="0"/>
                  </a:lnTo>
                  <a:lnTo>
                    <a:pt x="254000" y="0"/>
                  </a:lnTo>
                  <a:lnTo>
                    <a:pt x="262318" y="0"/>
                  </a:lnTo>
                  <a:lnTo>
                    <a:pt x="270617" y="407"/>
                  </a:lnTo>
                  <a:lnTo>
                    <a:pt x="278896" y="1223"/>
                  </a:lnTo>
                  <a:lnTo>
                    <a:pt x="287175" y="2038"/>
                  </a:lnTo>
                  <a:lnTo>
                    <a:pt x="295394" y="3257"/>
                  </a:lnTo>
                  <a:lnTo>
                    <a:pt x="303552" y="4880"/>
                  </a:lnTo>
                  <a:lnTo>
                    <a:pt x="311711" y="6503"/>
                  </a:lnTo>
                  <a:lnTo>
                    <a:pt x="319771" y="8522"/>
                  </a:lnTo>
                  <a:lnTo>
                    <a:pt x="327732" y="10937"/>
                  </a:lnTo>
                  <a:lnTo>
                    <a:pt x="335692" y="13351"/>
                  </a:lnTo>
                  <a:lnTo>
                    <a:pt x="343516" y="16151"/>
                  </a:lnTo>
                  <a:lnTo>
                    <a:pt x="351201" y="19334"/>
                  </a:lnTo>
                  <a:lnTo>
                    <a:pt x="358887" y="22518"/>
                  </a:lnTo>
                  <a:lnTo>
                    <a:pt x="395114" y="42806"/>
                  </a:lnTo>
                  <a:lnTo>
                    <a:pt x="402031" y="47428"/>
                  </a:lnTo>
                  <a:lnTo>
                    <a:pt x="433605" y="74394"/>
                  </a:lnTo>
                  <a:lnTo>
                    <a:pt x="460571" y="105968"/>
                  </a:lnTo>
                  <a:lnTo>
                    <a:pt x="465193" y="112885"/>
                  </a:lnTo>
                  <a:lnTo>
                    <a:pt x="469814" y="119802"/>
                  </a:lnTo>
                  <a:lnTo>
                    <a:pt x="488665" y="156798"/>
                  </a:lnTo>
                  <a:lnTo>
                    <a:pt x="497062" y="180267"/>
                  </a:lnTo>
                  <a:lnTo>
                    <a:pt x="499477" y="188228"/>
                  </a:lnTo>
                  <a:lnTo>
                    <a:pt x="501496" y="196288"/>
                  </a:lnTo>
                  <a:lnTo>
                    <a:pt x="503119" y="204447"/>
                  </a:lnTo>
                  <a:lnTo>
                    <a:pt x="504742" y="212606"/>
                  </a:lnTo>
                  <a:lnTo>
                    <a:pt x="505961" y="220824"/>
                  </a:lnTo>
                  <a:lnTo>
                    <a:pt x="506776" y="229103"/>
                  </a:lnTo>
                  <a:lnTo>
                    <a:pt x="507592" y="237382"/>
                  </a:lnTo>
                  <a:lnTo>
                    <a:pt x="508000" y="245681"/>
                  </a:lnTo>
                  <a:lnTo>
                    <a:pt x="508000" y="254000"/>
                  </a:lnTo>
                  <a:close/>
                </a:path>
                <a:path w="508000" h="508000">
                  <a:moveTo>
                    <a:pt x="406400" y="254000"/>
                  </a:moveTo>
                  <a:lnTo>
                    <a:pt x="399839" y="298239"/>
                  </a:lnTo>
                  <a:lnTo>
                    <a:pt x="380715" y="338668"/>
                  </a:lnTo>
                  <a:lnTo>
                    <a:pt x="350682" y="371808"/>
                  </a:lnTo>
                  <a:lnTo>
                    <a:pt x="312320" y="394799"/>
                  </a:lnTo>
                  <a:lnTo>
                    <a:pt x="268938" y="405667"/>
                  </a:lnTo>
                  <a:lnTo>
                    <a:pt x="254000" y="406400"/>
                  </a:lnTo>
                  <a:lnTo>
                    <a:pt x="246513" y="406217"/>
                  </a:lnTo>
                  <a:lnTo>
                    <a:pt x="202666" y="397495"/>
                  </a:lnTo>
                  <a:lnTo>
                    <a:pt x="163207" y="376404"/>
                  </a:lnTo>
                  <a:lnTo>
                    <a:pt x="131595" y="344792"/>
                  </a:lnTo>
                  <a:lnTo>
                    <a:pt x="110504" y="305333"/>
                  </a:lnTo>
                  <a:lnTo>
                    <a:pt x="101783" y="261487"/>
                  </a:lnTo>
                  <a:lnTo>
                    <a:pt x="101600" y="254000"/>
                  </a:lnTo>
                  <a:lnTo>
                    <a:pt x="101783" y="246513"/>
                  </a:lnTo>
                  <a:lnTo>
                    <a:pt x="110504" y="202666"/>
                  </a:lnTo>
                  <a:lnTo>
                    <a:pt x="131595" y="163207"/>
                  </a:lnTo>
                  <a:lnTo>
                    <a:pt x="163207" y="131595"/>
                  </a:lnTo>
                  <a:lnTo>
                    <a:pt x="202666" y="110504"/>
                  </a:lnTo>
                  <a:lnTo>
                    <a:pt x="246513" y="101783"/>
                  </a:lnTo>
                  <a:lnTo>
                    <a:pt x="254000" y="101600"/>
                  </a:lnTo>
                  <a:lnTo>
                    <a:pt x="261487" y="101783"/>
                  </a:lnTo>
                  <a:lnTo>
                    <a:pt x="305333" y="110504"/>
                  </a:lnTo>
                  <a:lnTo>
                    <a:pt x="344792" y="131595"/>
                  </a:lnTo>
                  <a:lnTo>
                    <a:pt x="376404" y="163207"/>
                  </a:lnTo>
                  <a:lnTo>
                    <a:pt x="397495" y="202666"/>
                  </a:lnTo>
                  <a:lnTo>
                    <a:pt x="406217" y="246513"/>
                  </a:lnTo>
                  <a:lnTo>
                    <a:pt x="406400" y="254000"/>
                  </a:lnTo>
                  <a:close/>
                </a:path>
              </a:pathLst>
            </a:custGeom>
            <a:ln w="508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7800" y="2933700"/>
              <a:ext cx="152400" cy="1524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733083" y="3303587"/>
            <a:ext cx="4822190" cy="19818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185" dirty="0">
                <a:solidFill>
                  <a:srgbClr val="FFFFFF"/>
                </a:solidFill>
                <a:latin typeface="Arial"/>
                <a:cs typeface="Arial"/>
              </a:rPr>
              <a:t>Discovers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9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305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30" dirty="0">
                <a:solidFill>
                  <a:srgbClr val="FFFFFF"/>
                </a:solidFill>
                <a:latin typeface="Arial"/>
                <a:cs typeface="Arial"/>
              </a:rPr>
              <a:t>Strategies</a:t>
            </a:r>
            <a:endParaRPr sz="3050">
              <a:latin typeface="Arial"/>
              <a:cs typeface="Arial"/>
            </a:endParaRPr>
          </a:p>
          <a:p>
            <a:pPr marL="102870" marR="95250" algn="ctr">
              <a:lnSpc>
                <a:spcPts val="2400"/>
              </a:lnSpc>
              <a:spcBef>
                <a:spcPts val="994"/>
              </a:spcBef>
            </a:pP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millions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attempts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AI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finds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strategies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that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might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not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be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obvious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human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programmers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—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sometimes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even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surpassing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human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intuition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30553" y="8883940"/>
            <a:ext cx="4827270" cy="5549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326515" marR="5080" indent="-1314450">
              <a:lnSpc>
                <a:spcPct val="102899"/>
              </a:lnSpc>
              <a:spcBef>
                <a:spcPts val="60"/>
              </a:spcBef>
            </a:pPr>
            <a:r>
              <a:rPr sz="1700" i="1" spc="-70" dirty="0">
                <a:solidFill>
                  <a:srgbClr val="FF6A34"/>
                </a:solidFill>
                <a:latin typeface="Arial"/>
                <a:cs typeface="Arial"/>
              </a:rPr>
              <a:t>May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40" dirty="0">
                <a:solidFill>
                  <a:srgbClr val="FF6A34"/>
                </a:solidFill>
                <a:latin typeface="Arial"/>
                <a:cs typeface="Arial"/>
              </a:rPr>
              <a:t>discover:</a:t>
            </a:r>
            <a:r>
              <a:rPr sz="1700" i="1" spc="-7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80" dirty="0">
                <a:solidFill>
                  <a:srgbClr val="FF6A34"/>
                </a:solidFill>
                <a:latin typeface="Arial"/>
                <a:cs typeface="Arial"/>
              </a:rPr>
              <a:t>Taking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110" dirty="0">
                <a:solidFill>
                  <a:srgbClr val="FF6A34"/>
                </a:solidFill>
                <a:latin typeface="Arial"/>
                <a:cs typeface="Arial"/>
              </a:rPr>
              <a:t>a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5" dirty="0">
                <a:solidFill>
                  <a:srgbClr val="FF6A34"/>
                </a:solidFill>
                <a:latin typeface="Arial"/>
                <a:cs typeface="Arial"/>
              </a:rPr>
              <a:t>wider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50" dirty="0">
                <a:solidFill>
                  <a:srgbClr val="FF6A34"/>
                </a:solidFill>
                <a:latin typeface="Arial"/>
                <a:cs typeface="Arial"/>
              </a:rPr>
              <a:t>line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0" dirty="0">
                <a:solidFill>
                  <a:srgbClr val="FF6A34"/>
                </a:solidFill>
                <a:latin typeface="Arial"/>
                <a:cs typeface="Arial"/>
              </a:rPr>
              <a:t>in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one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5" dirty="0">
                <a:solidFill>
                  <a:srgbClr val="FF6A34"/>
                </a:solidFill>
                <a:latin typeface="Arial"/>
                <a:cs typeface="Arial"/>
              </a:rPr>
              <a:t>corner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FF6A34"/>
                </a:solidFill>
                <a:latin typeface="Arial"/>
                <a:cs typeface="Arial"/>
              </a:rPr>
              <a:t>to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5" dirty="0">
                <a:solidFill>
                  <a:srgbClr val="FF6A34"/>
                </a:solidFill>
                <a:latin typeface="Arial"/>
                <a:cs typeface="Arial"/>
              </a:rPr>
              <a:t>set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up</a:t>
            </a:r>
            <a:r>
              <a:rPr sz="1700" i="1" spc="-7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FF6A34"/>
                </a:solidFill>
                <a:latin typeface="Arial"/>
                <a:cs typeface="Arial"/>
              </a:rPr>
              <a:t>perfectly</a:t>
            </a:r>
            <a:r>
              <a:rPr sz="1700" i="1" spc="-7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FF6A34"/>
                </a:solidFill>
                <a:latin typeface="Arial"/>
                <a:cs typeface="Arial"/>
              </a:rPr>
              <a:t>for</a:t>
            </a:r>
            <a:r>
              <a:rPr sz="1700" i="1" spc="-7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the</a:t>
            </a:r>
            <a:r>
              <a:rPr sz="1700" i="1" spc="-7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FF6A34"/>
                </a:solidFill>
                <a:latin typeface="Arial"/>
                <a:cs typeface="Arial"/>
              </a:rPr>
              <a:t>next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344400" y="2362199"/>
            <a:ext cx="5486400" cy="7391400"/>
            <a:chOff x="12344400" y="2362199"/>
            <a:chExt cx="5486400" cy="7391400"/>
          </a:xfrm>
        </p:grpSpPr>
        <p:sp>
          <p:nvSpPr>
            <p:cNvPr id="20" name="object 20"/>
            <p:cNvSpPr/>
            <p:nvPr/>
          </p:nvSpPr>
          <p:spPr>
            <a:xfrm>
              <a:off x="12344400" y="2381250"/>
              <a:ext cx="5486400" cy="7372350"/>
            </a:xfrm>
            <a:custGeom>
              <a:avLst/>
              <a:gdLst/>
              <a:ahLst/>
              <a:cxnLst/>
              <a:rect l="l" t="t" r="r" b="b"/>
              <a:pathLst>
                <a:path w="5486400" h="7372350">
                  <a:moveTo>
                    <a:pt x="5415202" y="7372349"/>
                  </a:moveTo>
                  <a:lnTo>
                    <a:pt x="71196" y="7372349"/>
                  </a:lnTo>
                  <a:lnTo>
                    <a:pt x="66241" y="7371860"/>
                  </a:lnTo>
                  <a:lnTo>
                    <a:pt x="29703" y="7356726"/>
                  </a:lnTo>
                  <a:lnTo>
                    <a:pt x="3883" y="7320687"/>
                  </a:lnTo>
                  <a:lnTo>
                    <a:pt x="0" y="7301153"/>
                  </a:lnTo>
                  <a:lnTo>
                    <a:pt x="0" y="7296149"/>
                  </a:lnTo>
                  <a:lnTo>
                    <a:pt x="0" y="53397"/>
                  </a:lnTo>
                  <a:lnTo>
                    <a:pt x="18779" y="19391"/>
                  </a:lnTo>
                  <a:lnTo>
                    <a:pt x="56426" y="1829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2" y="11715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7301153"/>
                  </a:lnTo>
                  <a:lnTo>
                    <a:pt x="5470777" y="7342643"/>
                  </a:lnTo>
                  <a:lnTo>
                    <a:pt x="5434736" y="7368462"/>
                  </a:lnTo>
                  <a:lnTo>
                    <a:pt x="5420156" y="7371861"/>
                  </a:lnTo>
                  <a:lnTo>
                    <a:pt x="5415202" y="73723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344678" y="23621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30"/>
                  </a:lnTo>
                  <a:lnTo>
                    <a:pt x="5475828" y="38100"/>
                  </a:lnTo>
                  <a:lnTo>
                    <a:pt x="75922" y="38100"/>
                  </a:lnTo>
                  <a:lnTo>
                    <a:pt x="68414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28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859000" y="2781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0" y="221113"/>
                  </a:lnTo>
                  <a:lnTo>
                    <a:pt x="366" y="213644"/>
                  </a:lnTo>
                  <a:lnTo>
                    <a:pt x="1100" y="206193"/>
                  </a:lnTo>
                  <a:lnTo>
                    <a:pt x="1834" y="198742"/>
                  </a:lnTo>
                  <a:lnTo>
                    <a:pt x="12016" y="155076"/>
                  </a:lnTo>
                  <a:lnTo>
                    <a:pt x="26992" y="120838"/>
                  </a:lnTo>
                  <a:lnTo>
                    <a:pt x="30522" y="114235"/>
                  </a:lnTo>
                  <a:lnTo>
                    <a:pt x="51889" y="83577"/>
                  </a:lnTo>
                  <a:lnTo>
                    <a:pt x="56639" y="77790"/>
                  </a:lnTo>
                  <a:lnTo>
                    <a:pt x="89365" y="47140"/>
                  </a:lnTo>
                  <a:lnTo>
                    <a:pt x="120838" y="26992"/>
                  </a:lnTo>
                  <a:lnTo>
                    <a:pt x="127441" y="23463"/>
                  </a:lnTo>
                  <a:lnTo>
                    <a:pt x="169405" y="7670"/>
                  </a:lnTo>
                  <a:lnTo>
                    <a:pt x="206193" y="1100"/>
                  </a:lnTo>
                  <a:lnTo>
                    <a:pt x="213644" y="366"/>
                  </a:lnTo>
                  <a:lnTo>
                    <a:pt x="221113" y="0"/>
                  </a:lnTo>
                  <a:lnTo>
                    <a:pt x="228600" y="0"/>
                  </a:lnTo>
                  <a:lnTo>
                    <a:pt x="252344" y="1207"/>
                  </a:lnTo>
                  <a:lnTo>
                    <a:pt x="298511" y="10322"/>
                  </a:lnTo>
                  <a:lnTo>
                    <a:pt x="342512" y="28210"/>
                  </a:lnTo>
                  <a:lnTo>
                    <a:pt x="381944" y="53892"/>
                  </a:lnTo>
                  <a:lnTo>
                    <a:pt x="399796" y="69596"/>
                  </a:lnTo>
                  <a:lnTo>
                    <a:pt x="457200" y="127000"/>
                  </a:lnTo>
                </a:path>
                <a:path w="457200" h="457200">
                  <a:moveTo>
                    <a:pt x="457200" y="0"/>
                  </a:moveTo>
                  <a:lnTo>
                    <a:pt x="457200" y="127000"/>
                  </a:lnTo>
                  <a:lnTo>
                    <a:pt x="330200" y="127000"/>
                  </a:lnTo>
                </a:path>
                <a:path w="457200" h="457200">
                  <a:moveTo>
                    <a:pt x="457200" y="228600"/>
                  </a:moveTo>
                  <a:lnTo>
                    <a:pt x="457200" y="236086"/>
                  </a:lnTo>
                  <a:lnTo>
                    <a:pt x="456833" y="243555"/>
                  </a:lnTo>
                  <a:lnTo>
                    <a:pt x="456099" y="251006"/>
                  </a:lnTo>
                  <a:lnTo>
                    <a:pt x="455365" y="258457"/>
                  </a:lnTo>
                  <a:lnTo>
                    <a:pt x="454268" y="265854"/>
                  </a:lnTo>
                  <a:lnTo>
                    <a:pt x="452807" y="273197"/>
                  </a:lnTo>
                  <a:lnTo>
                    <a:pt x="451346" y="280540"/>
                  </a:lnTo>
                  <a:lnTo>
                    <a:pt x="449529" y="287794"/>
                  </a:lnTo>
                  <a:lnTo>
                    <a:pt x="447356" y="294959"/>
                  </a:lnTo>
                  <a:lnTo>
                    <a:pt x="445183" y="302123"/>
                  </a:lnTo>
                  <a:lnTo>
                    <a:pt x="442664" y="309164"/>
                  </a:lnTo>
                  <a:lnTo>
                    <a:pt x="439798" y="316081"/>
                  </a:lnTo>
                  <a:lnTo>
                    <a:pt x="436933" y="322998"/>
                  </a:lnTo>
                  <a:lnTo>
                    <a:pt x="433736" y="329758"/>
                  </a:lnTo>
                  <a:lnTo>
                    <a:pt x="430207" y="336361"/>
                  </a:lnTo>
                  <a:lnTo>
                    <a:pt x="426677" y="342964"/>
                  </a:lnTo>
                  <a:lnTo>
                    <a:pt x="422833" y="349378"/>
                  </a:lnTo>
                  <a:lnTo>
                    <a:pt x="418673" y="355603"/>
                  </a:lnTo>
                  <a:lnTo>
                    <a:pt x="414514" y="361828"/>
                  </a:lnTo>
                  <a:lnTo>
                    <a:pt x="410059" y="367834"/>
                  </a:lnTo>
                  <a:lnTo>
                    <a:pt x="405310" y="373622"/>
                  </a:lnTo>
                  <a:lnTo>
                    <a:pt x="400560" y="379409"/>
                  </a:lnTo>
                  <a:lnTo>
                    <a:pt x="395538" y="384950"/>
                  </a:lnTo>
                  <a:lnTo>
                    <a:pt x="390244" y="390244"/>
                  </a:lnTo>
                  <a:lnTo>
                    <a:pt x="384950" y="395538"/>
                  </a:lnTo>
                  <a:lnTo>
                    <a:pt x="379409" y="400560"/>
                  </a:lnTo>
                  <a:lnTo>
                    <a:pt x="373622" y="405310"/>
                  </a:lnTo>
                  <a:lnTo>
                    <a:pt x="367834" y="410059"/>
                  </a:lnTo>
                  <a:lnTo>
                    <a:pt x="361828" y="414514"/>
                  </a:lnTo>
                  <a:lnTo>
                    <a:pt x="355603" y="418673"/>
                  </a:lnTo>
                  <a:lnTo>
                    <a:pt x="349378" y="422833"/>
                  </a:lnTo>
                  <a:lnTo>
                    <a:pt x="316081" y="439798"/>
                  </a:lnTo>
                  <a:lnTo>
                    <a:pt x="309164" y="442664"/>
                  </a:lnTo>
                  <a:lnTo>
                    <a:pt x="302123" y="445183"/>
                  </a:lnTo>
                  <a:lnTo>
                    <a:pt x="294959" y="447356"/>
                  </a:lnTo>
                  <a:lnTo>
                    <a:pt x="287794" y="449529"/>
                  </a:lnTo>
                  <a:lnTo>
                    <a:pt x="280540" y="451346"/>
                  </a:lnTo>
                  <a:lnTo>
                    <a:pt x="273197" y="452807"/>
                  </a:lnTo>
                  <a:lnTo>
                    <a:pt x="265854" y="454268"/>
                  </a:lnTo>
                  <a:lnTo>
                    <a:pt x="258457" y="455365"/>
                  </a:lnTo>
                  <a:lnTo>
                    <a:pt x="251006" y="456099"/>
                  </a:lnTo>
                  <a:lnTo>
                    <a:pt x="243555" y="456833"/>
                  </a:lnTo>
                  <a:lnTo>
                    <a:pt x="236086" y="457200"/>
                  </a:lnTo>
                  <a:lnTo>
                    <a:pt x="228600" y="457200"/>
                  </a:lnTo>
                  <a:lnTo>
                    <a:pt x="181551" y="452552"/>
                  </a:lnTo>
                  <a:lnTo>
                    <a:pt x="136267" y="438968"/>
                  </a:lnTo>
                  <a:lnTo>
                    <a:pt x="94350" y="417102"/>
                  </a:lnTo>
                  <a:lnTo>
                    <a:pt x="57404" y="387604"/>
                  </a:lnTo>
                  <a:lnTo>
                    <a:pt x="0" y="330200"/>
                  </a:lnTo>
                </a:path>
                <a:path w="457200" h="457200">
                  <a:moveTo>
                    <a:pt x="127000" y="330200"/>
                  </a:moveTo>
                  <a:lnTo>
                    <a:pt x="0" y="330200"/>
                  </a:lnTo>
                  <a:lnTo>
                    <a:pt x="0" y="457200"/>
                  </a:lnTo>
                </a:path>
              </a:pathLst>
            </a:custGeom>
            <a:ln w="508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678023" y="3303587"/>
            <a:ext cx="4819650" cy="1981835"/>
          </a:xfrm>
          <a:prstGeom prst="rect">
            <a:avLst/>
          </a:prstGeom>
        </p:spPr>
        <p:txBody>
          <a:bodyPr vert="horz" wrap="square" lIns="0" tIns="16637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190" dirty="0">
                <a:solidFill>
                  <a:srgbClr val="FFFFFF"/>
                </a:solidFill>
                <a:latin typeface="Arial"/>
                <a:cs typeface="Arial"/>
              </a:rPr>
              <a:t>Adapts</a:t>
            </a:r>
            <a:r>
              <a:rPr sz="305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7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05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45" dirty="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If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physics or rules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are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adjusted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we</a:t>
            </a:r>
            <a:r>
              <a:rPr sz="20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can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retrain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adapt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5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Traditional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rule</a:t>
            </a:r>
            <a:r>
              <a:rPr sz="205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based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systems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would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need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complete reprogramming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5" dirty="0"/>
              <a:t>8</a:t>
            </a:fld>
            <a:r>
              <a:rPr spc="-25" dirty="0"/>
              <a:t>/25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859593" y="8883940"/>
            <a:ext cx="4456430" cy="5549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91770" marR="5080" indent="-179705">
              <a:lnSpc>
                <a:spcPct val="102899"/>
              </a:lnSpc>
              <a:spcBef>
                <a:spcPts val="60"/>
              </a:spcBef>
            </a:pPr>
            <a:r>
              <a:rPr sz="1700" i="1" spc="-125" dirty="0">
                <a:solidFill>
                  <a:srgbClr val="FF6A34"/>
                </a:solidFill>
                <a:latin typeface="Arial"/>
                <a:cs typeface="Arial"/>
              </a:rPr>
              <a:t>Same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40" dirty="0">
                <a:solidFill>
                  <a:srgbClr val="FF6A34"/>
                </a:solidFill>
                <a:latin typeface="Arial"/>
                <a:cs typeface="Arial"/>
              </a:rPr>
              <a:t>algorithm</a:t>
            </a:r>
            <a:r>
              <a:rPr sz="1700" i="1" spc="-7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5" dirty="0">
                <a:solidFill>
                  <a:srgbClr val="FF6A34"/>
                </a:solidFill>
                <a:latin typeface="Arial"/>
                <a:cs typeface="Arial"/>
              </a:rPr>
              <a:t>works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45" dirty="0">
                <a:solidFill>
                  <a:srgbClr val="FF6A34"/>
                </a:solidFill>
                <a:latin typeface="Arial"/>
                <a:cs typeface="Arial"/>
              </a:rPr>
              <a:t>on:</a:t>
            </a:r>
            <a:r>
              <a:rPr sz="170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Different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FF6A34"/>
                </a:solidFill>
                <a:latin typeface="Arial"/>
                <a:cs typeface="Arial"/>
              </a:rPr>
              <a:t>track</a:t>
            </a:r>
            <a:r>
              <a:rPr sz="170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50" dirty="0">
                <a:solidFill>
                  <a:srgbClr val="FF6A34"/>
                </a:solidFill>
                <a:latin typeface="Arial"/>
                <a:cs typeface="Arial"/>
              </a:rPr>
              <a:t>layouts, </a:t>
            </a:r>
            <a:r>
              <a:rPr sz="1700" i="1" spc="-45" dirty="0">
                <a:solidFill>
                  <a:srgbClr val="FF6A34"/>
                </a:solidFill>
                <a:latin typeface="Arial"/>
                <a:cs typeface="Arial"/>
              </a:rPr>
              <a:t>various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45" dirty="0">
                <a:solidFill>
                  <a:srgbClr val="FF6A34"/>
                </a:solidFill>
                <a:latin typeface="Arial"/>
                <a:cs typeface="Arial"/>
              </a:rPr>
              <a:t>weather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FF6A34"/>
                </a:solidFill>
                <a:latin typeface="Arial"/>
                <a:cs typeface="Arial"/>
              </a:rPr>
              <a:t>conditions,</a:t>
            </a:r>
            <a:r>
              <a:rPr sz="170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30" dirty="0">
                <a:solidFill>
                  <a:srgbClr val="FF6A34"/>
                </a:solidFill>
                <a:latin typeface="Arial"/>
                <a:cs typeface="Arial"/>
              </a:rPr>
              <a:t>modified</a:t>
            </a:r>
            <a:r>
              <a:rPr sz="170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FF6A34"/>
                </a:solidFill>
                <a:latin typeface="Arial"/>
                <a:cs typeface="Arial"/>
              </a:rPr>
              <a:t>physics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3873"/>
            <a:ext cx="6264910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The</a:t>
            </a:r>
            <a:r>
              <a:rPr spc="-325" dirty="0"/>
              <a:t> </a:t>
            </a:r>
            <a:r>
              <a:rPr spc="-665" dirty="0"/>
              <a:t>RL</a:t>
            </a:r>
            <a:r>
              <a:rPr spc="-320" dirty="0"/>
              <a:t> </a:t>
            </a:r>
            <a:r>
              <a:rPr spc="-290" dirty="0"/>
              <a:t>Learning</a:t>
            </a:r>
            <a:r>
              <a:rPr spc="-320" dirty="0"/>
              <a:t> </a:t>
            </a:r>
            <a:r>
              <a:rPr spc="-165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429000"/>
            <a:ext cx="6829425" cy="4305300"/>
            <a:chOff x="457200" y="3429000"/>
            <a:chExt cx="6829425" cy="4305300"/>
          </a:xfrm>
        </p:grpSpPr>
        <p:sp>
          <p:nvSpPr>
            <p:cNvPr id="4" name="object 4"/>
            <p:cNvSpPr/>
            <p:nvPr/>
          </p:nvSpPr>
          <p:spPr>
            <a:xfrm>
              <a:off x="457187" y="3428999"/>
              <a:ext cx="6830059" cy="4305300"/>
            </a:xfrm>
            <a:custGeom>
              <a:avLst/>
              <a:gdLst/>
              <a:ahLst/>
              <a:cxnLst/>
              <a:rect l="l" t="t" r="r" b="b"/>
              <a:pathLst>
                <a:path w="6830059" h="4305300">
                  <a:moveTo>
                    <a:pt x="6829438" y="3462109"/>
                  </a:moveTo>
                  <a:lnTo>
                    <a:pt x="6813804" y="3420618"/>
                  </a:lnTo>
                  <a:lnTo>
                    <a:pt x="6777774" y="3394786"/>
                  </a:lnTo>
                  <a:lnTo>
                    <a:pt x="6758229" y="3390900"/>
                  </a:lnTo>
                  <a:lnTo>
                    <a:pt x="71208" y="3390900"/>
                  </a:lnTo>
                  <a:lnTo>
                    <a:pt x="29718" y="3406521"/>
                  </a:lnTo>
                  <a:lnTo>
                    <a:pt x="3886" y="3442563"/>
                  </a:lnTo>
                  <a:lnTo>
                    <a:pt x="0" y="3462109"/>
                  </a:lnTo>
                  <a:lnTo>
                    <a:pt x="12" y="4229100"/>
                  </a:lnTo>
                  <a:lnTo>
                    <a:pt x="0" y="4234104"/>
                  </a:lnTo>
                  <a:lnTo>
                    <a:pt x="15633" y="4275594"/>
                  </a:lnTo>
                  <a:lnTo>
                    <a:pt x="51663" y="4301414"/>
                  </a:lnTo>
                  <a:lnTo>
                    <a:pt x="71208" y="4305300"/>
                  </a:lnTo>
                  <a:lnTo>
                    <a:pt x="6758229" y="4305300"/>
                  </a:lnTo>
                  <a:lnTo>
                    <a:pt x="6799732" y="4289679"/>
                  </a:lnTo>
                  <a:lnTo>
                    <a:pt x="6825551" y="4253649"/>
                  </a:lnTo>
                  <a:lnTo>
                    <a:pt x="6829438" y="4234104"/>
                  </a:lnTo>
                  <a:lnTo>
                    <a:pt x="6829438" y="3462109"/>
                  </a:lnTo>
                  <a:close/>
                </a:path>
                <a:path w="6830059" h="4305300">
                  <a:moveTo>
                    <a:pt x="6829438" y="2128609"/>
                  </a:moveTo>
                  <a:lnTo>
                    <a:pt x="6813804" y="2087105"/>
                  </a:lnTo>
                  <a:lnTo>
                    <a:pt x="6777774" y="2061286"/>
                  </a:lnTo>
                  <a:lnTo>
                    <a:pt x="6758229" y="2057400"/>
                  </a:lnTo>
                  <a:lnTo>
                    <a:pt x="71208" y="2057400"/>
                  </a:lnTo>
                  <a:lnTo>
                    <a:pt x="29718" y="2073021"/>
                  </a:lnTo>
                  <a:lnTo>
                    <a:pt x="3886" y="2109063"/>
                  </a:lnTo>
                  <a:lnTo>
                    <a:pt x="0" y="2128609"/>
                  </a:lnTo>
                  <a:lnTo>
                    <a:pt x="12" y="3200400"/>
                  </a:lnTo>
                  <a:lnTo>
                    <a:pt x="0" y="3205403"/>
                  </a:lnTo>
                  <a:lnTo>
                    <a:pt x="15633" y="3246907"/>
                  </a:lnTo>
                  <a:lnTo>
                    <a:pt x="51663" y="3272713"/>
                  </a:lnTo>
                  <a:lnTo>
                    <a:pt x="71208" y="3276600"/>
                  </a:lnTo>
                  <a:lnTo>
                    <a:pt x="6758229" y="3276600"/>
                  </a:lnTo>
                  <a:lnTo>
                    <a:pt x="6799732" y="3260979"/>
                  </a:lnTo>
                  <a:lnTo>
                    <a:pt x="6825551" y="3224949"/>
                  </a:lnTo>
                  <a:lnTo>
                    <a:pt x="6829438" y="3205403"/>
                  </a:lnTo>
                  <a:lnTo>
                    <a:pt x="6829438" y="2128609"/>
                  </a:lnTo>
                  <a:close/>
                </a:path>
                <a:path w="6830059" h="4305300">
                  <a:moveTo>
                    <a:pt x="6829438" y="1099908"/>
                  </a:moveTo>
                  <a:lnTo>
                    <a:pt x="6813804" y="1058405"/>
                  </a:lnTo>
                  <a:lnTo>
                    <a:pt x="6777774" y="1032586"/>
                  </a:lnTo>
                  <a:lnTo>
                    <a:pt x="6758229" y="1028712"/>
                  </a:lnTo>
                  <a:lnTo>
                    <a:pt x="71208" y="1028712"/>
                  </a:lnTo>
                  <a:lnTo>
                    <a:pt x="29718" y="1044321"/>
                  </a:lnTo>
                  <a:lnTo>
                    <a:pt x="3886" y="1080363"/>
                  </a:lnTo>
                  <a:lnTo>
                    <a:pt x="0" y="1099908"/>
                  </a:lnTo>
                  <a:lnTo>
                    <a:pt x="12" y="1866900"/>
                  </a:lnTo>
                  <a:lnTo>
                    <a:pt x="0" y="1871903"/>
                  </a:lnTo>
                  <a:lnTo>
                    <a:pt x="15633" y="1913394"/>
                  </a:lnTo>
                  <a:lnTo>
                    <a:pt x="51663" y="1939213"/>
                  </a:lnTo>
                  <a:lnTo>
                    <a:pt x="71208" y="1943100"/>
                  </a:lnTo>
                  <a:lnTo>
                    <a:pt x="6758229" y="1943100"/>
                  </a:lnTo>
                  <a:lnTo>
                    <a:pt x="6799732" y="1927479"/>
                  </a:lnTo>
                  <a:lnTo>
                    <a:pt x="6825551" y="1891449"/>
                  </a:lnTo>
                  <a:lnTo>
                    <a:pt x="6829438" y="1871903"/>
                  </a:lnTo>
                  <a:lnTo>
                    <a:pt x="6829438" y="1099908"/>
                  </a:lnTo>
                  <a:close/>
                </a:path>
                <a:path w="6830059" h="4305300">
                  <a:moveTo>
                    <a:pt x="6829438" y="71208"/>
                  </a:moveTo>
                  <a:lnTo>
                    <a:pt x="6813804" y="29705"/>
                  </a:lnTo>
                  <a:lnTo>
                    <a:pt x="6777774" y="3886"/>
                  </a:lnTo>
                  <a:lnTo>
                    <a:pt x="6758229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838200"/>
                  </a:lnTo>
                  <a:lnTo>
                    <a:pt x="0" y="843203"/>
                  </a:lnTo>
                  <a:lnTo>
                    <a:pt x="15633" y="884694"/>
                  </a:lnTo>
                  <a:lnTo>
                    <a:pt x="51663" y="910513"/>
                  </a:lnTo>
                  <a:lnTo>
                    <a:pt x="71208" y="914400"/>
                  </a:lnTo>
                  <a:lnTo>
                    <a:pt x="6758229" y="914400"/>
                  </a:lnTo>
                  <a:lnTo>
                    <a:pt x="6799732" y="898779"/>
                  </a:lnTo>
                  <a:lnTo>
                    <a:pt x="6825551" y="862749"/>
                  </a:lnTo>
                  <a:lnTo>
                    <a:pt x="6829438" y="843203"/>
                  </a:lnTo>
                  <a:lnTo>
                    <a:pt x="6829438" y="71208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6593" y="3644907"/>
              <a:ext cx="254635" cy="177800"/>
            </a:xfrm>
            <a:custGeom>
              <a:avLst/>
              <a:gdLst/>
              <a:ahLst/>
              <a:cxnLst/>
              <a:rect l="l" t="t" r="r" b="b"/>
              <a:pathLst>
                <a:path w="254634" h="177800">
                  <a:moveTo>
                    <a:pt x="1093" y="93311"/>
                  </a:moveTo>
                  <a:lnTo>
                    <a:pt x="0" y="90365"/>
                  </a:lnTo>
                  <a:lnTo>
                    <a:pt x="0" y="87418"/>
                  </a:lnTo>
                  <a:lnTo>
                    <a:pt x="21671" y="50035"/>
                  </a:lnTo>
                  <a:lnTo>
                    <a:pt x="51370" y="23066"/>
                  </a:lnTo>
                  <a:lnTo>
                    <a:pt x="87625" y="5893"/>
                  </a:lnTo>
                  <a:lnTo>
                    <a:pt x="127306" y="0"/>
                  </a:lnTo>
                  <a:lnTo>
                    <a:pt x="137390" y="368"/>
                  </a:lnTo>
                  <a:lnTo>
                    <a:pt x="176529" y="9177"/>
                  </a:lnTo>
                  <a:lnTo>
                    <a:pt x="211418" y="28981"/>
                  </a:lnTo>
                  <a:lnTo>
                    <a:pt x="239044" y="58071"/>
                  </a:lnTo>
                  <a:lnTo>
                    <a:pt x="254612" y="87418"/>
                  </a:lnTo>
                  <a:lnTo>
                    <a:pt x="254612" y="90365"/>
                  </a:lnTo>
                  <a:lnTo>
                    <a:pt x="232941" y="127748"/>
                  </a:lnTo>
                  <a:lnTo>
                    <a:pt x="203242" y="154717"/>
                  </a:lnTo>
                  <a:lnTo>
                    <a:pt x="166987" y="171890"/>
                  </a:lnTo>
                  <a:lnTo>
                    <a:pt x="127306" y="177784"/>
                  </a:lnTo>
                  <a:lnTo>
                    <a:pt x="117221" y="177415"/>
                  </a:lnTo>
                  <a:lnTo>
                    <a:pt x="78083" y="168606"/>
                  </a:lnTo>
                  <a:lnTo>
                    <a:pt x="43194" y="148802"/>
                  </a:lnTo>
                  <a:lnTo>
                    <a:pt x="15568" y="119712"/>
                  </a:lnTo>
                  <a:lnTo>
                    <a:pt x="1093" y="93311"/>
                  </a:lnTo>
                </a:path>
              </a:pathLst>
            </a:custGeom>
            <a:ln w="254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100" y="3683000"/>
              <a:ext cx="101600" cy="101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8489" y="4635303"/>
              <a:ext cx="231140" cy="254635"/>
            </a:xfrm>
            <a:custGeom>
              <a:avLst/>
              <a:gdLst/>
              <a:ahLst/>
              <a:cxnLst/>
              <a:rect l="l" t="t" r="r" b="b"/>
              <a:pathLst>
                <a:path w="231140" h="254635">
                  <a:moveTo>
                    <a:pt x="13810" y="152596"/>
                  </a:moveTo>
                  <a:lnTo>
                    <a:pt x="8455" y="152615"/>
                  </a:lnTo>
                  <a:lnTo>
                    <a:pt x="4622" y="150209"/>
                  </a:lnTo>
                  <a:lnTo>
                    <a:pt x="2311" y="145378"/>
                  </a:lnTo>
                  <a:lnTo>
                    <a:pt x="0" y="140548"/>
                  </a:lnTo>
                  <a:lnTo>
                    <a:pt x="531" y="136054"/>
                  </a:lnTo>
                  <a:lnTo>
                    <a:pt x="3904" y="131895"/>
                  </a:lnTo>
                  <a:lnTo>
                    <a:pt x="129634" y="2355"/>
                  </a:lnTo>
                  <a:lnTo>
                    <a:pt x="130605" y="1234"/>
                  </a:lnTo>
                  <a:lnTo>
                    <a:pt x="131820" y="539"/>
                  </a:lnTo>
                  <a:lnTo>
                    <a:pt x="133279" y="269"/>
                  </a:lnTo>
                  <a:lnTo>
                    <a:pt x="134737" y="0"/>
                  </a:lnTo>
                  <a:lnTo>
                    <a:pt x="136121" y="214"/>
                  </a:lnTo>
                  <a:lnTo>
                    <a:pt x="137428" y="914"/>
                  </a:lnTo>
                  <a:lnTo>
                    <a:pt x="138736" y="1614"/>
                  </a:lnTo>
                  <a:lnTo>
                    <a:pt x="139683" y="2645"/>
                  </a:lnTo>
                  <a:lnTo>
                    <a:pt x="140268" y="4008"/>
                  </a:lnTo>
                  <a:lnTo>
                    <a:pt x="140854" y="5371"/>
                  </a:lnTo>
                  <a:lnTo>
                    <a:pt x="140949" y="6767"/>
                  </a:lnTo>
                  <a:lnTo>
                    <a:pt x="140556" y="8197"/>
                  </a:lnTo>
                  <a:lnTo>
                    <a:pt x="116172" y="84651"/>
                  </a:lnTo>
                  <a:lnTo>
                    <a:pt x="115442" y="86605"/>
                  </a:lnTo>
                  <a:lnTo>
                    <a:pt x="115208" y="88615"/>
                  </a:lnTo>
                  <a:lnTo>
                    <a:pt x="115468" y="90684"/>
                  </a:lnTo>
                  <a:lnTo>
                    <a:pt x="115729" y="92753"/>
                  </a:lnTo>
                  <a:lnTo>
                    <a:pt x="116455" y="94642"/>
                  </a:lnTo>
                  <a:lnTo>
                    <a:pt x="117646" y="96354"/>
                  </a:lnTo>
                  <a:lnTo>
                    <a:pt x="118838" y="98065"/>
                  </a:lnTo>
                  <a:lnTo>
                    <a:pt x="120358" y="99401"/>
                  </a:lnTo>
                  <a:lnTo>
                    <a:pt x="122208" y="100363"/>
                  </a:lnTo>
                  <a:lnTo>
                    <a:pt x="124058" y="101326"/>
                  </a:lnTo>
                  <a:lnTo>
                    <a:pt x="126025" y="101803"/>
                  </a:lnTo>
                  <a:lnTo>
                    <a:pt x="128110" y="101796"/>
                  </a:lnTo>
                  <a:lnTo>
                    <a:pt x="217010" y="101796"/>
                  </a:lnTo>
                  <a:lnTo>
                    <a:pt x="222365" y="101778"/>
                  </a:lnTo>
                  <a:lnTo>
                    <a:pt x="226198" y="104184"/>
                  </a:lnTo>
                  <a:lnTo>
                    <a:pt x="228509" y="109014"/>
                  </a:lnTo>
                  <a:lnTo>
                    <a:pt x="230821" y="113845"/>
                  </a:lnTo>
                  <a:lnTo>
                    <a:pt x="230290" y="118339"/>
                  </a:lnTo>
                  <a:lnTo>
                    <a:pt x="226916" y="122497"/>
                  </a:lnTo>
                  <a:lnTo>
                    <a:pt x="101186" y="252037"/>
                  </a:lnTo>
                  <a:lnTo>
                    <a:pt x="100215" y="253159"/>
                  </a:lnTo>
                  <a:lnTo>
                    <a:pt x="99000" y="253854"/>
                  </a:lnTo>
                  <a:lnTo>
                    <a:pt x="97541" y="254124"/>
                  </a:lnTo>
                  <a:lnTo>
                    <a:pt x="96083" y="254393"/>
                  </a:lnTo>
                  <a:lnTo>
                    <a:pt x="94700" y="254178"/>
                  </a:lnTo>
                  <a:lnTo>
                    <a:pt x="93392" y="253479"/>
                  </a:lnTo>
                  <a:lnTo>
                    <a:pt x="92084" y="252779"/>
                  </a:lnTo>
                  <a:lnTo>
                    <a:pt x="91137" y="251748"/>
                  </a:lnTo>
                  <a:lnTo>
                    <a:pt x="90552" y="250385"/>
                  </a:lnTo>
                  <a:lnTo>
                    <a:pt x="89967" y="249022"/>
                  </a:lnTo>
                  <a:lnTo>
                    <a:pt x="89871" y="247626"/>
                  </a:lnTo>
                  <a:lnTo>
                    <a:pt x="90264" y="246195"/>
                  </a:lnTo>
                  <a:lnTo>
                    <a:pt x="114648" y="169741"/>
                  </a:lnTo>
                  <a:lnTo>
                    <a:pt x="115378" y="167788"/>
                  </a:lnTo>
                  <a:lnTo>
                    <a:pt x="115612" y="165777"/>
                  </a:lnTo>
                  <a:lnTo>
                    <a:pt x="115352" y="163709"/>
                  </a:lnTo>
                  <a:lnTo>
                    <a:pt x="115091" y="161640"/>
                  </a:lnTo>
                  <a:lnTo>
                    <a:pt x="114365" y="159750"/>
                  </a:lnTo>
                  <a:lnTo>
                    <a:pt x="113174" y="158039"/>
                  </a:lnTo>
                  <a:lnTo>
                    <a:pt x="111982" y="156328"/>
                  </a:lnTo>
                  <a:lnTo>
                    <a:pt x="110462" y="154992"/>
                  </a:lnTo>
                  <a:lnTo>
                    <a:pt x="108612" y="154029"/>
                  </a:lnTo>
                  <a:lnTo>
                    <a:pt x="106762" y="153067"/>
                  </a:lnTo>
                  <a:lnTo>
                    <a:pt x="104795" y="152590"/>
                  </a:lnTo>
                  <a:lnTo>
                    <a:pt x="102710" y="152596"/>
                  </a:lnTo>
                  <a:lnTo>
                    <a:pt x="13810" y="152596"/>
                  </a:lnTo>
                  <a:close/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000" y="5651500"/>
              <a:ext cx="177800" cy="2800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6721" y="6997489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127178" y="38310"/>
                  </a:moveTo>
                  <a:lnTo>
                    <a:pt x="127193" y="33179"/>
                  </a:lnTo>
                  <a:lnTo>
                    <a:pt x="126212" y="28247"/>
                  </a:lnTo>
                  <a:lnTo>
                    <a:pt x="124234" y="23512"/>
                  </a:lnTo>
                  <a:lnTo>
                    <a:pt x="122256" y="18778"/>
                  </a:lnTo>
                  <a:lnTo>
                    <a:pt x="119437" y="14613"/>
                  </a:lnTo>
                  <a:lnTo>
                    <a:pt x="115777" y="11017"/>
                  </a:lnTo>
                  <a:lnTo>
                    <a:pt x="112116" y="7422"/>
                  </a:lnTo>
                  <a:lnTo>
                    <a:pt x="107901" y="4678"/>
                  </a:lnTo>
                  <a:lnTo>
                    <a:pt x="103132" y="2785"/>
                  </a:lnTo>
                  <a:lnTo>
                    <a:pt x="98363" y="892"/>
                  </a:lnTo>
                  <a:lnTo>
                    <a:pt x="93414" y="0"/>
                  </a:lnTo>
                  <a:lnTo>
                    <a:pt x="88284" y="106"/>
                  </a:lnTo>
                  <a:lnTo>
                    <a:pt x="83154" y="213"/>
                  </a:lnTo>
                  <a:lnTo>
                    <a:pt x="78246" y="1312"/>
                  </a:lnTo>
                  <a:lnTo>
                    <a:pt x="73560" y="3401"/>
                  </a:lnTo>
                  <a:lnTo>
                    <a:pt x="68874" y="5491"/>
                  </a:lnTo>
                  <a:lnTo>
                    <a:pt x="53341" y="24990"/>
                  </a:lnTo>
                  <a:lnTo>
                    <a:pt x="51562" y="29803"/>
                  </a:lnTo>
                  <a:lnTo>
                    <a:pt x="50787" y="34772"/>
                  </a:lnTo>
                  <a:lnTo>
                    <a:pt x="51016" y="39898"/>
                  </a:lnTo>
                  <a:lnTo>
                    <a:pt x="47283" y="40858"/>
                  </a:lnTo>
                  <a:lnTo>
                    <a:pt x="43706" y="42224"/>
                  </a:lnTo>
                  <a:lnTo>
                    <a:pt x="40285" y="43998"/>
                  </a:lnTo>
                  <a:lnTo>
                    <a:pt x="36863" y="45772"/>
                  </a:lnTo>
                  <a:lnTo>
                    <a:pt x="22898" y="58790"/>
                  </a:lnTo>
                  <a:lnTo>
                    <a:pt x="20598" y="61883"/>
                  </a:lnTo>
                  <a:lnTo>
                    <a:pt x="12752" y="87308"/>
                  </a:lnTo>
                  <a:lnTo>
                    <a:pt x="12908" y="91159"/>
                  </a:lnTo>
                  <a:lnTo>
                    <a:pt x="13065" y="95010"/>
                  </a:lnTo>
                  <a:lnTo>
                    <a:pt x="13652" y="98794"/>
                  </a:lnTo>
                  <a:lnTo>
                    <a:pt x="14669" y="102511"/>
                  </a:lnTo>
                  <a:lnTo>
                    <a:pt x="15687" y="106228"/>
                  </a:lnTo>
                  <a:lnTo>
                    <a:pt x="17109" y="109783"/>
                  </a:lnTo>
                  <a:lnTo>
                    <a:pt x="18936" y="113177"/>
                  </a:lnTo>
                  <a:lnTo>
                    <a:pt x="15724" y="115786"/>
                  </a:lnTo>
                  <a:lnTo>
                    <a:pt x="12873" y="118744"/>
                  </a:lnTo>
                  <a:lnTo>
                    <a:pt x="10384" y="122050"/>
                  </a:lnTo>
                  <a:lnTo>
                    <a:pt x="7895" y="125356"/>
                  </a:lnTo>
                  <a:lnTo>
                    <a:pt x="0" y="152754"/>
                  </a:lnTo>
                  <a:lnTo>
                    <a:pt x="348" y="156877"/>
                  </a:lnTo>
                  <a:lnTo>
                    <a:pt x="696" y="161001"/>
                  </a:lnTo>
                  <a:lnTo>
                    <a:pt x="22393" y="194810"/>
                  </a:lnTo>
                  <a:lnTo>
                    <a:pt x="25997" y="196845"/>
                  </a:lnTo>
                  <a:lnTo>
                    <a:pt x="25552" y="200288"/>
                  </a:lnTo>
                  <a:lnTo>
                    <a:pt x="25461" y="203740"/>
                  </a:lnTo>
                  <a:lnTo>
                    <a:pt x="25724" y="207202"/>
                  </a:lnTo>
                  <a:lnTo>
                    <a:pt x="25986" y="210664"/>
                  </a:lnTo>
                  <a:lnTo>
                    <a:pt x="31422" y="227013"/>
                  </a:lnTo>
                  <a:lnTo>
                    <a:pt x="33039" y="230086"/>
                  </a:lnTo>
                  <a:lnTo>
                    <a:pt x="34951" y="232962"/>
                  </a:lnTo>
                  <a:lnTo>
                    <a:pt x="37157" y="235643"/>
                  </a:lnTo>
                  <a:lnTo>
                    <a:pt x="39364" y="238323"/>
                  </a:lnTo>
                  <a:lnTo>
                    <a:pt x="62871" y="252328"/>
                  </a:lnTo>
                  <a:lnTo>
                    <a:pt x="66218" y="253251"/>
                  </a:lnTo>
                  <a:lnTo>
                    <a:pt x="69624" y="253825"/>
                  </a:lnTo>
                  <a:lnTo>
                    <a:pt x="73088" y="254050"/>
                  </a:lnTo>
                  <a:lnTo>
                    <a:pt x="76553" y="254274"/>
                  </a:lnTo>
                  <a:lnTo>
                    <a:pt x="80004" y="254145"/>
                  </a:lnTo>
                  <a:lnTo>
                    <a:pt x="83442" y="253663"/>
                  </a:lnTo>
                  <a:lnTo>
                    <a:pt x="86880" y="253180"/>
                  </a:lnTo>
                  <a:lnTo>
                    <a:pt x="90234" y="252353"/>
                  </a:lnTo>
                  <a:lnTo>
                    <a:pt x="93502" y="251183"/>
                  </a:lnTo>
                  <a:lnTo>
                    <a:pt x="96771" y="250013"/>
                  </a:lnTo>
                  <a:lnTo>
                    <a:pt x="99887" y="248523"/>
                  </a:lnTo>
                  <a:lnTo>
                    <a:pt x="102850" y="246714"/>
                  </a:lnTo>
                  <a:lnTo>
                    <a:pt x="105813" y="244904"/>
                  </a:lnTo>
                  <a:lnTo>
                    <a:pt x="108562" y="242813"/>
                  </a:lnTo>
                  <a:lnTo>
                    <a:pt x="111097" y="240441"/>
                  </a:lnTo>
                  <a:lnTo>
                    <a:pt x="113631" y="238068"/>
                  </a:lnTo>
                  <a:lnTo>
                    <a:pt x="115898" y="235463"/>
                  </a:lnTo>
                  <a:lnTo>
                    <a:pt x="117899" y="232625"/>
                  </a:lnTo>
                  <a:lnTo>
                    <a:pt x="119899" y="229787"/>
                  </a:lnTo>
                  <a:lnTo>
                    <a:pt x="121591" y="226776"/>
                  </a:lnTo>
                  <a:lnTo>
                    <a:pt x="122974" y="223592"/>
                  </a:lnTo>
                  <a:lnTo>
                    <a:pt x="124357" y="220407"/>
                  </a:lnTo>
                  <a:lnTo>
                    <a:pt x="125402" y="217115"/>
                  </a:lnTo>
                  <a:lnTo>
                    <a:pt x="126110" y="213716"/>
                  </a:lnTo>
                  <a:lnTo>
                    <a:pt x="126818" y="210318"/>
                  </a:lnTo>
                  <a:lnTo>
                    <a:pt x="127174" y="206882"/>
                  </a:lnTo>
                  <a:lnTo>
                    <a:pt x="127178" y="203410"/>
                  </a:lnTo>
                  <a:lnTo>
                    <a:pt x="127178" y="38310"/>
                  </a:lnTo>
                  <a:close/>
                </a:path>
                <a:path w="254634" h="254634">
                  <a:moveTo>
                    <a:pt x="127178" y="38310"/>
                  </a:moveTo>
                  <a:lnTo>
                    <a:pt x="127163" y="33179"/>
                  </a:lnTo>
                  <a:lnTo>
                    <a:pt x="128144" y="28247"/>
                  </a:lnTo>
                  <a:lnTo>
                    <a:pt x="130122" y="23512"/>
                  </a:lnTo>
                  <a:lnTo>
                    <a:pt x="132100" y="18778"/>
                  </a:lnTo>
                  <a:lnTo>
                    <a:pt x="160942" y="0"/>
                  </a:lnTo>
                  <a:lnTo>
                    <a:pt x="166072" y="106"/>
                  </a:lnTo>
                  <a:lnTo>
                    <a:pt x="193086" y="12154"/>
                  </a:lnTo>
                  <a:lnTo>
                    <a:pt x="196593" y="15898"/>
                  </a:lnTo>
                  <a:lnTo>
                    <a:pt x="199236" y="20177"/>
                  </a:lnTo>
                  <a:lnTo>
                    <a:pt x="201015" y="24990"/>
                  </a:lnTo>
                  <a:lnTo>
                    <a:pt x="202794" y="29803"/>
                  </a:lnTo>
                  <a:lnTo>
                    <a:pt x="203569" y="34772"/>
                  </a:lnTo>
                  <a:lnTo>
                    <a:pt x="203340" y="39898"/>
                  </a:lnTo>
                  <a:lnTo>
                    <a:pt x="207072" y="40858"/>
                  </a:lnTo>
                  <a:lnTo>
                    <a:pt x="231458" y="58790"/>
                  </a:lnTo>
                  <a:lnTo>
                    <a:pt x="233757" y="61883"/>
                  </a:lnTo>
                  <a:lnTo>
                    <a:pt x="241604" y="87308"/>
                  </a:lnTo>
                  <a:lnTo>
                    <a:pt x="241447" y="91159"/>
                  </a:lnTo>
                  <a:lnTo>
                    <a:pt x="241291" y="95010"/>
                  </a:lnTo>
                  <a:lnTo>
                    <a:pt x="240704" y="98794"/>
                  </a:lnTo>
                  <a:lnTo>
                    <a:pt x="239686" y="102511"/>
                  </a:lnTo>
                  <a:lnTo>
                    <a:pt x="238669" y="106228"/>
                  </a:lnTo>
                  <a:lnTo>
                    <a:pt x="237247" y="109783"/>
                  </a:lnTo>
                  <a:lnTo>
                    <a:pt x="235420" y="113177"/>
                  </a:lnTo>
                  <a:lnTo>
                    <a:pt x="238632" y="115786"/>
                  </a:lnTo>
                  <a:lnTo>
                    <a:pt x="241482" y="118744"/>
                  </a:lnTo>
                  <a:lnTo>
                    <a:pt x="243972" y="122050"/>
                  </a:lnTo>
                  <a:lnTo>
                    <a:pt x="246461" y="125356"/>
                  </a:lnTo>
                  <a:lnTo>
                    <a:pt x="248515" y="128913"/>
                  </a:lnTo>
                  <a:lnTo>
                    <a:pt x="250135" y="132721"/>
                  </a:lnTo>
                  <a:lnTo>
                    <a:pt x="251755" y="136530"/>
                  </a:lnTo>
                  <a:lnTo>
                    <a:pt x="252892" y="140477"/>
                  </a:lnTo>
                  <a:lnTo>
                    <a:pt x="253547" y="144563"/>
                  </a:lnTo>
                  <a:lnTo>
                    <a:pt x="254203" y="148649"/>
                  </a:lnTo>
                  <a:lnTo>
                    <a:pt x="254356" y="152754"/>
                  </a:lnTo>
                  <a:lnTo>
                    <a:pt x="254008" y="156877"/>
                  </a:lnTo>
                  <a:lnTo>
                    <a:pt x="253660" y="161001"/>
                  </a:lnTo>
                  <a:lnTo>
                    <a:pt x="246141" y="180043"/>
                  </a:lnTo>
                  <a:lnTo>
                    <a:pt x="243906" y="183525"/>
                  </a:lnTo>
                  <a:lnTo>
                    <a:pt x="228359" y="196845"/>
                  </a:lnTo>
                  <a:lnTo>
                    <a:pt x="228804" y="200288"/>
                  </a:lnTo>
                  <a:lnTo>
                    <a:pt x="228895" y="203740"/>
                  </a:lnTo>
                  <a:lnTo>
                    <a:pt x="228632" y="207202"/>
                  </a:lnTo>
                  <a:lnTo>
                    <a:pt x="228369" y="210664"/>
                  </a:lnTo>
                  <a:lnTo>
                    <a:pt x="227758" y="214063"/>
                  </a:lnTo>
                  <a:lnTo>
                    <a:pt x="226798" y="217400"/>
                  </a:lnTo>
                  <a:lnTo>
                    <a:pt x="225838" y="220736"/>
                  </a:lnTo>
                  <a:lnTo>
                    <a:pt x="224550" y="223941"/>
                  </a:lnTo>
                  <a:lnTo>
                    <a:pt x="222933" y="227013"/>
                  </a:lnTo>
                  <a:lnTo>
                    <a:pt x="221316" y="230086"/>
                  </a:lnTo>
                  <a:lnTo>
                    <a:pt x="219405" y="232962"/>
                  </a:lnTo>
                  <a:lnTo>
                    <a:pt x="217198" y="235643"/>
                  </a:lnTo>
                  <a:lnTo>
                    <a:pt x="214992" y="238323"/>
                  </a:lnTo>
                  <a:lnTo>
                    <a:pt x="191485" y="252328"/>
                  </a:lnTo>
                  <a:lnTo>
                    <a:pt x="188138" y="253251"/>
                  </a:lnTo>
                  <a:lnTo>
                    <a:pt x="184732" y="253825"/>
                  </a:lnTo>
                  <a:lnTo>
                    <a:pt x="181267" y="254050"/>
                  </a:lnTo>
                  <a:lnTo>
                    <a:pt x="177803" y="254274"/>
                  </a:lnTo>
                  <a:lnTo>
                    <a:pt x="174352" y="254146"/>
                  </a:lnTo>
                  <a:lnTo>
                    <a:pt x="170913" y="253663"/>
                  </a:lnTo>
                  <a:lnTo>
                    <a:pt x="167475" y="253180"/>
                  </a:lnTo>
                  <a:lnTo>
                    <a:pt x="164122" y="252353"/>
                  </a:lnTo>
                  <a:lnTo>
                    <a:pt x="160853" y="251183"/>
                  </a:lnTo>
                  <a:lnTo>
                    <a:pt x="157585" y="250013"/>
                  </a:lnTo>
                  <a:lnTo>
                    <a:pt x="154469" y="248523"/>
                  </a:lnTo>
                  <a:lnTo>
                    <a:pt x="151506" y="246714"/>
                  </a:lnTo>
                  <a:lnTo>
                    <a:pt x="148542" y="244904"/>
                  </a:lnTo>
                  <a:lnTo>
                    <a:pt x="145794" y="242813"/>
                  </a:lnTo>
                  <a:lnTo>
                    <a:pt x="143259" y="240441"/>
                  </a:lnTo>
                  <a:lnTo>
                    <a:pt x="140725" y="238068"/>
                  </a:lnTo>
                  <a:lnTo>
                    <a:pt x="131382" y="223592"/>
                  </a:lnTo>
                  <a:lnTo>
                    <a:pt x="129999" y="220407"/>
                  </a:lnTo>
                  <a:lnTo>
                    <a:pt x="128953" y="217115"/>
                  </a:lnTo>
                  <a:lnTo>
                    <a:pt x="128245" y="213716"/>
                  </a:lnTo>
                  <a:lnTo>
                    <a:pt x="127537" y="210318"/>
                  </a:lnTo>
                  <a:lnTo>
                    <a:pt x="127182" y="206882"/>
                  </a:lnTo>
                  <a:lnTo>
                    <a:pt x="127178" y="203410"/>
                  </a:lnTo>
                  <a:lnTo>
                    <a:pt x="127178" y="38310"/>
                  </a:lnTo>
                  <a:close/>
                </a:path>
              </a:pathLst>
            </a:custGeom>
            <a:ln w="254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957" y="7024687"/>
              <a:ext cx="241884" cy="1254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2719" y="7194346"/>
              <a:ext cx="202565" cy="6985"/>
            </a:xfrm>
            <a:custGeom>
              <a:avLst/>
              <a:gdLst/>
              <a:ahLst/>
              <a:cxnLst/>
              <a:rect l="l" t="t" r="r" b="b"/>
              <a:pathLst>
                <a:path w="202565" h="6984">
                  <a:moveTo>
                    <a:pt x="24980" y="6553"/>
                  </a:moveTo>
                  <a:lnTo>
                    <a:pt x="18412" y="6145"/>
                  </a:lnTo>
                  <a:lnTo>
                    <a:pt x="12059" y="4918"/>
                  </a:lnTo>
                  <a:lnTo>
                    <a:pt x="5922" y="2869"/>
                  </a:lnTo>
                  <a:lnTo>
                    <a:pt x="0" y="0"/>
                  </a:lnTo>
                </a:path>
                <a:path w="202565" h="6984">
                  <a:moveTo>
                    <a:pt x="202361" y="0"/>
                  </a:moveTo>
                  <a:lnTo>
                    <a:pt x="196439" y="2869"/>
                  </a:lnTo>
                  <a:lnTo>
                    <a:pt x="190301" y="4918"/>
                  </a:lnTo>
                  <a:lnTo>
                    <a:pt x="183949" y="6145"/>
                  </a:lnTo>
                  <a:lnTo>
                    <a:pt x="177380" y="6553"/>
                  </a:lnTo>
                </a:path>
              </a:pathLst>
            </a:custGeom>
            <a:ln w="254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4500" y="2523926"/>
            <a:ext cx="6619240" cy="56591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540"/>
              </a:spcBef>
            </a:pP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racing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continuously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repeats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four</a:t>
            </a:r>
            <a:r>
              <a:rPr sz="26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cycle</a:t>
            </a:r>
            <a:r>
              <a:rPr sz="2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endParaRPr sz="2600">
              <a:latin typeface="Microsoft Sans Serif"/>
              <a:cs typeface="Microsoft Sans Serif"/>
            </a:endParaRPr>
          </a:p>
          <a:p>
            <a:pPr marL="918844" indent="-334645">
              <a:lnSpc>
                <a:spcPts val="3379"/>
              </a:lnSpc>
              <a:spcBef>
                <a:spcPts val="1610"/>
              </a:spcBef>
              <a:buAutoNum type="arabicPeriod"/>
              <a:tabLst>
                <a:tab pos="918844" algn="l"/>
              </a:tabLst>
            </a:pP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Observe</a:t>
            </a:r>
            <a:endParaRPr sz="2950">
              <a:latin typeface="Arial"/>
              <a:cs typeface="Arial"/>
            </a:endParaRPr>
          </a:p>
          <a:p>
            <a:pPr marL="584200">
              <a:lnSpc>
                <a:spcPts val="2305"/>
              </a:lnSpc>
            </a:pP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Observes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state</a:t>
            </a:r>
            <a:r>
              <a:rPr sz="2050" spc="-45" dirty="0">
                <a:solidFill>
                  <a:srgbClr val="D0D5DA"/>
                </a:solidFill>
                <a:latin typeface="Britannic Bold"/>
                <a:cs typeface="Britannic Bold"/>
              </a:rPr>
              <a:t>:</a:t>
            </a:r>
            <a:r>
              <a:rPr sz="2050" spc="-11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position</a:t>
            </a:r>
            <a:r>
              <a:rPr sz="2050" spc="-3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050" spc="-12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</a:t>
            </a:r>
            <a:r>
              <a:rPr sz="2050" spc="-5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050" spc="-11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205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205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800">
              <a:latin typeface="Britannic Bold"/>
              <a:cs typeface="Britannic Bold"/>
            </a:endParaRPr>
          </a:p>
          <a:p>
            <a:pPr marL="987425" indent="-403225">
              <a:lnSpc>
                <a:spcPts val="3379"/>
              </a:lnSpc>
              <a:buAutoNum type="arabicPeriod" startAt="2"/>
              <a:tabLst>
                <a:tab pos="987425" algn="l"/>
              </a:tabLst>
            </a:pPr>
            <a:r>
              <a:rPr sz="2950" b="1" spc="-25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endParaRPr sz="2950">
              <a:latin typeface="Arial"/>
              <a:cs typeface="Arial"/>
            </a:endParaRPr>
          </a:p>
          <a:p>
            <a:pPr marL="584200">
              <a:lnSpc>
                <a:spcPts val="2305"/>
              </a:lnSpc>
            </a:pP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Chooses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an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</a:t>
            </a:r>
            <a:r>
              <a:rPr sz="2050" spc="-35" dirty="0">
                <a:solidFill>
                  <a:srgbClr val="D0D5DA"/>
                </a:solidFill>
                <a:latin typeface="Britannic Bold"/>
                <a:cs typeface="Britannic Bold"/>
              </a:rPr>
              <a:t>:</a:t>
            </a:r>
            <a:r>
              <a:rPr sz="2050" spc="-114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accelerate</a:t>
            </a:r>
            <a:r>
              <a:rPr sz="2050" spc="-4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050" spc="-11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brake</a:t>
            </a:r>
            <a:r>
              <a:rPr sz="2050" spc="-5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050" spc="-11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or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turn</a:t>
            </a:r>
            <a:r>
              <a:rPr sz="205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205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800">
              <a:latin typeface="Britannic Bold"/>
              <a:cs typeface="Britannic Bold"/>
            </a:endParaRPr>
          </a:p>
          <a:p>
            <a:pPr marL="984250" indent="-400050">
              <a:lnSpc>
                <a:spcPts val="3404"/>
              </a:lnSpc>
              <a:buAutoNum type="arabicPeriod" startAt="3"/>
              <a:tabLst>
                <a:tab pos="984250" algn="l"/>
              </a:tabLst>
            </a:pP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Reward</a:t>
            </a:r>
            <a:endParaRPr sz="2950">
              <a:latin typeface="Arial"/>
              <a:cs typeface="Arial"/>
            </a:endParaRPr>
          </a:p>
          <a:p>
            <a:pPr marL="584200">
              <a:lnSpc>
                <a:spcPts val="2245"/>
              </a:lnSpc>
            </a:pP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Receives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rewards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progress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penalties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endParaRPr sz="2000">
              <a:latin typeface="Microsoft Sans Serif"/>
              <a:cs typeface="Microsoft Sans Serif"/>
            </a:endParaRPr>
          </a:p>
          <a:p>
            <a:pPr marL="584200">
              <a:lnSpc>
                <a:spcPts val="2435"/>
              </a:lnSpc>
            </a:pP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mistakes</a:t>
            </a:r>
            <a:r>
              <a:rPr sz="205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205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800">
              <a:latin typeface="Britannic Bold"/>
              <a:cs typeface="Britannic Bold"/>
            </a:endParaRPr>
          </a:p>
          <a:p>
            <a:pPr marL="989965" indent="-405765">
              <a:lnSpc>
                <a:spcPts val="3379"/>
              </a:lnSpc>
              <a:buAutoNum type="arabicPeriod" startAt="4"/>
              <a:tabLst>
                <a:tab pos="989965" algn="l"/>
              </a:tabLst>
            </a:pP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Learn</a:t>
            </a:r>
            <a:endParaRPr sz="2950">
              <a:latin typeface="Arial"/>
              <a:cs typeface="Arial"/>
            </a:endParaRPr>
          </a:p>
          <a:p>
            <a:pPr marL="584200">
              <a:lnSpc>
                <a:spcPts val="2305"/>
              </a:lnSpc>
            </a:pP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Updates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improve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future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decisions</a:t>
            </a:r>
            <a:r>
              <a:rPr sz="205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2050">
              <a:latin typeface="Britannic Bold"/>
              <a:cs typeface="Britannic Bold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This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00BEFF"/>
                </a:solidFill>
                <a:latin typeface="Arial"/>
                <a:cs typeface="Arial"/>
              </a:rPr>
              <a:t>cycle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repeats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00BEFF"/>
                </a:solidFill>
                <a:latin typeface="Arial"/>
                <a:cs typeface="Arial"/>
              </a:rPr>
              <a:t>millions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00BEFF"/>
                </a:solidFill>
                <a:latin typeface="Arial"/>
                <a:cs typeface="Arial"/>
              </a:rPr>
              <a:t>of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times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00BEFF"/>
                </a:solidFill>
                <a:latin typeface="Arial"/>
                <a:cs typeface="Arial"/>
              </a:rPr>
              <a:t>during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BEFF"/>
                </a:solidFill>
                <a:latin typeface="Arial"/>
                <a:cs typeface="Arial"/>
              </a:rPr>
              <a:t>training</a:t>
            </a:r>
            <a:r>
              <a:rPr sz="2150" i="1" spc="-10" dirty="0">
                <a:solidFill>
                  <a:srgbClr val="00BEFF"/>
                </a:solidFill>
                <a:latin typeface="Rockwell"/>
                <a:cs typeface="Rockwell"/>
              </a:rPr>
              <a:t>.</a:t>
            </a:r>
            <a:endParaRPr sz="2150">
              <a:latin typeface="Rockwell"/>
              <a:cs typeface="Rockwel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5" dirty="0"/>
              <a:t>9</a:t>
            </a:fld>
            <a:r>
              <a:rPr spc="-25" dirty="0"/>
              <a:t>/25</a:t>
            </a:r>
          </a:p>
        </p:txBody>
      </p:sp>
      <p:pic>
        <p:nvPicPr>
          <p:cNvPr id="15" name="Picture 14" descr="Reinforcement Learning">
            <a:extLst>
              <a:ext uri="{FF2B5EF4-FFF2-40B4-BE49-F238E27FC236}">
                <a16:creationId xmlns:a16="http://schemas.microsoft.com/office/drawing/2014/main" id="{849CC5B8-65BE-1980-7BBF-77976D808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473" y="2522154"/>
            <a:ext cx="9124950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5" dirty="0">
                <a:solidFill>
                  <a:srgbClr val="FF6A34"/>
                </a:solidFill>
              </a:rPr>
              <a:t>Rewards</a:t>
            </a:r>
            <a:r>
              <a:rPr spc="-345" dirty="0">
                <a:solidFill>
                  <a:srgbClr val="FF6A34"/>
                </a:solidFill>
              </a:rPr>
              <a:t> </a:t>
            </a:r>
            <a:r>
              <a:rPr spc="-285" dirty="0">
                <a:solidFill>
                  <a:srgbClr val="FF6A34"/>
                </a:solidFill>
              </a:rPr>
              <a:t>and</a:t>
            </a:r>
            <a:r>
              <a:rPr spc="-340" dirty="0">
                <a:solidFill>
                  <a:srgbClr val="FF6A34"/>
                </a:solidFill>
              </a:rPr>
              <a:t> </a:t>
            </a:r>
            <a:r>
              <a:rPr spc="-215" dirty="0">
                <a:solidFill>
                  <a:srgbClr val="FF6A34"/>
                </a:solidFill>
              </a:rPr>
              <a:t>Penalties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212850"/>
            <a:ext cx="8458200" cy="3702050"/>
            <a:chOff x="457200" y="1212850"/>
            <a:chExt cx="8458200" cy="3702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8975" y="1212850"/>
              <a:ext cx="177800" cy="2800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6249" y="1752600"/>
              <a:ext cx="8439150" cy="3162300"/>
            </a:xfrm>
            <a:custGeom>
              <a:avLst/>
              <a:gdLst/>
              <a:ahLst/>
              <a:cxnLst/>
              <a:rect l="l" t="t" r="r" b="b"/>
              <a:pathLst>
                <a:path w="8439150" h="3162300">
                  <a:moveTo>
                    <a:pt x="8367952" y="3162300"/>
                  </a:moveTo>
                  <a:lnTo>
                    <a:pt x="53397" y="3162300"/>
                  </a:lnTo>
                  <a:lnTo>
                    <a:pt x="49680" y="3161811"/>
                  </a:lnTo>
                  <a:lnTo>
                    <a:pt x="14085" y="3136443"/>
                  </a:lnTo>
                  <a:lnTo>
                    <a:pt x="366" y="3096058"/>
                  </a:lnTo>
                  <a:lnTo>
                    <a:pt x="0" y="3091103"/>
                  </a:lnTo>
                  <a:lnTo>
                    <a:pt x="0" y="3086100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367952" y="0"/>
                  </a:lnTo>
                  <a:lnTo>
                    <a:pt x="8409443" y="15621"/>
                  </a:lnTo>
                  <a:lnTo>
                    <a:pt x="8435262" y="51661"/>
                  </a:lnTo>
                  <a:lnTo>
                    <a:pt x="8439149" y="71196"/>
                  </a:lnTo>
                  <a:lnTo>
                    <a:pt x="8439149" y="3091103"/>
                  </a:lnTo>
                  <a:lnTo>
                    <a:pt x="8423527" y="3132593"/>
                  </a:lnTo>
                  <a:lnTo>
                    <a:pt x="8387487" y="3158412"/>
                  </a:lnTo>
                  <a:lnTo>
                    <a:pt x="8372907" y="3161811"/>
                  </a:lnTo>
                  <a:lnTo>
                    <a:pt x="8367952" y="3162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1752877"/>
              <a:ext cx="70485" cy="3162300"/>
            </a:xfrm>
            <a:custGeom>
              <a:avLst/>
              <a:gdLst/>
              <a:ahLst/>
              <a:cxnLst/>
              <a:rect l="l" t="t" r="r" b="b"/>
              <a:pathLst>
                <a:path w="70484" h="3162300">
                  <a:moveTo>
                    <a:pt x="70449" y="3161744"/>
                  </a:moveTo>
                  <a:lnTo>
                    <a:pt x="33857" y="3149191"/>
                  </a:lnTo>
                  <a:lnTo>
                    <a:pt x="5800" y="3114982"/>
                  </a:lnTo>
                  <a:lnTo>
                    <a:pt x="0" y="3085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085822"/>
                  </a:lnTo>
                  <a:lnTo>
                    <a:pt x="44514" y="3128164"/>
                  </a:lnTo>
                  <a:lnTo>
                    <a:pt x="66287" y="3160088"/>
                  </a:lnTo>
                  <a:lnTo>
                    <a:pt x="70449" y="31617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300" y="2044700"/>
              <a:ext cx="252095" cy="254000"/>
            </a:xfrm>
            <a:custGeom>
              <a:avLst/>
              <a:gdLst/>
              <a:ahLst/>
              <a:cxnLst/>
              <a:rect l="l" t="t" r="r" b="b"/>
              <a:pathLst>
                <a:path w="252094" h="254000">
                  <a:moveTo>
                    <a:pt x="63500" y="101600"/>
                  </a:moveTo>
                  <a:lnTo>
                    <a:pt x="63500" y="254000"/>
                  </a:lnTo>
                </a:path>
                <a:path w="252094" h="254000">
                  <a:moveTo>
                    <a:pt x="165100" y="49276"/>
                  </a:moveTo>
                  <a:lnTo>
                    <a:pt x="152400" y="101600"/>
                  </a:lnTo>
                  <a:lnTo>
                    <a:pt x="226441" y="101600"/>
                  </a:lnTo>
                  <a:lnTo>
                    <a:pt x="228412" y="101600"/>
                  </a:lnTo>
                  <a:lnTo>
                    <a:pt x="242716" y="107499"/>
                  </a:lnTo>
                  <a:lnTo>
                    <a:pt x="244229" y="108762"/>
                  </a:lnTo>
                  <a:lnTo>
                    <a:pt x="245578" y="110182"/>
                  </a:lnTo>
                  <a:lnTo>
                    <a:pt x="246761" y="111760"/>
                  </a:lnTo>
                  <a:lnTo>
                    <a:pt x="247943" y="113337"/>
                  </a:lnTo>
                  <a:lnTo>
                    <a:pt x="248929" y="115029"/>
                  </a:lnTo>
                  <a:lnTo>
                    <a:pt x="249718" y="116836"/>
                  </a:lnTo>
                  <a:lnTo>
                    <a:pt x="250507" y="118643"/>
                  </a:lnTo>
                  <a:lnTo>
                    <a:pt x="251078" y="120516"/>
                  </a:lnTo>
                  <a:lnTo>
                    <a:pt x="251431" y="122456"/>
                  </a:lnTo>
                  <a:lnTo>
                    <a:pt x="251784" y="124396"/>
                  </a:lnTo>
                  <a:lnTo>
                    <a:pt x="251909" y="126350"/>
                  </a:lnTo>
                  <a:lnTo>
                    <a:pt x="251806" y="128319"/>
                  </a:lnTo>
                  <a:lnTo>
                    <a:pt x="251704" y="130288"/>
                  </a:lnTo>
                  <a:lnTo>
                    <a:pt x="251377" y="132219"/>
                  </a:lnTo>
                  <a:lnTo>
                    <a:pt x="250825" y="134112"/>
                  </a:lnTo>
                  <a:lnTo>
                    <a:pt x="221234" y="235712"/>
                  </a:lnTo>
                  <a:lnTo>
                    <a:pt x="219653" y="241130"/>
                  </a:lnTo>
                  <a:lnTo>
                    <a:pt x="216605" y="245533"/>
                  </a:lnTo>
                  <a:lnTo>
                    <a:pt x="212090" y="248920"/>
                  </a:lnTo>
                  <a:lnTo>
                    <a:pt x="207574" y="252306"/>
                  </a:lnTo>
                  <a:lnTo>
                    <a:pt x="202494" y="254000"/>
                  </a:lnTo>
                  <a:lnTo>
                    <a:pt x="196850" y="254000"/>
                  </a:lnTo>
                  <a:lnTo>
                    <a:pt x="25400" y="254000"/>
                  </a:lnTo>
                  <a:lnTo>
                    <a:pt x="22031" y="254000"/>
                  </a:lnTo>
                  <a:lnTo>
                    <a:pt x="18791" y="253355"/>
                  </a:lnTo>
                  <a:lnTo>
                    <a:pt x="15679" y="252066"/>
                  </a:lnTo>
                  <a:lnTo>
                    <a:pt x="12567" y="250777"/>
                  </a:lnTo>
                  <a:lnTo>
                    <a:pt x="1933" y="238320"/>
                  </a:lnTo>
                  <a:lnTo>
                    <a:pt x="644" y="235208"/>
                  </a:lnTo>
                  <a:lnTo>
                    <a:pt x="0" y="231968"/>
                  </a:lnTo>
                  <a:lnTo>
                    <a:pt x="0" y="228600"/>
                  </a:lnTo>
                  <a:lnTo>
                    <a:pt x="0" y="127000"/>
                  </a:lnTo>
                  <a:lnTo>
                    <a:pt x="0" y="123631"/>
                  </a:lnTo>
                  <a:lnTo>
                    <a:pt x="644" y="120391"/>
                  </a:lnTo>
                  <a:lnTo>
                    <a:pt x="1933" y="117279"/>
                  </a:lnTo>
                  <a:lnTo>
                    <a:pt x="3222" y="114168"/>
                  </a:lnTo>
                  <a:lnTo>
                    <a:pt x="15679" y="103533"/>
                  </a:lnTo>
                  <a:lnTo>
                    <a:pt x="18791" y="102244"/>
                  </a:lnTo>
                  <a:lnTo>
                    <a:pt x="22031" y="101600"/>
                  </a:lnTo>
                  <a:lnTo>
                    <a:pt x="25400" y="101600"/>
                  </a:lnTo>
                  <a:lnTo>
                    <a:pt x="60452" y="101600"/>
                  </a:lnTo>
                  <a:lnTo>
                    <a:pt x="65271" y="101597"/>
                  </a:lnTo>
                  <a:lnTo>
                    <a:pt x="69728" y="100326"/>
                  </a:lnTo>
                  <a:lnTo>
                    <a:pt x="73824" y="97786"/>
                  </a:lnTo>
                  <a:lnTo>
                    <a:pt x="77920" y="95246"/>
                  </a:lnTo>
                  <a:lnTo>
                    <a:pt x="81040" y="91818"/>
                  </a:lnTo>
                  <a:lnTo>
                    <a:pt x="83185" y="87503"/>
                  </a:lnTo>
                  <a:lnTo>
                    <a:pt x="127000" y="0"/>
                  </a:lnTo>
                  <a:lnTo>
                    <a:pt x="151735" y="9028"/>
                  </a:lnTo>
                  <a:lnTo>
                    <a:pt x="154050" y="10929"/>
                  </a:lnTo>
                  <a:lnTo>
                    <a:pt x="166303" y="37429"/>
                  </a:lnTo>
                  <a:lnTo>
                    <a:pt x="166253" y="40423"/>
                  </a:lnTo>
                  <a:lnTo>
                    <a:pt x="166202" y="43417"/>
                  </a:lnTo>
                  <a:lnTo>
                    <a:pt x="165817" y="46368"/>
                  </a:lnTo>
                  <a:lnTo>
                    <a:pt x="165100" y="49276"/>
                  </a:lnTo>
                  <a:close/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39975" y="1126246"/>
            <a:ext cx="1406525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reward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function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teacher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guides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4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45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defines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'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good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'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bad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r>
              <a:rPr sz="24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200" y="1794074"/>
            <a:ext cx="7436484" cy="29044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94"/>
              </a:spcBef>
            </a:pPr>
            <a:r>
              <a:rPr sz="3050" b="1" spc="-180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70" dirty="0">
                <a:solidFill>
                  <a:srgbClr val="FFFFFF"/>
                </a:solidFill>
                <a:latin typeface="Arial"/>
                <a:cs typeface="Arial"/>
              </a:rPr>
              <a:t>Rewards</a:t>
            </a:r>
            <a:endParaRPr sz="3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600" b="1" dirty="0">
                <a:solidFill>
                  <a:srgbClr val="38FF13"/>
                </a:solidFill>
                <a:latin typeface="Sitka Text"/>
                <a:cs typeface="Sitka Text"/>
              </a:rPr>
              <a:t>+</a:t>
            </a:r>
            <a:r>
              <a:rPr sz="2600" b="1" spc="-65" dirty="0">
                <a:solidFill>
                  <a:srgbClr val="38FF13"/>
                </a:solidFill>
                <a:latin typeface="Sitka Text"/>
                <a:cs typeface="Sitka Text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Moving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forward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25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-204" dirty="0">
                <a:solidFill>
                  <a:srgbClr val="FFFFFF"/>
                </a:solidFill>
                <a:latin typeface="Microsoft Sans Serif"/>
                <a:cs typeface="Microsoft Sans Serif"/>
              </a:rPr>
              <a:t>+1</a:t>
            </a:r>
            <a:r>
              <a:rPr sz="24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38FF13"/>
                </a:solidFill>
                <a:latin typeface="Sitka Text"/>
                <a:cs typeface="Sitka Text"/>
              </a:rPr>
              <a:t>+</a:t>
            </a:r>
            <a:r>
              <a:rPr sz="2600" b="1" spc="85" dirty="0">
                <a:solidFill>
                  <a:srgbClr val="38FF13"/>
                </a:solidFill>
                <a:latin typeface="Sitka Text"/>
                <a:cs typeface="Sitka Text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Staying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near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center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+0.5</a:t>
            </a:r>
            <a:r>
              <a:rPr sz="24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bonus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38FF13"/>
                </a:solidFill>
                <a:latin typeface="Sitka Text"/>
                <a:cs typeface="Sitka Text"/>
              </a:rPr>
              <a:t>+</a:t>
            </a:r>
            <a:r>
              <a:rPr sz="2600" b="1" spc="55" dirty="0">
                <a:solidFill>
                  <a:srgbClr val="38FF13"/>
                </a:solidFill>
                <a:latin typeface="Sitka Text"/>
                <a:cs typeface="Sitka Text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Maintaining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optimal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speed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+0.3</a:t>
            </a:r>
            <a:r>
              <a:rPr sz="245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bonus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38FF13"/>
                </a:solidFill>
                <a:latin typeface="Sitka Text"/>
                <a:cs typeface="Sitka Text"/>
              </a:rPr>
              <a:t>+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Completing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lap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+100</a:t>
            </a:r>
            <a:r>
              <a:rPr sz="245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bonus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38FF13"/>
                </a:solidFill>
                <a:latin typeface="Sitka Text"/>
                <a:cs typeface="Sitka Text"/>
              </a:rPr>
              <a:t>+</a:t>
            </a:r>
            <a:r>
              <a:rPr sz="2600" b="1" spc="35" dirty="0">
                <a:solidFill>
                  <a:srgbClr val="38FF13"/>
                </a:solidFill>
                <a:latin typeface="Sitka Text"/>
                <a:cs typeface="Sitka Text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Smooth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steering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avoiding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jerky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movements</a:t>
            </a:r>
            <a:r>
              <a:rPr sz="245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5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+0.2</a:t>
            </a:r>
            <a:endParaRPr sz="24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72600" y="1752600"/>
            <a:ext cx="8458200" cy="3162300"/>
            <a:chOff x="9372600" y="1752600"/>
            <a:chExt cx="8458200" cy="3162300"/>
          </a:xfrm>
        </p:grpSpPr>
        <p:sp>
          <p:nvSpPr>
            <p:cNvPr id="11" name="object 11"/>
            <p:cNvSpPr/>
            <p:nvPr/>
          </p:nvSpPr>
          <p:spPr>
            <a:xfrm>
              <a:off x="9391649" y="1752600"/>
              <a:ext cx="8439150" cy="3162300"/>
            </a:xfrm>
            <a:custGeom>
              <a:avLst/>
              <a:gdLst/>
              <a:ahLst/>
              <a:cxnLst/>
              <a:rect l="l" t="t" r="r" b="b"/>
              <a:pathLst>
                <a:path w="8439150" h="3162300">
                  <a:moveTo>
                    <a:pt x="8367952" y="3162300"/>
                  </a:moveTo>
                  <a:lnTo>
                    <a:pt x="53397" y="3162300"/>
                  </a:lnTo>
                  <a:lnTo>
                    <a:pt x="49680" y="3161811"/>
                  </a:lnTo>
                  <a:lnTo>
                    <a:pt x="14084" y="3136443"/>
                  </a:lnTo>
                  <a:lnTo>
                    <a:pt x="365" y="3096058"/>
                  </a:lnTo>
                  <a:lnTo>
                    <a:pt x="0" y="3091103"/>
                  </a:lnTo>
                  <a:lnTo>
                    <a:pt x="0" y="3086100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367952" y="0"/>
                  </a:lnTo>
                  <a:lnTo>
                    <a:pt x="8409442" y="15621"/>
                  </a:lnTo>
                  <a:lnTo>
                    <a:pt x="8435263" y="51661"/>
                  </a:lnTo>
                  <a:lnTo>
                    <a:pt x="8439149" y="71196"/>
                  </a:lnTo>
                  <a:lnTo>
                    <a:pt x="8439149" y="3091103"/>
                  </a:lnTo>
                  <a:lnTo>
                    <a:pt x="8423527" y="3132593"/>
                  </a:lnTo>
                  <a:lnTo>
                    <a:pt x="8387486" y="3158412"/>
                  </a:lnTo>
                  <a:lnTo>
                    <a:pt x="8372906" y="3161811"/>
                  </a:lnTo>
                  <a:lnTo>
                    <a:pt x="8367952" y="3162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72600" y="1752877"/>
              <a:ext cx="70485" cy="3162300"/>
            </a:xfrm>
            <a:custGeom>
              <a:avLst/>
              <a:gdLst/>
              <a:ahLst/>
              <a:cxnLst/>
              <a:rect l="l" t="t" r="r" b="b"/>
              <a:pathLst>
                <a:path w="70484" h="3162300">
                  <a:moveTo>
                    <a:pt x="70449" y="3161744"/>
                  </a:moveTo>
                  <a:lnTo>
                    <a:pt x="33856" y="3149191"/>
                  </a:lnTo>
                  <a:lnTo>
                    <a:pt x="5799" y="3114982"/>
                  </a:lnTo>
                  <a:lnTo>
                    <a:pt x="0" y="30858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085822"/>
                  </a:lnTo>
                  <a:lnTo>
                    <a:pt x="44514" y="3128164"/>
                  </a:lnTo>
                  <a:lnTo>
                    <a:pt x="66287" y="3160088"/>
                  </a:lnTo>
                  <a:lnTo>
                    <a:pt x="70449" y="3161744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66790" y="2044700"/>
              <a:ext cx="252095" cy="254000"/>
            </a:xfrm>
            <a:custGeom>
              <a:avLst/>
              <a:gdLst/>
              <a:ahLst/>
              <a:cxnLst/>
              <a:rect l="l" t="t" r="r" b="b"/>
              <a:pathLst>
                <a:path w="252095" h="254000">
                  <a:moveTo>
                    <a:pt x="188409" y="152400"/>
                  </a:moveTo>
                  <a:lnTo>
                    <a:pt x="188409" y="0"/>
                  </a:lnTo>
                </a:path>
                <a:path w="252095" h="254000">
                  <a:moveTo>
                    <a:pt x="86809" y="204724"/>
                  </a:moveTo>
                  <a:lnTo>
                    <a:pt x="99509" y="152400"/>
                  </a:lnTo>
                  <a:lnTo>
                    <a:pt x="25468" y="152400"/>
                  </a:lnTo>
                  <a:lnTo>
                    <a:pt x="23496" y="152400"/>
                  </a:lnTo>
                  <a:lnTo>
                    <a:pt x="21551" y="152173"/>
                  </a:lnTo>
                  <a:lnTo>
                    <a:pt x="19632" y="151720"/>
                  </a:lnTo>
                  <a:lnTo>
                    <a:pt x="17713" y="151267"/>
                  </a:lnTo>
                  <a:lnTo>
                    <a:pt x="0" y="127649"/>
                  </a:lnTo>
                  <a:lnTo>
                    <a:pt x="102" y="125680"/>
                  </a:lnTo>
                  <a:lnTo>
                    <a:pt x="204" y="123711"/>
                  </a:lnTo>
                  <a:lnTo>
                    <a:pt x="532" y="121780"/>
                  </a:lnTo>
                  <a:lnTo>
                    <a:pt x="1084" y="119888"/>
                  </a:lnTo>
                  <a:lnTo>
                    <a:pt x="30675" y="18288"/>
                  </a:lnTo>
                  <a:lnTo>
                    <a:pt x="49414" y="0"/>
                  </a:lnTo>
                  <a:lnTo>
                    <a:pt x="55059" y="0"/>
                  </a:lnTo>
                  <a:lnTo>
                    <a:pt x="226509" y="0"/>
                  </a:lnTo>
                  <a:lnTo>
                    <a:pt x="229877" y="0"/>
                  </a:lnTo>
                  <a:lnTo>
                    <a:pt x="233117" y="644"/>
                  </a:lnTo>
                  <a:lnTo>
                    <a:pt x="236229" y="1933"/>
                  </a:lnTo>
                  <a:lnTo>
                    <a:pt x="239341" y="3222"/>
                  </a:lnTo>
                  <a:lnTo>
                    <a:pt x="249975" y="15679"/>
                  </a:lnTo>
                  <a:lnTo>
                    <a:pt x="251264" y="18791"/>
                  </a:lnTo>
                  <a:lnTo>
                    <a:pt x="251909" y="22031"/>
                  </a:lnTo>
                  <a:lnTo>
                    <a:pt x="251909" y="25400"/>
                  </a:lnTo>
                  <a:lnTo>
                    <a:pt x="251909" y="127000"/>
                  </a:lnTo>
                  <a:lnTo>
                    <a:pt x="251909" y="130368"/>
                  </a:lnTo>
                  <a:lnTo>
                    <a:pt x="251264" y="133608"/>
                  </a:lnTo>
                  <a:lnTo>
                    <a:pt x="249975" y="136720"/>
                  </a:lnTo>
                  <a:lnTo>
                    <a:pt x="248686" y="139832"/>
                  </a:lnTo>
                  <a:lnTo>
                    <a:pt x="236229" y="150466"/>
                  </a:lnTo>
                  <a:lnTo>
                    <a:pt x="233117" y="151755"/>
                  </a:lnTo>
                  <a:lnTo>
                    <a:pt x="229877" y="152400"/>
                  </a:lnTo>
                  <a:lnTo>
                    <a:pt x="226509" y="152400"/>
                  </a:lnTo>
                  <a:lnTo>
                    <a:pt x="191457" y="152400"/>
                  </a:lnTo>
                  <a:lnTo>
                    <a:pt x="186637" y="152402"/>
                  </a:lnTo>
                  <a:lnTo>
                    <a:pt x="182180" y="153673"/>
                  </a:lnTo>
                  <a:lnTo>
                    <a:pt x="178084" y="156213"/>
                  </a:lnTo>
                  <a:lnTo>
                    <a:pt x="173988" y="158753"/>
                  </a:lnTo>
                  <a:lnTo>
                    <a:pt x="170868" y="162181"/>
                  </a:lnTo>
                  <a:lnTo>
                    <a:pt x="168724" y="166497"/>
                  </a:lnTo>
                  <a:lnTo>
                    <a:pt x="124909" y="254000"/>
                  </a:lnTo>
                  <a:lnTo>
                    <a:pt x="93954" y="238566"/>
                  </a:lnTo>
                  <a:lnTo>
                    <a:pt x="92122" y="236197"/>
                  </a:lnTo>
                  <a:lnTo>
                    <a:pt x="90577" y="233654"/>
                  </a:lnTo>
                  <a:lnTo>
                    <a:pt x="89320" y="230935"/>
                  </a:lnTo>
                  <a:lnTo>
                    <a:pt x="88064" y="228217"/>
                  </a:lnTo>
                  <a:lnTo>
                    <a:pt x="87126" y="225393"/>
                  </a:lnTo>
                  <a:lnTo>
                    <a:pt x="86507" y="222463"/>
                  </a:lnTo>
                  <a:lnTo>
                    <a:pt x="85889" y="219533"/>
                  </a:lnTo>
                  <a:lnTo>
                    <a:pt x="85605" y="216570"/>
                  </a:lnTo>
                  <a:lnTo>
                    <a:pt x="85656" y="213576"/>
                  </a:lnTo>
                  <a:lnTo>
                    <a:pt x="85706" y="210582"/>
                  </a:lnTo>
                  <a:lnTo>
                    <a:pt x="86091" y="207631"/>
                  </a:lnTo>
                  <a:lnTo>
                    <a:pt x="86809" y="204724"/>
                  </a:lnTo>
                  <a:close/>
                </a:path>
              </a:pathLst>
            </a:custGeom>
            <a:ln w="254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626600" y="1783619"/>
            <a:ext cx="6698615" cy="29152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30"/>
              </a:spcBef>
            </a:pP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Penalties</a:t>
            </a:r>
            <a:r>
              <a:rPr sz="305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140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Negative </a:t>
            </a:r>
            <a:r>
              <a:rPr sz="3050" b="1" spc="-70" dirty="0">
                <a:solidFill>
                  <a:srgbClr val="FFFFFF"/>
                </a:solidFill>
                <a:latin typeface="Arial"/>
                <a:cs typeface="Arial"/>
              </a:rPr>
              <a:t>Rewards</a:t>
            </a:r>
            <a:r>
              <a:rPr sz="3100" b="1" spc="-70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3100">
              <a:latin typeface="Trebuchet MS"/>
              <a:cs typeface="Trebuchet MS"/>
            </a:endParaRPr>
          </a:p>
          <a:p>
            <a:pPr marL="260350" indent="-247650">
              <a:lnSpc>
                <a:spcPct val="100000"/>
              </a:lnSpc>
              <a:spcBef>
                <a:spcPts val="680"/>
              </a:spcBef>
              <a:buClr>
                <a:srgbClr val="FF6A34"/>
              </a:buClr>
              <a:buSzPct val="104000"/>
              <a:buFont typeface="Berlin Sans FB"/>
              <a:buChar char="-"/>
              <a:tabLst>
                <a:tab pos="260350" algn="l"/>
              </a:tabLst>
            </a:pP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Going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off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50" spc="-204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r>
              <a:rPr sz="24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</a:t>
            </a:r>
            <a:endParaRPr sz="2500">
              <a:latin typeface="Microsoft Sans Serif"/>
              <a:cs typeface="Microsoft Sans Serif"/>
            </a:endParaRPr>
          </a:p>
          <a:p>
            <a:pPr marL="260350" indent="-247650">
              <a:lnSpc>
                <a:spcPct val="100000"/>
              </a:lnSpc>
              <a:spcBef>
                <a:spcPts val="480"/>
              </a:spcBef>
              <a:buClr>
                <a:srgbClr val="FF6A34"/>
              </a:buClr>
              <a:buSzPct val="104000"/>
              <a:buFont typeface="Berlin Sans FB"/>
              <a:buChar char="-"/>
              <a:tabLst>
                <a:tab pos="260350" algn="l"/>
              </a:tabLst>
            </a:pP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Hitting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boundary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50</a:t>
            </a:r>
            <a:r>
              <a:rPr sz="245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episode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ends</a:t>
            </a:r>
            <a:endParaRPr sz="2500">
              <a:latin typeface="Microsoft Sans Serif"/>
              <a:cs typeface="Microsoft Sans Serif"/>
            </a:endParaRPr>
          </a:p>
          <a:p>
            <a:pPr marL="260350" indent="-247650">
              <a:lnSpc>
                <a:spcPct val="100000"/>
              </a:lnSpc>
              <a:spcBef>
                <a:spcPts val="480"/>
              </a:spcBef>
              <a:buClr>
                <a:srgbClr val="FF6A34"/>
              </a:buClr>
              <a:buSzPct val="104000"/>
              <a:buFont typeface="Berlin Sans FB"/>
              <a:buChar char="-"/>
              <a:tabLst>
                <a:tab pos="260350" algn="l"/>
              </a:tabLst>
            </a:pP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Driving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too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slow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0.5</a:t>
            </a:r>
            <a:r>
              <a:rPr sz="245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</a:t>
            </a:r>
            <a:endParaRPr sz="2500">
              <a:latin typeface="Microsoft Sans Serif"/>
              <a:cs typeface="Microsoft Sans Serif"/>
            </a:endParaRPr>
          </a:p>
          <a:p>
            <a:pPr marL="260350" indent="-247650">
              <a:lnSpc>
                <a:spcPct val="100000"/>
              </a:lnSpc>
              <a:spcBef>
                <a:spcPts val="480"/>
              </a:spcBef>
              <a:buClr>
                <a:srgbClr val="FF6A34"/>
              </a:buClr>
              <a:buSzPct val="104000"/>
              <a:buFont typeface="Berlin Sans FB"/>
              <a:buChar char="-"/>
              <a:tabLst>
                <a:tab pos="260350" algn="l"/>
              </a:tabLst>
            </a:pP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Excessive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steering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0.3</a:t>
            </a:r>
            <a:r>
              <a:rPr sz="24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</a:t>
            </a:r>
            <a:endParaRPr sz="2500">
              <a:latin typeface="Microsoft Sans Serif"/>
              <a:cs typeface="Microsoft Sans Serif"/>
            </a:endParaRPr>
          </a:p>
          <a:p>
            <a:pPr marL="260350" indent="-247650">
              <a:lnSpc>
                <a:spcPct val="100000"/>
              </a:lnSpc>
              <a:spcBef>
                <a:spcPts val="480"/>
              </a:spcBef>
              <a:buClr>
                <a:srgbClr val="FF6A34"/>
              </a:buClr>
              <a:buSzPct val="104000"/>
              <a:buFont typeface="Berlin Sans FB"/>
              <a:buChar char="-"/>
              <a:tabLst>
                <a:tab pos="260350" algn="l"/>
              </a:tabLst>
            </a:pP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Driving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backward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r>
              <a:rPr sz="245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step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25" dirty="0"/>
              <a:t>10</a:t>
            </a:fld>
            <a:r>
              <a:rPr spc="-25" dirty="0"/>
              <a:t>/25</a:t>
            </a:r>
          </a:p>
        </p:txBody>
      </p:sp>
      <p:pic>
        <p:nvPicPr>
          <p:cNvPr id="20" name="Picture 19" descr="A video game of a race car&#10;&#10;AI-generated content may be incorrect.">
            <a:extLst>
              <a:ext uri="{FF2B5EF4-FFF2-40B4-BE49-F238E27FC236}">
                <a16:creationId xmlns:a16="http://schemas.microsoft.com/office/drawing/2014/main" id="{19D38498-A61B-3308-8F8D-13B4BC2E1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434" y="5143142"/>
            <a:ext cx="5865395" cy="4332086"/>
          </a:xfrm>
          <a:prstGeom prst="rect">
            <a:avLst/>
          </a:prstGeom>
        </p:spPr>
      </p:pic>
      <p:pic>
        <p:nvPicPr>
          <p:cNvPr id="21" name="Picture 20" descr="A video game of a race car&#10;&#10;AI-generated content may be incorrect.">
            <a:extLst>
              <a:ext uri="{FF2B5EF4-FFF2-40B4-BE49-F238E27FC236}">
                <a16:creationId xmlns:a16="http://schemas.microsoft.com/office/drawing/2014/main" id="{EA0C3254-643C-A114-715F-9DF1E074A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92" y="5139704"/>
            <a:ext cx="6243530" cy="4356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292473"/>
            <a:ext cx="5506085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>
                <a:solidFill>
                  <a:srgbClr val="00BEFF"/>
                </a:solidFill>
              </a:rPr>
              <a:t>Learning</a:t>
            </a:r>
            <a:r>
              <a:rPr spc="-315" dirty="0">
                <a:solidFill>
                  <a:srgbClr val="00BEFF"/>
                </a:solidFill>
              </a:rPr>
              <a:t> </a:t>
            </a:r>
            <a:r>
              <a:rPr spc="-270" dirty="0">
                <a:solidFill>
                  <a:srgbClr val="00BEFF"/>
                </a:solidFill>
              </a:rPr>
              <a:t>Over</a:t>
            </a:r>
            <a:r>
              <a:rPr spc="-310" dirty="0">
                <a:solidFill>
                  <a:srgbClr val="00BEFF"/>
                </a:solidFill>
              </a:rPr>
              <a:t> </a:t>
            </a:r>
            <a:r>
              <a:rPr spc="-170" dirty="0">
                <a:solidFill>
                  <a:srgbClr val="00BEFF"/>
                </a:solidFill>
              </a:rPr>
              <a:t>Time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" y="1179576"/>
            <a:ext cx="17721071" cy="30114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100" y="1950914"/>
            <a:ext cx="3729354" cy="1732280"/>
          </a:xfrm>
          <a:prstGeom prst="rect">
            <a:avLst/>
          </a:prstGeom>
        </p:spPr>
        <p:txBody>
          <a:bodyPr vert="horz" wrap="square" lIns="0" tIns="71120" rIns="0" bIns="0" rtlCol="0" anchor="t">
            <a:spAutoFit/>
          </a:bodyPr>
          <a:lstStyle/>
          <a:p>
            <a:pPr marL="1426210" algn="ctr">
              <a:lnSpc>
                <a:spcPct val="100000"/>
              </a:lnSpc>
              <a:spcBef>
                <a:spcPts val="560"/>
              </a:spcBef>
            </a:pPr>
            <a:r>
              <a:rPr sz="3050" b="1" spc="-185" dirty="0">
                <a:solidFill>
                  <a:srgbClr val="FFFFFF"/>
                </a:solidFill>
                <a:latin typeface="Arial"/>
                <a:cs typeface="Arial"/>
              </a:rPr>
              <a:t>Early</a:t>
            </a:r>
            <a:r>
              <a:rPr sz="305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6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endParaRPr sz="3050">
              <a:latin typeface="Arial"/>
              <a:cs typeface="Arial"/>
            </a:endParaRPr>
          </a:p>
          <a:p>
            <a:pPr marL="1426210" algn="ctr">
              <a:lnSpc>
                <a:spcPct val="100000"/>
              </a:lnSpc>
              <a:spcBef>
                <a:spcPts val="315"/>
              </a:spcBef>
            </a:pPr>
            <a:endParaRPr sz="2000" spc="-65" dirty="0">
              <a:solidFill>
                <a:srgbClr val="9CA2AF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12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Chaotic</a:t>
            </a:r>
            <a:r>
              <a:rPr sz="19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55" dirty="0">
                <a:solidFill>
                  <a:srgbClr val="D0D5DA"/>
                </a:solidFill>
                <a:latin typeface="Microsoft Sans Serif"/>
                <a:cs typeface="Microsoft Sans Serif"/>
              </a:rPr>
              <a:t>off</a:t>
            </a:r>
            <a:r>
              <a:rPr sz="1950" spc="55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movements</a:t>
            </a:r>
            <a:endParaRPr sz="2000">
              <a:latin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6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:</a:t>
            </a:r>
            <a:r>
              <a:rPr sz="19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175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950" dirty="0">
                <a:solidFill>
                  <a:srgbClr val="D0D5DA"/>
                </a:solidFill>
                <a:latin typeface="Microsoft Sans Serif"/>
                <a:cs typeface="Microsoft Sans Serif"/>
              </a:rPr>
              <a:t>50</a:t>
            </a:r>
            <a:r>
              <a:rPr sz="19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11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20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5800" y="1950914"/>
            <a:ext cx="3642995" cy="1732280"/>
          </a:xfrm>
          <a:prstGeom prst="rect">
            <a:avLst/>
          </a:prstGeom>
        </p:spPr>
        <p:txBody>
          <a:bodyPr vert="horz" wrap="square" lIns="0" tIns="71120" rIns="0" bIns="0" rtlCol="0" anchor="t">
            <a:spAutoFit/>
          </a:bodyPr>
          <a:lstStyle/>
          <a:p>
            <a:pPr marL="1549400">
              <a:lnSpc>
                <a:spcPct val="100000"/>
              </a:lnSpc>
              <a:spcBef>
                <a:spcPts val="560"/>
              </a:spcBef>
            </a:pP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Mid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 Training</a:t>
            </a:r>
            <a:endParaRPr sz="3050">
              <a:latin typeface="Arial"/>
              <a:cs typeface="Arial"/>
            </a:endParaRPr>
          </a:p>
          <a:p>
            <a:pPr marL="1525905">
              <a:lnSpc>
                <a:spcPct val="100000"/>
              </a:lnSpc>
              <a:spcBef>
                <a:spcPts val="315"/>
              </a:spcBef>
            </a:pPr>
            <a:endParaRPr sz="2000" spc="-65" dirty="0">
              <a:solidFill>
                <a:srgbClr val="9CA2AF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12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boundaries</a:t>
            </a:r>
            <a:endParaRPr sz="2000">
              <a:latin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6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: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175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950" dirty="0">
                <a:solidFill>
                  <a:srgbClr val="D0D5DA"/>
                </a:solidFill>
                <a:latin typeface="Microsoft Sans Serif"/>
                <a:cs typeface="Microsoft Sans Serif"/>
              </a:rPr>
              <a:t>5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+20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58650" y="1950914"/>
            <a:ext cx="3665220" cy="1732280"/>
          </a:xfrm>
          <a:prstGeom prst="rect">
            <a:avLst/>
          </a:prstGeom>
        </p:spPr>
        <p:txBody>
          <a:bodyPr vert="horz" wrap="square" lIns="0" tIns="71120" rIns="0" bIns="0" rtlCol="0" anchor="t">
            <a:spAutoFit/>
          </a:bodyPr>
          <a:lstStyle/>
          <a:p>
            <a:pPr marL="1490980" algn="ctr">
              <a:lnSpc>
                <a:spcPct val="100000"/>
              </a:lnSpc>
              <a:spcBef>
                <a:spcPts val="560"/>
              </a:spcBef>
            </a:pPr>
            <a:r>
              <a:rPr sz="3050" b="1" spc="-185" dirty="0">
                <a:solidFill>
                  <a:srgbClr val="FFFFFF"/>
                </a:solidFill>
                <a:latin typeface="Arial"/>
                <a:cs typeface="Arial"/>
              </a:rPr>
              <a:t>Late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6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endParaRPr sz="3050">
              <a:latin typeface="Arial"/>
              <a:cs typeface="Arial"/>
            </a:endParaRPr>
          </a:p>
          <a:p>
            <a:pPr marL="1490980" algn="ctr">
              <a:lnSpc>
                <a:spcPct val="100000"/>
              </a:lnSpc>
              <a:spcBef>
                <a:spcPts val="315"/>
              </a:spcBef>
            </a:pPr>
            <a:endParaRPr sz="2000" spc="-65" dirty="0">
              <a:solidFill>
                <a:srgbClr val="9CA2AF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12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Smooth</a:t>
            </a:r>
            <a:r>
              <a:rPr sz="19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expert</a:t>
            </a:r>
            <a:r>
              <a:rPr sz="20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driving</a:t>
            </a:r>
            <a:endParaRPr sz="2000">
              <a:latin typeface="Microsoft Sans Serif"/>
              <a:cs typeface="Microsoft Sans Serif"/>
            </a:endParaRPr>
          </a:p>
          <a:p>
            <a:pPr marL="206375" indent="-193675">
              <a:lnSpc>
                <a:spcPct val="100000"/>
              </a:lnSpc>
              <a:spcBef>
                <a:spcPts val="600"/>
              </a:spcBef>
              <a:buSzPct val="97500"/>
              <a:buChar char="•"/>
              <a:tabLst>
                <a:tab pos="206375" algn="l"/>
              </a:tabLst>
            </a:pP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: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D0D5DA"/>
                </a:solidFill>
                <a:latin typeface="Microsoft Sans Serif"/>
                <a:cs typeface="Microsoft Sans Serif"/>
              </a:rPr>
              <a:t>+80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+100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4229100"/>
            <a:ext cx="17373600" cy="5219700"/>
          </a:xfrm>
          <a:custGeom>
            <a:avLst/>
            <a:gdLst/>
            <a:ahLst/>
            <a:cxnLst/>
            <a:rect l="l" t="t" r="r" b="b"/>
            <a:pathLst>
              <a:path w="17373600" h="5219700">
                <a:moveTo>
                  <a:pt x="17302402" y="5219699"/>
                </a:moveTo>
                <a:lnTo>
                  <a:pt x="71196" y="5219699"/>
                </a:lnTo>
                <a:lnTo>
                  <a:pt x="66241" y="5219211"/>
                </a:lnTo>
                <a:lnTo>
                  <a:pt x="29705" y="5204077"/>
                </a:lnTo>
                <a:lnTo>
                  <a:pt x="3885" y="5168037"/>
                </a:lnTo>
                <a:lnTo>
                  <a:pt x="0" y="5148503"/>
                </a:lnTo>
                <a:lnTo>
                  <a:pt x="0" y="5143500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7302402" y="0"/>
                </a:lnTo>
                <a:lnTo>
                  <a:pt x="17343892" y="15621"/>
                </a:lnTo>
                <a:lnTo>
                  <a:pt x="17369712" y="51661"/>
                </a:lnTo>
                <a:lnTo>
                  <a:pt x="17373599" y="71196"/>
                </a:lnTo>
                <a:lnTo>
                  <a:pt x="17373599" y="5148503"/>
                </a:lnTo>
                <a:lnTo>
                  <a:pt x="17357977" y="5189993"/>
                </a:lnTo>
                <a:lnTo>
                  <a:pt x="17321936" y="5215812"/>
                </a:lnTo>
                <a:lnTo>
                  <a:pt x="17307356" y="5219211"/>
                </a:lnTo>
                <a:lnTo>
                  <a:pt x="17302402" y="52196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85743" y="4323124"/>
            <a:ext cx="511683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sz="25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35" dirty="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Episodes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62087" y="4986337"/>
            <a:ext cx="15840075" cy="3848100"/>
            <a:chOff x="1462087" y="4986337"/>
            <a:chExt cx="15840075" cy="3848100"/>
          </a:xfrm>
        </p:grpSpPr>
        <p:sp>
          <p:nvSpPr>
            <p:cNvPr id="11" name="object 11"/>
            <p:cNvSpPr/>
            <p:nvPr/>
          </p:nvSpPr>
          <p:spPr>
            <a:xfrm>
              <a:off x="1466850" y="8772525"/>
              <a:ext cx="15801975" cy="0"/>
            </a:xfrm>
            <a:custGeom>
              <a:avLst/>
              <a:gdLst/>
              <a:ahLst/>
              <a:cxnLst/>
              <a:rect l="l" t="t" r="r" b="b"/>
              <a:pathLst>
                <a:path w="15801975">
                  <a:moveTo>
                    <a:pt x="0" y="0"/>
                  </a:moveTo>
                  <a:lnTo>
                    <a:pt x="15801975" y="0"/>
                  </a:lnTo>
                </a:path>
              </a:pathLst>
            </a:custGeom>
            <a:ln w="9525">
              <a:solidFill>
                <a:srgbClr val="44444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66850" y="782241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7350" y="782241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67850" y="782241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6850" y="6877062"/>
              <a:ext cx="15801975" cy="955040"/>
            </a:xfrm>
            <a:custGeom>
              <a:avLst/>
              <a:gdLst/>
              <a:ahLst/>
              <a:cxnLst/>
              <a:rect l="l" t="t" r="r" b="b"/>
              <a:pathLst>
                <a:path w="15801975" h="955040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15801975" h="955040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15801975" h="955040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15801975" h="955040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15801975" h="955040">
                  <a:moveTo>
                    <a:pt x="12030075" y="945349"/>
                  </a:moveTo>
                  <a:lnTo>
                    <a:pt x="12001500" y="945349"/>
                  </a:lnTo>
                  <a:lnTo>
                    <a:pt x="12001500" y="954874"/>
                  </a:lnTo>
                  <a:lnTo>
                    <a:pt x="12030075" y="954874"/>
                  </a:lnTo>
                  <a:lnTo>
                    <a:pt x="12030075" y="945349"/>
                  </a:lnTo>
                  <a:close/>
                </a:path>
                <a:path w="15801975" h="955040">
                  <a:moveTo>
                    <a:pt x="12087225" y="945349"/>
                  </a:moveTo>
                  <a:lnTo>
                    <a:pt x="12058650" y="945349"/>
                  </a:lnTo>
                  <a:lnTo>
                    <a:pt x="12058650" y="954874"/>
                  </a:lnTo>
                  <a:lnTo>
                    <a:pt x="12087225" y="954874"/>
                  </a:lnTo>
                  <a:lnTo>
                    <a:pt x="12087225" y="945349"/>
                  </a:lnTo>
                  <a:close/>
                </a:path>
                <a:path w="15801975" h="955040">
                  <a:moveTo>
                    <a:pt x="12144375" y="945349"/>
                  </a:moveTo>
                  <a:lnTo>
                    <a:pt x="12115800" y="945349"/>
                  </a:lnTo>
                  <a:lnTo>
                    <a:pt x="12115800" y="954874"/>
                  </a:lnTo>
                  <a:lnTo>
                    <a:pt x="12144375" y="954874"/>
                  </a:lnTo>
                  <a:lnTo>
                    <a:pt x="12144375" y="945349"/>
                  </a:lnTo>
                  <a:close/>
                </a:path>
                <a:path w="15801975" h="955040">
                  <a:moveTo>
                    <a:pt x="12201525" y="945349"/>
                  </a:moveTo>
                  <a:lnTo>
                    <a:pt x="12172950" y="945349"/>
                  </a:lnTo>
                  <a:lnTo>
                    <a:pt x="12172950" y="954874"/>
                  </a:lnTo>
                  <a:lnTo>
                    <a:pt x="12201525" y="954874"/>
                  </a:lnTo>
                  <a:lnTo>
                    <a:pt x="12201525" y="945349"/>
                  </a:lnTo>
                  <a:close/>
                </a:path>
                <a:path w="15801975" h="955040">
                  <a:moveTo>
                    <a:pt x="12258675" y="945349"/>
                  </a:moveTo>
                  <a:lnTo>
                    <a:pt x="12230100" y="945349"/>
                  </a:lnTo>
                  <a:lnTo>
                    <a:pt x="12230100" y="954874"/>
                  </a:lnTo>
                  <a:lnTo>
                    <a:pt x="12258675" y="954874"/>
                  </a:lnTo>
                  <a:lnTo>
                    <a:pt x="12258675" y="945349"/>
                  </a:lnTo>
                  <a:close/>
                </a:path>
                <a:path w="15801975" h="955040">
                  <a:moveTo>
                    <a:pt x="12315825" y="945349"/>
                  </a:moveTo>
                  <a:lnTo>
                    <a:pt x="12287250" y="945349"/>
                  </a:lnTo>
                  <a:lnTo>
                    <a:pt x="12287250" y="954874"/>
                  </a:lnTo>
                  <a:lnTo>
                    <a:pt x="12315825" y="954874"/>
                  </a:lnTo>
                  <a:lnTo>
                    <a:pt x="12315825" y="945349"/>
                  </a:lnTo>
                  <a:close/>
                </a:path>
                <a:path w="15801975" h="955040">
                  <a:moveTo>
                    <a:pt x="12372975" y="945349"/>
                  </a:moveTo>
                  <a:lnTo>
                    <a:pt x="12344400" y="945349"/>
                  </a:lnTo>
                  <a:lnTo>
                    <a:pt x="12344400" y="954874"/>
                  </a:lnTo>
                  <a:lnTo>
                    <a:pt x="12372975" y="954874"/>
                  </a:lnTo>
                  <a:lnTo>
                    <a:pt x="12372975" y="945349"/>
                  </a:lnTo>
                  <a:close/>
                </a:path>
                <a:path w="15801975" h="955040">
                  <a:moveTo>
                    <a:pt x="12430125" y="945349"/>
                  </a:moveTo>
                  <a:lnTo>
                    <a:pt x="12401550" y="945349"/>
                  </a:lnTo>
                  <a:lnTo>
                    <a:pt x="12401550" y="954874"/>
                  </a:lnTo>
                  <a:lnTo>
                    <a:pt x="12430125" y="954874"/>
                  </a:lnTo>
                  <a:lnTo>
                    <a:pt x="12430125" y="945349"/>
                  </a:lnTo>
                  <a:close/>
                </a:path>
                <a:path w="15801975" h="955040">
                  <a:moveTo>
                    <a:pt x="12487275" y="945349"/>
                  </a:moveTo>
                  <a:lnTo>
                    <a:pt x="12458700" y="945349"/>
                  </a:lnTo>
                  <a:lnTo>
                    <a:pt x="12458700" y="954874"/>
                  </a:lnTo>
                  <a:lnTo>
                    <a:pt x="12487275" y="954874"/>
                  </a:lnTo>
                  <a:lnTo>
                    <a:pt x="12487275" y="945349"/>
                  </a:lnTo>
                  <a:close/>
                </a:path>
                <a:path w="15801975" h="955040">
                  <a:moveTo>
                    <a:pt x="12544425" y="945349"/>
                  </a:moveTo>
                  <a:lnTo>
                    <a:pt x="12515850" y="945349"/>
                  </a:lnTo>
                  <a:lnTo>
                    <a:pt x="12515850" y="954874"/>
                  </a:lnTo>
                  <a:lnTo>
                    <a:pt x="12544425" y="954874"/>
                  </a:lnTo>
                  <a:lnTo>
                    <a:pt x="12544425" y="945349"/>
                  </a:lnTo>
                  <a:close/>
                </a:path>
                <a:path w="15801975" h="955040">
                  <a:moveTo>
                    <a:pt x="12601575" y="945349"/>
                  </a:moveTo>
                  <a:lnTo>
                    <a:pt x="12573000" y="945349"/>
                  </a:lnTo>
                  <a:lnTo>
                    <a:pt x="12573000" y="954874"/>
                  </a:lnTo>
                  <a:lnTo>
                    <a:pt x="12601575" y="954874"/>
                  </a:lnTo>
                  <a:lnTo>
                    <a:pt x="12601575" y="945349"/>
                  </a:lnTo>
                  <a:close/>
                </a:path>
                <a:path w="15801975" h="955040">
                  <a:moveTo>
                    <a:pt x="12658725" y="945349"/>
                  </a:moveTo>
                  <a:lnTo>
                    <a:pt x="12630150" y="945349"/>
                  </a:lnTo>
                  <a:lnTo>
                    <a:pt x="12630150" y="954874"/>
                  </a:lnTo>
                  <a:lnTo>
                    <a:pt x="12658725" y="954874"/>
                  </a:lnTo>
                  <a:lnTo>
                    <a:pt x="12658725" y="945349"/>
                  </a:lnTo>
                  <a:close/>
                </a:path>
                <a:path w="15801975" h="955040">
                  <a:moveTo>
                    <a:pt x="12715875" y="945349"/>
                  </a:moveTo>
                  <a:lnTo>
                    <a:pt x="12687300" y="945349"/>
                  </a:lnTo>
                  <a:lnTo>
                    <a:pt x="12687300" y="954874"/>
                  </a:lnTo>
                  <a:lnTo>
                    <a:pt x="12715875" y="954874"/>
                  </a:lnTo>
                  <a:lnTo>
                    <a:pt x="12715875" y="945349"/>
                  </a:lnTo>
                  <a:close/>
                </a:path>
                <a:path w="15801975" h="955040">
                  <a:moveTo>
                    <a:pt x="12773025" y="945349"/>
                  </a:moveTo>
                  <a:lnTo>
                    <a:pt x="12744450" y="945349"/>
                  </a:lnTo>
                  <a:lnTo>
                    <a:pt x="12744450" y="954874"/>
                  </a:lnTo>
                  <a:lnTo>
                    <a:pt x="12773025" y="954874"/>
                  </a:lnTo>
                  <a:lnTo>
                    <a:pt x="12773025" y="945349"/>
                  </a:lnTo>
                  <a:close/>
                </a:path>
                <a:path w="15801975" h="955040">
                  <a:moveTo>
                    <a:pt x="12830175" y="945349"/>
                  </a:moveTo>
                  <a:lnTo>
                    <a:pt x="12801600" y="945349"/>
                  </a:lnTo>
                  <a:lnTo>
                    <a:pt x="12801600" y="954874"/>
                  </a:lnTo>
                  <a:lnTo>
                    <a:pt x="12830175" y="954874"/>
                  </a:lnTo>
                  <a:lnTo>
                    <a:pt x="12830175" y="945349"/>
                  </a:lnTo>
                  <a:close/>
                </a:path>
                <a:path w="15801975" h="955040">
                  <a:moveTo>
                    <a:pt x="12887325" y="945349"/>
                  </a:moveTo>
                  <a:lnTo>
                    <a:pt x="12858750" y="945349"/>
                  </a:lnTo>
                  <a:lnTo>
                    <a:pt x="12858750" y="954874"/>
                  </a:lnTo>
                  <a:lnTo>
                    <a:pt x="12887325" y="954874"/>
                  </a:lnTo>
                  <a:lnTo>
                    <a:pt x="12887325" y="945349"/>
                  </a:lnTo>
                  <a:close/>
                </a:path>
                <a:path w="15801975" h="955040">
                  <a:moveTo>
                    <a:pt x="12944475" y="945349"/>
                  </a:moveTo>
                  <a:lnTo>
                    <a:pt x="12915900" y="945349"/>
                  </a:lnTo>
                  <a:lnTo>
                    <a:pt x="12915900" y="954874"/>
                  </a:lnTo>
                  <a:lnTo>
                    <a:pt x="12944475" y="954874"/>
                  </a:lnTo>
                  <a:lnTo>
                    <a:pt x="12944475" y="945349"/>
                  </a:lnTo>
                  <a:close/>
                </a:path>
                <a:path w="15801975" h="955040">
                  <a:moveTo>
                    <a:pt x="13001625" y="945349"/>
                  </a:moveTo>
                  <a:lnTo>
                    <a:pt x="12973050" y="945349"/>
                  </a:lnTo>
                  <a:lnTo>
                    <a:pt x="12973050" y="954874"/>
                  </a:lnTo>
                  <a:lnTo>
                    <a:pt x="13001625" y="954874"/>
                  </a:lnTo>
                  <a:lnTo>
                    <a:pt x="13001625" y="945349"/>
                  </a:lnTo>
                  <a:close/>
                </a:path>
                <a:path w="15801975" h="955040">
                  <a:moveTo>
                    <a:pt x="13058775" y="945349"/>
                  </a:moveTo>
                  <a:lnTo>
                    <a:pt x="13030200" y="945349"/>
                  </a:lnTo>
                  <a:lnTo>
                    <a:pt x="13030200" y="954874"/>
                  </a:lnTo>
                  <a:lnTo>
                    <a:pt x="13058775" y="954874"/>
                  </a:lnTo>
                  <a:lnTo>
                    <a:pt x="13058775" y="945349"/>
                  </a:lnTo>
                  <a:close/>
                </a:path>
                <a:path w="15801975" h="955040">
                  <a:moveTo>
                    <a:pt x="13115925" y="945349"/>
                  </a:moveTo>
                  <a:lnTo>
                    <a:pt x="13087350" y="945349"/>
                  </a:lnTo>
                  <a:lnTo>
                    <a:pt x="13087350" y="954874"/>
                  </a:lnTo>
                  <a:lnTo>
                    <a:pt x="13115925" y="954874"/>
                  </a:lnTo>
                  <a:lnTo>
                    <a:pt x="13115925" y="945349"/>
                  </a:lnTo>
                  <a:close/>
                </a:path>
                <a:path w="15801975" h="955040">
                  <a:moveTo>
                    <a:pt x="13173075" y="945349"/>
                  </a:moveTo>
                  <a:lnTo>
                    <a:pt x="13144500" y="945349"/>
                  </a:lnTo>
                  <a:lnTo>
                    <a:pt x="13144500" y="954874"/>
                  </a:lnTo>
                  <a:lnTo>
                    <a:pt x="13173075" y="954874"/>
                  </a:lnTo>
                  <a:lnTo>
                    <a:pt x="13173075" y="945349"/>
                  </a:lnTo>
                  <a:close/>
                </a:path>
                <a:path w="15801975" h="955040">
                  <a:moveTo>
                    <a:pt x="13230225" y="945349"/>
                  </a:moveTo>
                  <a:lnTo>
                    <a:pt x="13201650" y="945349"/>
                  </a:lnTo>
                  <a:lnTo>
                    <a:pt x="13201650" y="954874"/>
                  </a:lnTo>
                  <a:lnTo>
                    <a:pt x="13230225" y="954874"/>
                  </a:lnTo>
                  <a:lnTo>
                    <a:pt x="13230225" y="945349"/>
                  </a:lnTo>
                  <a:close/>
                </a:path>
                <a:path w="15801975" h="955040">
                  <a:moveTo>
                    <a:pt x="13287375" y="945349"/>
                  </a:moveTo>
                  <a:lnTo>
                    <a:pt x="13258800" y="945349"/>
                  </a:lnTo>
                  <a:lnTo>
                    <a:pt x="13258800" y="954874"/>
                  </a:lnTo>
                  <a:lnTo>
                    <a:pt x="13287375" y="954874"/>
                  </a:lnTo>
                  <a:lnTo>
                    <a:pt x="13287375" y="945349"/>
                  </a:lnTo>
                  <a:close/>
                </a:path>
                <a:path w="15801975" h="955040">
                  <a:moveTo>
                    <a:pt x="13344525" y="945349"/>
                  </a:moveTo>
                  <a:lnTo>
                    <a:pt x="13315950" y="945349"/>
                  </a:lnTo>
                  <a:lnTo>
                    <a:pt x="13315950" y="954874"/>
                  </a:lnTo>
                  <a:lnTo>
                    <a:pt x="13344525" y="954874"/>
                  </a:lnTo>
                  <a:lnTo>
                    <a:pt x="13344525" y="945349"/>
                  </a:lnTo>
                  <a:close/>
                </a:path>
                <a:path w="15801975" h="955040">
                  <a:moveTo>
                    <a:pt x="13401675" y="945349"/>
                  </a:moveTo>
                  <a:lnTo>
                    <a:pt x="13373100" y="945349"/>
                  </a:lnTo>
                  <a:lnTo>
                    <a:pt x="13373100" y="954874"/>
                  </a:lnTo>
                  <a:lnTo>
                    <a:pt x="13401675" y="954874"/>
                  </a:lnTo>
                  <a:lnTo>
                    <a:pt x="13401675" y="945349"/>
                  </a:lnTo>
                  <a:close/>
                </a:path>
                <a:path w="15801975" h="955040">
                  <a:moveTo>
                    <a:pt x="13458825" y="945349"/>
                  </a:moveTo>
                  <a:lnTo>
                    <a:pt x="13430250" y="945349"/>
                  </a:lnTo>
                  <a:lnTo>
                    <a:pt x="13430250" y="954874"/>
                  </a:lnTo>
                  <a:lnTo>
                    <a:pt x="13458825" y="954874"/>
                  </a:lnTo>
                  <a:lnTo>
                    <a:pt x="13458825" y="945349"/>
                  </a:lnTo>
                  <a:close/>
                </a:path>
                <a:path w="15801975" h="955040">
                  <a:moveTo>
                    <a:pt x="13515975" y="945349"/>
                  </a:moveTo>
                  <a:lnTo>
                    <a:pt x="13487400" y="945349"/>
                  </a:lnTo>
                  <a:lnTo>
                    <a:pt x="13487400" y="954874"/>
                  </a:lnTo>
                  <a:lnTo>
                    <a:pt x="13515975" y="954874"/>
                  </a:lnTo>
                  <a:lnTo>
                    <a:pt x="13515975" y="945349"/>
                  </a:lnTo>
                  <a:close/>
                </a:path>
                <a:path w="15801975" h="955040">
                  <a:moveTo>
                    <a:pt x="13573125" y="945349"/>
                  </a:moveTo>
                  <a:lnTo>
                    <a:pt x="13544550" y="945349"/>
                  </a:lnTo>
                  <a:lnTo>
                    <a:pt x="13544550" y="954874"/>
                  </a:lnTo>
                  <a:lnTo>
                    <a:pt x="13573125" y="954874"/>
                  </a:lnTo>
                  <a:lnTo>
                    <a:pt x="13573125" y="945349"/>
                  </a:lnTo>
                  <a:close/>
                </a:path>
                <a:path w="15801975" h="955040">
                  <a:moveTo>
                    <a:pt x="13630275" y="945349"/>
                  </a:moveTo>
                  <a:lnTo>
                    <a:pt x="13601700" y="945349"/>
                  </a:lnTo>
                  <a:lnTo>
                    <a:pt x="13601700" y="954874"/>
                  </a:lnTo>
                  <a:lnTo>
                    <a:pt x="13630275" y="954874"/>
                  </a:lnTo>
                  <a:lnTo>
                    <a:pt x="13630275" y="945349"/>
                  </a:lnTo>
                  <a:close/>
                </a:path>
                <a:path w="15801975" h="955040">
                  <a:moveTo>
                    <a:pt x="13687425" y="945349"/>
                  </a:moveTo>
                  <a:lnTo>
                    <a:pt x="13658850" y="945349"/>
                  </a:lnTo>
                  <a:lnTo>
                    <a:pt x="13658850" y="954874"/>
                  </a:lnTo>
                  <a:lnTo>
                    <a:pt x="13687425" y="954874"/>
                  </a:lnTo>
                  <a:lnTo>
                    <a:pt x="13687425" y="945349"/>
                  </a:lnTo>
                  <a:close/>
                </a:path>
                <a:path w="15801975" h="955040">
                  <a:moveTo>
                    <a:pt x="13744575" y="945349"/>
                  </a:moveTo>
                  <a:lnTo>
                    <a:pt x="13716000" y="945349"/>
                  </a:lnTo>
                  <a:lnTo>
                    <a:pt x="13716000" y="954874"/>
                  </a:lnTo>
                  <a:lnTo>
                    <a:pt x="13744575" y="954874"/>
                  </a:lnTo>
                  <a:lnTo>
                    <a:pt x="13744575" y="945349"/>
                  </a:lnTo>
                  <a:close/>
                </a:path>
                <a:path w="15801975" h="955040">
                  <a:moveTo>
                    <a:pt x="13801725" y="945349"/>
                  </a:moveTo>
                  <a:lnTo>
                    <a:pt x="13773150" y="945349"/>
                  </a:lnTo>
                  <a:lnTo>
                    <a:pt x="13773150" y="954874"/>
                  </a:lnTo>
                  <a:lnTo>
                    <a:pt x="13801725" y="954874"/>
                  </a:lnTo>
                  <a:lnTo>
                    <a:pt x="13801725" y="945349"/>
                  </a:lnTo>
                  <a:close/>
                </a:path>
                <a:path w="15801975" h="955040">
                  <a:moveTo>
                    <a:pt x="13858875" y="945349"/>
                  </a:moveTo>
                  <a:lnTo>
                    <a:pt x="13830300" y="945349"/>
                  </a:lnTo>
                  <a:lnTo>
                    <a:pt x="13830300" y="954874"/>
                  </a:lnTo>
                  <a:lnTo>
                    <a:pt x="13858875" y="954874"/>
                  </a:lnTo>
                  <a:lnTo>
                    <a:pt x="13858875" y="945349"/>
                  </a:lnTo>
                  <a:close/>
                </a:path>
                <a:path w="15801975" h="955040">
                  <a:moveTo>
                    <a:pt x="13916025" y="945349"/>
                  </a:moveTo>
                  <a:lnTo>
                    <a:pt x="13887450" y="945349"/>
                  </a:lnTo>
                  <a:lnTo>
                    <a:pt x="13887450" y="954874"/>
                  </a:lnTo>
                  <a:lnTo>
                    <a:pt x="13916025" y="954874"/>
                  </a:lnTo>
                  <a:lnTo>
                    <a:pt x="13916025" y="945349"/>
                  </a:lnTo>
                  <a:close/>
                </a:path>
                <a:path w="15801975" h="955040">
                  <a:moveTo>
                    <a:pt x="13973175" y="945349"/>
                  </a:moveTo>
                  <a:lnTo>
                    <a:pt x="13944600" y="945349"/>
                  </a:lnTo>
                  <a:lnTo>
                    <a:pt x="13944600" y="954874"/>
                  </a:lnTo>
                  <a:lnTo>
                    <a:pt x="13973175" y="954874"/>
                  </a:lnTo>
                  <a:lnTo>
                    <a:pt x="13973175" y="945349"/>
                  </a:lnTo>
                  <a:close/>
                </a:path>
                <a:path w="15801975" h="955040">
                  <a:moveTo>
                    <a:pt x="14030325" y="945349"/>
                  </a:moveTo>
                  <a:lnTo>
                    <a:pt x="14001750" y="945349"/>
                  </a:lnTo>
                  <a:lnTo>
                    <a:pt x="14001750" y="954874"/>
                  </a:lnTo>
                  <a:lnTo>
                    <a:pt x="14030325" y="954874"/>
                  </a:lnTo>
                  <a:lnTo>
                    <a:pt x="14030325" y="945349"/>
                  </a:lnTo>
                  <a:close/>
                </a:path>
                <a:path w="15801975" h="955040">
                  <a:moveTo>
                    <a:pt x="14087475" y="945349"/>
                  </a:moveTo>
                  <a:lnTo>
                    <a:pt x="14058900" y="945349"/>
                  </a:lnTo>
                  <a:lnTo>
                    <a:pt x="14058900" y="954874"/>
                  </a:lnTo>
                  <a:lnTo>
                    <a:pt x="14087475" y="954874"/>
                  </a:lnTo>
                  <a:lnTo>
                    <a:pt x="14087475" y="945349"/>
                  </a:lnTo>
                  <a:close/>
                </a:path>
                <a:path w="15801975" h="955040">
                  <a:moveTo>
                    <a:pt x="14144625" y="945349"/>
                  </a:moveTo>
                  <a:lnTo>
                    <a:pt x="14116050" y="945349"/>
                  </a:lnTo>
                  <a:lnTo>
                    <a:pt x="14116050" y="954874"/>
                  </a:lnTo>
                  <a:lnTo>
                    <a:pt x="14144625" y="954874"/>
                  </a:lnTo>
                  <a:lnTo>
                    <a:pt x="14144625" y="945349"/>
                  </a:lnTo>
                  <a:close/>
                </a:path>
                <a:path w="15801975" h="955040">
                  <a:moveTo>
                    <a:pt x="14201775" y="945349"/>
                  </a:moveTo>
                  <a:lnTo>
                    <a:pt x="14173200" y="945349"/>
                  </a:lnTo>
                  <a:lnTo>
                    <a:pt x="14173200" y="954874"/>
                  </a:lnTo>
                  <a:lnTo>
                    <a:pt x="14201775" y="954874"/>
                  </a:lnTo>
                  <a:lnTo>
                    <a:pt x="14201775" y="945349"/>
                  </a:lnTo>
                  <a:close/>
                </a:path>
                <a:path w="15801975" h="955040">
                  <a:moveTo>
                    <a:pt x="14258925" y="945349"/>
                  </a:moveTo>
                  <a:lnTo>
                    <a:pt x="14230350" y="945349"/>
                  </a:lnTo>
                  <a:lnTo>
                    <a:pt x="14230350" y="954874"/>
                  </a:lnTo>
                  <a:lnTo>
                    <a:pt x="14258925" y="954874"/>
                  </a:lnTo>
                  <a:lnTo>
                    <a:pt x="14258925" y="945349"/>
                  </a:lnTo>
                  <a:close/>
                </a:path>
                <a:path w="15801975" h="955040">
                  <a:moveTo>
                    <a:pt x="14316075" y="945349"/>
                  </a:moveTo>
                  <a:lnTo>
                    <a:pt x="14287500" y="945349"/>
                  </a:lnTo>
                  <a:lnTo>
                    <a:pt x="14287500" y="954874"/>
                  </a:lnTo>
                  <a:lnTo>
                    <a:pt x="14316075" y="954874"/>
                  </a:lnTo>
                  <a:lnTo>
                    <a:pt x="14316075" y="945349"/>
                  </a:lnTo>
                  <a:close/>
                </a:path>
                <a:path w="15801975" h="955040">
                  <a:moveTo>
                    <a:pt x="14373225" y="945349"/>
                  </a:moveTo>
                  <a:lnTo>
                    <a:pt x="14344650" y="945349"/>
                  </a:lnTo>
                  <a:lnTo>
                    <a:pt x="14344650" y="954874"/>
                  </a:lnTo>
                  <a:lnTo>
                    <a:pt x="14373225" y="954874"/>
                  </a:lnTo>
                  <a:lnTo>
                    <a:pt x="14373225" y="945349"/>
                  </a:lnTo>
                  <a:close/>
                </a:path>
                <a:path w="15801975" h="955040">
                  <a:moveTo>
                    <a:pt x="14430375" y="945349"/>
                  </a:moveTo>
                  <a:lnTo>
                    <a:pt x="14401800" y="945349"/>
                  </a:lnTo>
                  <a:lnTo>
                    <a:pt x="14401800" y="954874"/>
                  </a:lnTo>
                  <a:lnTo>
                    <a:pt x="14430375" y="954874"/>
                  </a:lnTo>
                  <a:lnTo>
                    <a:pt x="14430375" y="945349"/>
                  </a:lnTo>
                  <a:close/>
                </a:path>
                <a:path w="15801975" h="955040">
                  <a:moveTo>
                    <a:pt x="14487525" y="945349"/>
                  </a:moveTo>
                  <a:lnTo>
                    <a:pt x="14458950" y="945349"/>
                  </a:lnTo>
                  <a:lnTo>
                    <a:pt x="14458950" y="954874"/>
                  </a:lnTo>
                  <a:lnTo>
                    <a:pt x="14487525" y="954874"/>
                  </a:lnTo>
                  <a:lnTo>
                    <a:pt x="14487525" y="945349"/>
                  </a:lnTo>
                  <a:close/>
                </a:path>
                <a:path w="15801975" h="955040">
                  <a:moveTo>
                    <a:pt x="14544675" y="945349"/>
                  </a:moveTo>
                  <a:lnTo>
                    <a:pt x="14516100" y="945349"/>
                  </a:lnTo>
                  <a:lnTo>
                    <a:pt x="14516100" y="954874"/>
                  </a:lnTo>
                  <a:lnTo>
                    <a:pt x="14544675" y="954874"/>
                  </a:lnTo>
                  <a:lnTo>
                    <a:pt x="14544675" y="945349"/>
                  </a:lnTo>
                  <a:close/>
                </a:path>
                <a:path w="15801975" h="955040">
                  <a:moveTo>
                    <a:pt x="14601825" y="945349"/>
                  </a:moveTo>
                  <a:lnTo>
                    <a:pt x="14573250" y="945349"/>
                  </a:lnTo>
                  <a:lnTo>
                    <a:pt x="14573250" y="954874"/>
                  </a:lnTo>
                  <a:lnTo>
                    <a:pt x="14601825" y="954874"/>
                  </a:lnTo>
                  <a:lnTo>
                    <a:pt x="14601825" y="945349"/>
                  </a:lnTo>
                  <a:close/>
                </a:path>
                <a:path w="15801975" h="955040">
                  <a:moveTo>
                    <a:pt x="14658975" y="945349"/>
                  </a:moveTo>
                  <a:lnTo>
                    <a:pt x="14630400" y="945349"/>
                  </a:lnTo>
                  <a:lnTo>
                    <a:pt x="14630400" y="954874"/>
                  </a:lnTo>
                  <a:lnTo>
                    <a:pt x="14658975" y="954874"/>
                  </a:lnTo>
                  <a:lnTo>
                    <a:pt x="14658975" y="945349"/>
                  </a:lnTo>
                  <a:close/>
                </a:path>
                <a:path w="15801975" h="955040">
                  <a:moveTo>
                    <a:pt x="14716125" y="945349"/>
                  </a:moveTo>
                  <a:lnTo>
                    <a:pt x="14687550" y="945349"/>
                  </a:lnTo>
                  <a:lnTo>
                    <a:pt x="14687550" y="954874"/>
                  </a:lnTo>
                  <a:lnTo>
                    <a:pt x="14716125" y="954874"/>
                  </a:lnTo>
                  <a:lnTo>
                    <a:pt x="14716125" y="945349"/>
                  </a:lnTo>
                  <a:close/>
                </a:path>
                <a:path w="15801975" h="955040">
                  <a:moveTo>
                    <a:pt x="14773275" y="945349"/>
                  </a:moveTo>
                  <a:lnTo>
                    <a:pt x="14744700" y="945349"/>
                  </a:lnTo>
                  <a:lnTo>
                    <a:pt x="14744700" y="954874"/>
                  </a:lnTo>
                  <a:lnTo>
                    <a:pt x="14773275" y="954874"/>
                  </a:lnTo>
                  <a:lnTo>
                    <a:pt x="14773275" y="945349"/>
                  </a:lnTo>
                  <a:close/>
                </a:path>
                <a:path w="15801975" h="955040">
                  <a:moveTo>
                    <a:pt x="14830425" y="945349"/>
                  </a:moveTo>
                  <a:lnTo>
                    <a:pt x="14801850" y="945349"/>
                  </a:lnTo>
                  <a:lnTo>
                    <a:pt x="14801850" y="954874"/>
                  </a:lnTo>
                  <a:lnTo>
                    <a:pt x="14830425" y="954874"/>
                  </a:lnTo>
                  <a:lnTo>
                    <a:pt x="14830425" y="945349"/>
                  </a:lnTo>
                  <a:close/>
                </a:path>
                <a:path w="15801975" h="955040">
                  <a:moveTo>
                    <a:pt x="14887575" y="945349"/>
                  </a:moveTo>
                  <a:lnTo>
                    <a:pt x="14859000" y="945349"/>
                  </a:lnTo>
                  <a:lnTo>
                    <a:pt x="14859000" y="954874"/>
                  </a:lnTo>
                  <a:lnTo>
                    <a:pt x="14887575" y="954874"/>
                  </a:lnTo>
                  <a:lnTo>
                    <a:pt x="14887575" y="945349"/>
                  </a:lnTo>
                  <a:close/>
                </a:path>
                <a:path w="15801975" h="955040">
                  <a:moveTo>
                    <a:pt x="14944725" y="945349"/>
                  </a:moveTo>
                  <a:lnTo>
                    <a:pt x="14916150" y="945349"/>
                  </a:lnTo>
                  <a:lnTo>
                    <a:pt x="14916150" y="954874"/>
                  </a:lnTo>
                  <a:lnTo>
                    <a:pt x="14944725" y="954874"/>
                  </a:lnTo>
                  <a:lnTo>
                    <a:pt x="14944725" y="945349"/>
                  </a:lnTo>
                  <a:close/>
                </a:path>
                <a:path w="15801975" h="955040">
                  <a:moveTo>
                    <a:pt x="15001875" y="945349"/>
                  </a:moveTo>
                  <a:lnTo>
                    <a:pt x="14973300" y="945349"/>
                  </a:lnTo>
                  <a:lnTo>
                    <a:pt x="14973300" y="954874"/>
                  </a:lnTo>
                  <a:lnTo>
                    <a:pt x="15001875" y="954874"/>
                  </a:lnTo>
                  <a:lnTo>
                    <a:pt x="15001875" y="945349"/>
                  </a:lnTo>
                  <a:close/>
                </a:path>
                <a:path w="15801975" h="955040">
                  <a:moveTo>
                    <a:pt x="15059025" y="945349"/>
                  </a:moveTo>
                  <a:lnTo>
                    <a:pt x="15030450" y="945349"/>
                  </a:lnTo>
                  <a:lnTo>
                    <a:pt x="15030450" y="954874"/>
                  </a:lnTo>
                  <a:lnTo>
                    <a:pt x="15059025" y="954874"/>
                  </a:lnTo>
                  <a:lnTo>
                    <a:pt x="15059025" y="945349"/>
                  </a:lnTo>
                  <a:close/>
                </a:path>
                <a:path w="15801975" h="955040">
                  <a:moveTo>
                    <a:pt x="15116175" y="945349"/>
                  </a:moveTo>
                  <a:lnTo>
                    <a:pt x="15087600" y="945349"/>
                  </a:lnTo>
                  <a:lnTo>
                    <a:pt x="15087600" y="954874"/>
                  </a:lnTo>
                  <a:lnTo>
                    <a:pt x="15116175" y="954874"/>
                  </a:lnTo>
                  <a:lnTo>
                    <a:pt x="15116175" y="945349"/>
                  </a:lnTo>
                  <a:close/>
                </a:path>
                <a:path w="15801975" h="955040">
                  <a:moveTo>
                    <a:pt x="15173325" y="945349"/>
                  </a:moveTo>
                  <a:lnTo>
                    <a:pt x="15144750" y="945349"/>
                  </a:lnTo>
                  <a:lnTo>
                    <a:pt x="15144750" y="954874"/>
                  </a:lnTo>
                  <a:lnTo>
                    <a:pt x="15173325" y="954874"/>
                  </a:lnTo>
                  <a:lnTo>
                    <a:pt x="15173325" y="945349"/>
                  </a:lnTo>
                  <a:close/>
                </a:path>
                <a:path w="15801975" h="955040">
                  <a:moveTo>
                    <a:pt x="15230475" y="945349"/>
                  </a:moveTo>
                  <a:lnTo>
                    <a:pt x="15201900" y="945349"/>
                  </a:lnTo>
                  <a:lnTo>
                    <a:pt x="15201900" y="954874"/>
                  </a:lnTo>
                  <a:lnTo>
                    <a:pt x="15230475" y="954874"/>
                  </a:lnTo>
                  <a:lnTo>
                    <a:pt x="15230475" y="945349"/>
                  </a:lnTo>
                  <a:close/>
                </a:path>
                <a:path w="15801975" h="955040">
                  <a:moveTo>
                    <a:pt x="15287625" y="945349"/>
                  </a:moveTo>
                  <a:lnTo>
                    <a:pt x="15259050" y="945349"/>
                  </a:lnTo>
                  <a:lnTo>
                    <a:pt x="15259050" y="954874"/>
                  </a:lnTo>
                  <a:lnTo>
                    <a:pt x="15287625" y="954874"/>
                  </a:lnTo>
                  <a:lnTo>
                    <a:pt x="15287625" y="945349"/>
                  </a:lnTo>
                  <a:close/>
                </a:path>
                <a:path w="15801975" h="955040">
                  <a:moveTo>
                    <a:pt x="15344775" y="945349"/>
                  </a:moveTo>
                  <a:lnTo>
                    <a:pt x="15316200" y="945349"/>
                  </a:lnTo>
                  <a:lnTo>
                    <a:pt x="15316200" y="954874"/>
                  </a:lnTo>
                  <a:lnTo>
                    <a:pt x="15344775" y="954874"/>
                  </a:lnTo>
                  <a:lnTo>
                    <a:pt x="15344775" y="945349"/>
                  </a:lnTo>
                  <a:close/>
                </a:path>
                <a:path w="15801975" h="955040">
                  <a:moveTo>
                    <a:pt x="15401925" y="945349"/>
                  </a:moveTo>
                  <a:lnTo>
                    <a:pt x="15373350" y="945349"/>
                  </a:lnTo>
                  <a:lnTo>
                    <a:pt x="15373350" y="954874"/>
                  </a:lnTo>
                  <a:lnTo>
                    <a:pt x="15401925" y="954874"/>
                  </a:lnTo>
                  <a:lnTo>
                    <a:pt x="15401925" y="945349"/>
                  </a:lnTo>
                  <a:close/>
                </a:path>
                <a:path w="15801975" h="955040">
                  <a:moveTo>
                    <a:pt x="15459075" y="945349"/>
                  </a:moveTo>
                  <a:lnTo>
                    <a:pt x="15430500" y="945349"/>
                  </a:lnTo>
                  <a:lnTo>
                    <a:pt x="15430500" y="954874"/>
                  </a:lnTo>
                  <a:lnTo>
                    <a:pt x="15459075" y="954874"/>
                  </a:lnTo>
                  <a:lnTo>
                    <a:pt x="15459075" y="945349"/>
                  </a:lnTo>
                  <a:close/>
                </a:path>
                <a:path w="15801975" h="955040">
                  <a:moveTo>
                    <a:pt x="15516225" y="945349"/>
                  </a:moveTo>
                  <a:lnTo>
                    <a:pt x="15487650" y="945349"/>
                  </a:lnTo>
                  <a:lnTo>
                    <a:pt x="15487650" y="954874"/>
                  </a:lnTo>
                  <a:lnTo>
                    <a:pt x="15516225" y="954874"/>
                  </a:lnTo>
                  <a:lnTo>
                    <a:pt x="15516225" y="945349"/>
                  </a:lnTo>
                  <a:close/>
                </a:path>
                <a:path w="15801975" h="955040">
                  <a:moveTo>
                    <a:pt x="15573375" y="945349"/>
                  </a:moveTo>
                  <a:lnTo>
                    <a:pt x="15544800" y="945349"/>
                  </a:lnTo>
                  <a:lnTo>
                    <a:pt x="15544800" y="954874"/>
                  </a:lnTo>
                  <a:lnTo>
                    <a:pt x="15573375" y="954874"/>
                  </a:lnTo>
                  <a:lnTo>
                    <a:pt x="15573375" y="945349"/>
                  </a:lnTo>
                  <a:close/>
                </a:path>
                <a:path w="15801975" h="955040">
                  <a:moveTo>
                    <a:pt x="15630525" y="945349"/>
                  </a:moveTo>
                  <a:lnTo>
                    <a:pt x="15601950" y="945349"/>
                  </a:lnTo>
                  <a:lnTo>
                    <a:pt x="15601950" y="954874"/>
                  </a:lnTo>
                  <a:lnTo>
                    <a:pt x="15630525" y="954874"/>
                  </a:lnTo>
                  <a:lnTo>
                    <a:pt x="15630525" y="945349"/>
                  </a:lnTo>
                  <a:close/>
                </a:path>
                <a:path w="15801975" h="955040">
                  <a:moveTo>
                    <a:pt x="15687675" y="945349"/>
                  </a:moveTo>
                  <a:lnTo>
                    <a:pt x="15659100" y="945349"/>
                  </a:lnTo>
                  <a:lnTo>
                    <a:pt x="15659100" y="954874"/>
                  </a:lnTo>
                  <a:lnTo>
                    <a:pt x="15687675" y="954874"/>
                  </a:lnTo>
                  <a:lnTo>
                    <a:pt x="15687675" y="945349"/>
                  </a:lnTo>
                  <a:close/>
                </a:path>
                <a:path w="15801975" h="955040">
                  <a:moveTo>
                    <a:pt x="15744825" y="945349"/>
                  </a:moveTo>
                  <a:lnTo>
                    <a:pt x="15716250" y="945349"/>
                  </a:lnTo>
                  <a:lnTo>
                    <a:pt x="15716250" y="954874"/>
                  </a:lnTo>
                  <a:lnTo>
                    <a:pt x="15744825" y="954874"/>
                  </a:lnTo>
                  <a:lnTo>
                    <a:pt x="15744825" y="945349"/>
                  </a:lnTo>
                  <a:close/>
                </a:path>
                <a:path w="15801975" h="955040">
                  <a:moveTo>
                    <a:pt x="15801975" y="945349"/>
                  </a:moveTo>
                  <a:lnTo>
                    <a:pt x="15773400" y="945349"/>
                  </a:lnTo>
                  <a:lnTo>
                    <a:pt x="15773400" y="954874"/>
                  </a:lnTo>
                  <a:lnTo>
                    <a:pt x="15801975" y="954874"/>
                  </a:lnTo>
                  <a:lnTo>
                    <a:pt x="15801975" y="945349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8300" y="687706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38800" y="687706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39300" y="6877062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6850" y="5931699"/>
              <a:ext cx="15801975" cy="955040"/>
            </a:xfrm>
            <a:custGeom>
              <a:avLst/>
              <a:gdLst/>
              <a:ahLst/>
              <a:cxnLst/>
              <a:rect l="l" t="t" r="r" b="b"/>
              <a:pathLst>
                <a:path w="15801975" h="955040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15801975" h="955040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15801975" h="955040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15801975" h="955040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15801975" h="955040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15801975" h="955040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15801975" h="955040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15801975" h="955040">
                  <a:moveTo>
                    <a:pt x="12201525" y="945362"/>
                  </a:moveTo>
                  <a:lnTo>
                    <a:pt x="12172950" y="945362"/>
                  </a:lnTo>
                  <a:lnTo>
                    <a:pt x="12172950" y="954887"/>
                  </a:lnTo>
                  <a:lnTo>
                    <a:pt x="12201525" y="954887"/>
                  </a:lnTo>
                  <a:lnTo>
                    <a:pt x="12201525" y="945362"/>
                  </a:lnTo>
                  <a:close/>
                </a:path>
                <a:path w="15801975" h="955040">
                  <a:moveTo>
                    <a:pt x="12258675" y="945362"/>
                  </a:moveTo>
                  <a:lnTo>
                    <a:pt x="12230100" y="945362"/>
                  </a:lnTo>
                  <a:lnTo>
                    <a:pt x="12230100" y="954887"/>
                  </a:lnTo>
                  <a:lnTo>
                    <a:pt x="12258675" y="954887"/>
                  </a:lnTo>
                  <a:lnTo>
                    <a:pt x="12258675" y="945362"/>
                  </a:lnTo>
                  <a:close/>
                </a:path>
                <a:path w="15801975" h="955040">
                  <a:moveTo>
                    <a:pt x="12315825" y="945362"/>
                  </a:moveTo>
                  <a:lnTo>
                    <a:pt x="12287250" y="945362"/>
                  </a:lnTo>
                  <a:lnTo>
                    <a:pt x="12287250" y="954887"/>
                  </a:lnTo>
                  <a:lnTo>
                    <a:pt x="12315825" y="954887"/>
                  </a:lnTo>
                  <a:lnTo>
                    <a:pt x="12315825" y="945362"/>
                  </a:lnTo>
                  <a:close/>
                </a:path>
                <a:path w="15801975" h="955040">
                  <a:moveTo>
                    <a:pt x="12372975" y="945362"/>
                  </a:moveTo>
                  <a:lnTo>
                    <a:pt x="12344400" y="945362"/>
                  </a:lnTo>
                  <a:lnTo>
                    <a:pt x="12344400" y="954887"/>
                  </a:lnTo>
                  <a:lnTo>
                    <a:pt x="12372975" y="954887"/>
                  </a:lnTo>
                  <a:lnTo>
                    <a:pt x="12372975" y="945362"/>
                  </a:lnTo>
                  <a:close/>
                </a:path>
                <a:path w="15801975" h="955040">
                  <a:moveTo>
                    <a:pt x="12430125" y="945362"/>
                  </a:moveTo>
                  <a:lnTo>
                    <a:pt x="12401550" y="945362"/>
                  </a:lnTo>
                  <a:lnTo>
                    <a:pt x="12401550" y="954887"/>
                  </a:lnTo>
                  <a:lnTo>
                    <a:pt x="12430125" y="954887"/>
                  </a:lnTo>
                  <a:lnTo>
                    <a:pt x="12430125" y="945362"/>
                  </a:lnTo>
                  <a:close/>
                </a:path>
                <a:path w="15801975" h="955040">
                  <a:moveTo>
                    <a:pt x="12487275" y="945362"/>
                  </a:moveTo>
                  <a:lnTo>
                    <a:pt x="12458700" y="945362"/>
                  </a:lnTo>
                  <a:lnTo>
                    <a:pt x="12458700" y="954887"/>
                  </a:lnTo>
                  <a:lnTo>
                    <a:pt x="12487275" y="954887"/>
                  </a:lnTo>
                  <a:lnTo>
                    <a:pt x="12487275" y="945362"/>
                  </a:lnTo>
                  <a:close/>
                </a:path>
                <a:path w="15801975" h="955040">
                  <a:moveTo>
                    <a:pt x="12544425" y="945362"/>
                  </a:moveTo>
                  <a:lnTo>
                    <a:pt x="12515850" y="945362"/>
                  </a:lnTo>
                  <a:lnTo>
                    <a:pt x="12515850" y="954887"/>
                  </a:lnTo>
                  <a:lnTo>
                    <a:pt x="12544425" y="954887"/>
                  </a:lnTo>
                  <a:lnTo>
                    <a:pt x="12544425" y="945362"/>
                  </a:lnTo>
                  <a:close/>
                </a:path>
                <a:path w="15801975" h="955040">
                  <a:moveTo>
                    <a:pt x="12601575" y="945362"/>
                  </a:moveTo>
                  <a:lnTo>
                    <a:pt x="12573000" y="945362"/>
                  </a:lnTo>
                  <a:lnTo>
                    <a:pt x="12573000" y="954887"/>
                  </a:lnTo>
                  <a:lnTo>
                    <a:pt x="12601575" y="954887"/>
                  </a:lnTo>
                  <a:lnTo>
                    <a:pt x="12601575" y="945362"/>
                  </a:lnTo>
                  <a:close/>
                </a:path>
                <a:path w="15801975" h="955040">
                  <a:moveTo>
                    <a:pt x="12658725" y="945362"/>
                  </a:moveTo>
                  <a:lnTo>
                    <a:pt x="12630150" y="945362"/>
                  </a:lnTo>
                  <a:lnTo>
                    <a:pt x="12630150" y="954887"/>
                  </a:lnTo>
                  <a:lnTo>
                    <a:pt x="12658725" y="954887"/>
                  </a:lnTo>
                  <a:lnTo>
                    <a:pt x="12658725" y="945362"/>
                  </a:lnTo>
                  <a:close/>
                </a:path>
                <a:path w="15801975" h="955040">
                  <a:moveTo>
                    <a:pt x="12715875" y="945362"/>
                  </a:moveTo>
                  <a:lnTo>
                    <a:pt x="12687300" y="945362"/>
                  </a:lnTo>
                  <a:lnTo>
                    <a:pt x="12687300" y="954887"/>
                  </a:lnTo>
                  <a:lnTo>
                    <a:pt x="12715875" y="954887"/>
                  </a:lnTo>
                  <a:lnTo>
                    <a:pt x="12715875" y="945362"/>
                  </a:lnTo>
                  <a:close/>
                </a:path>
                <a:path w="15801975" h="955040">
                  <a:moveTo>
                    <a:pt x="12773025" y="945362"/>
                  </a:moveTo>
                  <a:lnTo>
                    <a:pt x="12744450" y="945362"/>
                  </a:lnTo>
                  <a:lnTo>
                    <a:pt x="12744450" y="954887"/>
                  </a:lnTo>
                  <a:lnTo>
                    <a:pt x="12773025" y="954887"/>
                  </a:lnTo>
                  <a:lnTo>
                    <a:pt x="12773025" y="945362"/>
                  </a:lnTo>
                  <a:close/>
                </a:path>
                <a:path w="15801975" h="955040">
                  <a:moveTo>
                    <a:pt x="12830175" y="945362"/>
                  </a:moveTo>
                  <a:lnTo>
                    <a:pt x="12801600" y="945362"/>
                  </a:lnTo>
                  <a:lnTo>
                    <a:pt x="12801600" y="954887"/>
                  </a:lnTo>
                  <a:lnTo>
                    <a:pt x="12830175" y="954887"/>
                  </a:lnTo>
                  <a:lnTo>
                    <a:pt x="12830175" y="945362"/>
                  </a:lnTo>
                  <a:close/>
                </a:path>
                <a:path w="15801975" h="955040">
                  <a:moveTo>
                    <a:pt x="12887325" y="945362"/>
                  </a:moveTo>
                  <a:lnTo>
                    <a:pt x="12858750" y="945362"/>
                  </a:lnTo>
                  <a:lnTo>
                    <a:pt x="12858750" y="954887"/>
                  </a:lnTo>
                  <a:lnTo>
                    <a:pt x="12887325" y="954887"/>
                  </a:lnTo>
                  <a:lnTo>
                    <a:pt x="12887325" y="945362"/>
                  </a:lnTo>
                  <a:close/>
                </a:path>
                <a:path w="15801975" h="955040">
                  <a:moveTo>
                    <a:pt x="12944475" y="945362"/>
                  </a:moveTo>
                  <a:lnTo>
                    <a:pt x="12915900" y="945362"/>
                  </a:lnTo>
                  <a:lnTo>
                    <a:pt x="12915900" y="954887"/>
                  </a:lnTo>
                  <a:lnTo>
                    <a:pt x="12944475" y="954887"/>
                  </a:lnTo>
                  <a:lnTo>
                    <a:pt x="12944475" y="945362"/>
                  </a:lnTo>
                  <a:close/>
                </a:path>
                <a:path w="15801975" h="955040">
                  <a:moveTo>
                    <a:pt x="13001625" y="945362"/>
                  </a:moveTo>
                  <a:lnTo>
                    <a:pt x="12973050" y="945362"/>
                  </a:lnTo>
                  <a:lnTo>
                    <a:pt x="12973050" y="954887"/>
                  </a:lnTo>
                  <a:lnTo>
                    <a:pt x="13001625" y="954887"/>
                  </a:lnTo>
                  <a:lnTo>
                    <a:pt x="13001625" y="945362"/>
                  </a:lnTo>
                  <a:close/>
                </a:path>
                <a:path w="15801975" h="955040">
                  <a:moveTo>
                    <a:pt x="13058775" y="945362"/>
                  </a:moveTo>
                  <a:lnTo>
                    <a:pt x="13030200" y="945362"/>
                  </a:lnTo>
                  <a:lnTo>
                    <a:pt x="13030200" y="954887"/>
                  </a:lnTo>
                  <a:lnTo>
                    <a:pt x="13058775" y="954887"/>
                  </a:lnTo>
                  <a:lnTo>
                    <a:pt x="13058775" y="945362"/>
                  </a:lnTo>
                  <a:close/>
                </a:path>
                <a:path w="15801975" h="955040">
                  <a:moveTo>
                    <a:pt x="13115925" y="945362"/>
                  </a:moveTo>
                  <a:lnTo>
                    <a:pt x="13087350" y="945362"/>
                  </a:lnTo>
                  <a:lnTo>
                    <a:pt x="13087350" y="954887"/>
                  </a:lnTo>
                  <a:lnTo>
                    <a:pt x="13115925" y="954887"/>
                  </a:lnTo>
                  <a:lnTo>
                    <a:pt x="13115925" y="945362"/>
                  </a:lnTo>
                  <a:close/>
                </a:path>
                <a:path w="15801975" h="955040">
                  <a:moveTo>
                    <a:pt x="13173075" y="945362"/>
                  </a:moveTo>
                  <a:lnTo>
                    <a:pt x="13144500" y="945362"/>
                  </a:lnTo>
                  <a:lnTo>
                    <a:pt x="13144500" y="954887"/>
                  </a:lnTo>
                  <a:lnTo>
                    <a:pt x="13173075" y="954887"/>
                  </a:lnTo>
                  <a:lnTo>
                    <a:pt x="13173075" y="945362"/>
                  </a:lnTo>
                  <a:close/>
                </a:path>
                <a:path w="15801975" h="955040">
                  <a:moveTo>
                    <a:pt x="13230225" y="945362"/>
                  </a:moveTo>
                  <a:lnTo>
                    <a:pt x="13201650" y="945362"/>
                  </a:lnTo>
                  <a:lnTo>
                    <a:pt x="13201650" y="954887"/>
                  </a:lnTo>
                  <a:lnTo>
                    <a:pt x="13230225" y="954887"/>
                  </a:lnTo>
                  <a:lnTo>
                    <a:pt x="13230225" y="945362"/>
                  </a:lnTo>
                  <a:close/>
                </a:path>
                <a:path w="15801975" h="955040">
                  <a:moveTo>
                    <a:pt x="13287375" y="945362"/>
                  </a:moveTo>
                  <a:lnTo>
                    <a:pt x="13258800" y="945362"/>
                  </a:lnTo>
                  <a:lnTo>
                    <a:pt x="13258800" y="954887"/>
                  </a:lnTo>
                  <a:lnTo>
                    <a:pt x="13287375" y="954887"/>
                  </a:lnTo>
                  <a:lnTo>
                    <a:pt x="13287375" y="945362"/>
                  </a:lnTo>
                  <a:close/>
                </a:path>
                <a:path w="15801975" h="955040">
                  <a:moveTo>
                    <a:pt x="13344525" y="945362"/>
                  </a:moveTo>
                  <a:lnTo>
                    <a:pt x="13315950" y="945362"/>
                  </a:lnTo>
                  <a:lnTo>
                    <a:pt x="13315950" y="954887"/>
                  </a:lnTo>
                  <a:lnTo>
                    <a:pt x="13344525" y="954887"/>
                  </a:lnTo>
                  <a:lnTo>
                    <a:pt x="13344525" y="945362"/>
                  </a:lnTo>
                  <a:close/>
                </a:path>
                <a:path w="15801975" h="955040">
                  <a:moveTo>
                    <a:pt x="13401675" y="945362"/>
                  </a:moveTo>
                  <a:lnTo>
                    <a:pt x="13373100" y="945362"/>
                  </a:lnTo>
                  <a:lnTo>
                    <a:pt x="13373100" y="954887"/>
                  </a:lnTo>
                  <a:lnTo>
                    <a:pt x="13401675" y="954887"/>
                  </a:lnTo>
                  <a:lnTo>
                    <a:pt x="13401675" y="945362"/>
                  </a:lnTo>
                  <a:close/>
                </a:path>
                <a:path w="15801975" h="955040">
                  <a:moveTo>
                    <a:pt x="13458825" y="945362"/>
                  </a:moveTo>
                  <a:lnTo>
                    <a:pt x="13430250" y="945362"/>
                  </a:lnTo>
                  <a:lnTo>
                    <a:pt x="13430250" y="954887"/>
                  </a:lnTo>
                  <a:lnTo>
                    <a:pt x="13458825" y="954887"/>
                  </a:lnTo>
                  <a:lnTo>
                    <a:pt x="13458825" y="945362"/>
                  </a:lnTo>
                  <a:close/>
                </a:path>
                <a:path w="15801975" h="955040">
                  <a:moveTo>
                    <a:pt x="13515975" y="945362"/>
                  </a:moveTo>
                  <a:lnTo>
                    <a:pt x="13487400" y="945362"/>
                  </a:lnTo>
                  <a:lnTo>
                    <a:pt x="13487400" y="954887"/>
                  </a:lnTo>
                  <a:lnTo>
                    <a:pt x="13515975" y="954887"/>
                  </a:lnTo>
                  <a:lnTo>
                    <a:pt x="13515975" y="945362"/>
                  </a:lnTo>
                  <a:close/>
                </a:path>
                <a:path w="15801975" h="955040">
                  <a:moveTo>
                    <a:pt x="13573125" y="945362"/>
                  </a:moveTo>
                  <a:lnTo>
                    <a:pt x="13544550" y="945362"/>
                  </a:lnTo>
                  <a:lnTo>
                    <a:pt x="13544550" y="954887"/>
                  </a:lnTo>
                  <a:lnTo>
                    <a:pt x="13573125" y="954887"/>
                  </a:lnTo>
                  <a:lnTo>
                    <a:pt x="13573125" y="945362"/>
                  </a:lnTo>
                  <a:close/>
                </a:path>
                <a:path w="15801975" h="955040">
                  <a:moveTo>
                    <a:pt x="13630275" y="945362"/>
                  </a:moveTo>
                  <a:lnTo>
                    <a:pt x="13601700" y="945362"/>
                  </a:lnTo>
                  <a:lnTo>
                    <a:pt x="13601700" y="954887"/>
                  </a:lnTo>
                  <a:lnTo>
                    <a:pt x="13630275" y="954887"/>
                  </a:lnTo>
                  <a:lnTo>
                    <a:pt x="13630275" y="945362"/>
                  </a:lnTo>
                  <a:close/>
                </a:path>
                <a:path w="15801975" h="955040">
                  <a:moveTo>
                    <a:pt x="13687425" y="945362"/>
                  </a:moveTo>
                  <a:lnTo>
                    <a:pt x="13658850" y="945362"/>
                  </a:lnTo>
                  <a:lnTo>
                    <a:pt x="13658850" y="954887"/>
                  </a:lnTo>
                  <a:lnTo>
                    <a:pt x="13687425" y="954887"/>
                  </a:lnTo>
                  <a:lnTo>
                    <a:pt x="13687425" y="945362"/>
                  </a:lnTo>
                  <a:close/>
                </a:path>
                <a:path w="15801975" h="955040">
                  <a:moveTo>
                    <a:pt x="13744575" y="945362"/>
                  </a:moveTo>
                  <a:lnTo>
                    <a:pt x="13716000" y="945362"/>
                  </a:lnTo>
                  <a:lnTo>
                    <a:pt x="13716000" y="954887"/>
                  </a:lnTo>
                  <a:lnTo>
                    <a:pt x="13744575" y="954887"/>
                  </a:lnTo>
                  <a:lnTo>
                    <a:pt x="13744575" y="945362"/>
                  </a:lnTo>
                  <a:close/>
                </a:path>
                <a:path w="15801975" h="955040">
                  <a:moveTo>
                    <a:pt x="13801725" y="945362"/>
                  </a:moveTo>
                  <a:lnTo>
                    <a:pt x="13773150" y="945362"/>
                  </a:lnTo>
                  <a:lnTo>
                    <a:pt x="13773150" y="954887"/>
                  </a:lnTo>
                  <a:lnTo>
                    <a:pt x="13801725" y="954887"/>
                  </a:lnTo>
                  <a:lnTo>
                    <a:pt x="13801725" y="945362"/>
                  </a:lnTo>
                  <a:close/>
                </a:path>
                <a:path w="15801975" h="955040">
                  <a:moveTo>
                    <a:pt x="13858875" y="945362"/>
                  </a:moveTo>
                  <a:lnTo>
                    <a:pt x="13830300" y="945362"/>
                  </a:lnTo>
                  <a:lnTo>
                    <a:pt x="13830300" y="954887"/>
                  </a:lnTo>
                  <a:lnTo>
                    <a:pt x="13858875" y="954887"/>
                  </a:lnTo>
                  <a:lnTo>
                    <a:pt x="13858875" y="945362"/>
                  </a:lnTo>
                  <a:close/>
                </a:path>
                <a:path w="15801975" h="955040">
                  <a:moveTo>
                    <a:pt x="13916025" y="945362"/>
                  </a:moveTo>
                  <a:lnTo>
                    <a:pt x="13887450" y="945362"/>
                  </a:lnTo>
                  <a:lnTo>
                    <a:pt x="13887450" y="954887"/>
                  </a:lnTo>
                  <a:lnTo>
                    <a:pt x="13916025" y="954887"/>
                  </a:lnTo>
                  <a:lnTo>
                    <a:pt x="13916025" y="945362"/>
                  </a:lnTo>
                  <a:close/>
                </a:path>
                <a:path w="15801975" h="955040">
                  <a:moveTo>
                    <a:pt x="13973175" y="945362"/>
                  </a:moveTo>
                  <a:lnTo>
                    <a:pt x="13944600" y="945362"/>
                  </a:lnTo>
                  <a:lnTo>
                    <a:pt x="13944600" y="954887"/>
                  </a:lnTo>
                  <a:lnTo>
                    <a:pt x="13973175" y="954887"/>
                  </a:lnTo>
                  <a:lnTo>
                    <a:pt x="13973175" y="945362"/>
                  </a:lnTo>
                  <a:close/>
                </a:path>
                <a:path w="15801975" h="955040">
                  <a:moveTo>
                    <a:pt x="14030325" y="945362"/>
                  </a:moveTo>
                  <a:lnTo>
                    <a:pt x="14001750" y="945362"/>
                  </a:lnTo>
                  <a:lnTo>
                    <a:pt x="14001750" y="954887"/>
                  </a:lnTo>
                  <a:lnTo>
                    <a:pt x="14030325" y="954887"/>
                  </a:lnTo>
                  <a:lnTo>
                    <a:pt x="14030325" y="945362"/>
                  </a:lnTo>
                  <a:close/>
                </a:path>
                <a:path w="15801975" h="955040">
                  <a:moveTo>
                    <a:pt x="14087475" y="945362"/>
                  </a:moveTo>
                  <a:lnTo>
                    <a:pt x="14058900" y="945362"/>
                  </a:lnTo>
                  <a:lnTo>
                    <a:pt x="14058900" y="954887"/>
                  </a:lnTo>
                  <a:lnTo>
                    <a:pt x="14087475" y="954887"/>
                  </a:lnTo>
                  <a:lnTo>
                    <a:pt x="14087475" y="945362"/>
                  </a:lnTo>
                  <a:close/>
                </a:path>
                <a:path w="15801975" h="955040">
                  <a:moveTo>
                    <a:pt x="14144625" y="945362"/>
                  </a:moveTo>
                  <a:lnTo>
                    <a:pt x="14116050" y="945362"/>
                  </a:lnTo>
                  <a:lnTo>
                    <a:pt x="14116050" y="954887"/>
                  </a:lnTo>
                  <a:lnTo>
                    <a:pt x="14144625" y="954887"/>
                  </a:lnTo>
                  <a:lnTo>
                    <a:pt x="14144625" y="945362"/>
                  </a:lnTo>
                  <a:close/>
                </a:path>
                <a:path w="15801975" h="955040">
                  <a:moveTo>
                    <a:pt x="14201775" y="945362"/>
                  </a:moveTo>
                  <a:lnTo>
                    <a:pt x="14173200" y="945362"/>
                  </a:lnTo>
                  <a:lnTo>
                    <a:pt x="14173200" y="954887"/>
                  </a:lnTo>
                  <a:lnTo>
                    <a:pt x="14201775" y="954887"/>
                  </a:lnTo>
                  <a:lnTo>
                    <a:pt x="14201775" y="945362"/>
                  </a:lnTo>
                  <a:close/>
                </a:path>
                <a:path w="15801975" h="955040">
                  <a:moveTo>
                    <a:pt x="14258925" y="945362"/>
                  </a:moveTo>
                  <a:lnTo>
                    <a:pt x="14230350" y="945362"/>
                  </a:lnTo>
                  <a:lnTo>
                    <a:pt x="14230350" y="954887"/>
                  </a:lnTo>
                  <a:lnTo>
                    <a:pt x="14258925" y="954887"/>
                  </a:lnTo>
                  <a:lnTo>
                    <a:pt x="14258925" y="945362"/>
                  </a:lnTo>
                  <a:close/>
                </a:path>
                <a:path w="15801975" h="955040">
                  <a:moveTo>
                    <a:pt x="14316075" y="945362"/>
                  </a:moveTo>
                  <a:lnTo>
                    <a:pt x="14287500" y="945362"/>
                  </a:lnTo>
                  <a:lnTo>
                    <a:pt x="14287500" y="954887"/>
                  </a:lnTo>
                  <a:lnTo>
                    <a:pt x="14316075" y="954887"/>
                  </a:lnTo>
                  <a:lnTo>
                    <a:pt x="14316075" y="945362"/>
                  </a:lnTo>
                  <a:close/>
                </a:path>
                <a:path w="15801975" h="955040">
                  <a:moveTo>
                    <a:pt x="14373225" y="945362"/>
                  </a:moveTo>
                  <a:lnTo>
                    <a:pt x="14344650" y="945362"/>
                  </a:lnTo>
                  <a:lnTo>
                    <a:pt x="14344650" y="954887"/>
                  </a:lnTo>
                  <a:lnTo>
                    <a:pt x="14373225" y="954887"/>
                  </a:lnTo>
                  <a:lnTo>
                    <a:pt x="14373225" y="945362"/>
                  </a:lnTo>
                  <a:close/>
                </a:path>
                <a:path w="15801975" h="955040">
                  <a:moveTo>
                    <a:pt x="14430375" y="945362"/>
                  </a:moveTo>
                  <a:lnTo>
                    <a:pt x="14401800" y="945362"/>
                  </a:lnTo>
                  <a:lnTo>
                    <a:pt x="14401800" y="954887"/>
                  </a:lnTo>
                  <a:lnTo>
                    <a:pt x="14430375" y="954887"/>
                  </a:lnTo>
                  <a:lnTo>
                    <a:pt x="14430375" y="945362"/>
                  </a:lnTo>
                  <a:close/>
                </a:path>
                <a:path w="15801975" h="955040">
                  <a:moveTo>
                    <a:pt x="14487525" y="945362"/>
                  </a:moveTo>
                  <a:lnTo>
                    <a:pt x="14458950" y="945362"/>
                  </a:lnTo>
                  <a:lnTo>
                    <a:pt x="14458950" y="954887"/>
                  </a:lnTo>
                  <a:lnTo>
                    <a:pt x="14487525" y="954887"/>
                  </a:lnTo>
                  <a:lnTo>
                    <a:pt x="14487525" y="945362"/>
                  </a:lnTo>
                  <a:close/>
                </a:path>
                <a:path w="15801975" h="955040">
                  <a:moveTo>
                    <a:pt x="14544675" y="945362"/>
                  </a:moveTo>
                  <a:lnTo>
                    <a:pt x="14516100" y="945362"/>
                  </a:lnTo>
                  <a:lnTo>
                    <a:pt x="14516100" y="954887"/>
                  </a:lnTo>
                  <a:lnTo>
                    <a:pt x="14544675" y="954887"/>
                  </a:lnTo>
                  <a:lnTo>
                    <a:pt x="14544675" y="945362"/>
                  </a:lnTo>
                  <a:close/>
                </a:path>
                <a:path w="15801975" h="955040">
                  <a:moveTo>
                    <a:pt x="14601825" y="945362"/>
                  </a:moveTo>
                  <a:lnTo>
                    <a:pt x="14573250" y="945362"/>
                  </a:lnTo>
                  <a:lnTo>
                    <a:pt x="14573250" y="954887"/>
                  </a:lnTo>
                  <a:lnTo>
                    <a:pt x="14601825" y="954887"/>
                  </a:lnTo>
                  <a:lnTo>
                    <a:pt x="14601825" y="945362"/>
                  </a:lnTo>
                  <a:close/>
                </a:path>
                <a:path w="15801975" h="955040">
                  <a:moveTo>
                    <a:pt x="14658975" y="945362"/>
                  </a:moveTo>
                  <a:lnTo>
                    <a:pt x="14630400" y="945362"/>
                  </a:lnTo>
                  <a:lnTo>
                    <a:pt x="14630400" y="954887"/>
                  </a:lnTo>
                  <a:lnTo>
                    <a:pt x="14658975" y="954887"/>
                  </a:lnTo>
                  <a:lnTo>
                    <a:pt x="14658975" y="945362"/>
                  </a:lnTo>
                  <a:close/>
                </a:path>
                <a:path w="15801975" h="955040">
                  <a:moveTo>
                    <a:pt x="14716125" y="945362"/>
                  </a:moveTo>
                  <a:lnTo>
                    <a:pt x="14687550" y="945362"/>
                  </a:lnTo>
                  <a:lnTo>
                    <a:pt x="14687550" y="954887"/>
                  </a:lnTo>
                  <a:lnTo>
                    <a:pt x="14716125" y="954887"/>
                  </a:lnTo>
                  <a:lnTo>
                    <a:pt x="14716125" y="945362"/>
                  </a:lnTo>
                  <a:close/>
                </a:path>
                <a:path w="15801975" h="955040">
                  <a:moveTo>
                    <a:pt x="14773275" y="945362"/>
                  </a:moveTo>
                  <a:lnTo>
                    <a:pt x="14744700" y="945362"/>
                  </a:lnTo>
                  <a:lnTo>
                    <a:pt x="14744700" y="954887"/>
                  </a:lnTo>
                  <a:lnTo>
                    <a:pt x="14773275" y="954887"/>
                  </a:lnTo>
                  <a:lnTo>
                    <a:pt x="14773275" y="945362"/>
                  </a:lnTo>
                  <a:close/>
                </a:path>
                <a:path w="15801975" h="955040">
                  <a:moveTo>
                    <a:pt x="14830425" y="945362"/>
                  </a:moveTo>
                  <a:lnTo>
                    <a:pt x="14801850" y="945362"/>
                  </a:lnTo>
                  <a:lnTo>
                    <a:pt x="14801850" y="954887"/>
                  </a:lnTo>
                  <a:lnTo>
                    <a:pt x="14830425" y="954887"/>
                  </a:lnTo>
                  <a:lnTo>
                    <a:pt x="14830425" y="945362"/>
                  </a:lnTo>
                  <a:close/>
                </a:path>
                <a:path w="15801975" h="955040">
                  <a:moveTo>
                    <a:pt x="14887575" y="945362"/>
                  </a:moveTo>
                  <a:lnTo>
                    <a:pt x="14859000" y="945362"/>
                  </a:lnTo>
                  <a:lnTo>
                    <a:pt x="14859000" y="954887"/>
                  </a:lnTo>
                  <a:lnTo>
                    <a:pt x="14887575" y="954887"/>
                  </a:lnTo>
                  <a:lnTo>
                    <a:pt x="14887575" y="945362"/>
                  </a:lnTo>
                  <a:close/>
                </a:path>
                <a:path w="15801975" h="955040">
                  <a:moveTo>
                    <a:pt x="14944725" y="945362"/>
                  </a:moveTo>
                  <a:lnTo>
                    <a:pt x="14916150" y="945362"/>
                  </a:lnTo>
                  <a:lnTo>
                    <a:pt x="14916150" y="954887"/>
                  </a:lnTo>
                  <a:lnTo>
                    <a:pt x="14944725" y="954887"/>
                  </a:lnTo>
                  <a:lnTo>
                    <a:pt x="14944725" y="945362"/>
                  </a:lnTo>
                  <a:close/>
                </a:path>
                <a:path w="15801975" h="955040">
                  <a:moveTo>
                    <a:pt x="15001875" y="945362"/>
                  </a:moveTo>
                  <a:lnTo>
                    <a:pt x="14973300" y="945362"/>
                  </a:lnTo>
                  <a:lnTo>
                    <a:pt x="14973300" y="954887"/>
                  </a:lnTo>
                  <a:lnTo>
                    <a:pt x="15001875" y="954887"/>
                  </a:lnTo>
                  <a:lnTo>
                    <a:pt x="15001875" y="945362"/>
                  </a:lnTo>
                  <a:close/>
                </a:path>
                <a:path w="15801975" h="955040">
                  <a:moveTo>
                    <a:pt x="15059025" y="945362"/>
                  </a:moveTo>
                  <a:lnTo>
                    <a:pt x="15030450" y="945362"/>
                  </a:lnTo>
                  <a:lnTo>
                    <a:pt x="15030450" y="954887"/>
                  </a:lnTo>
                  <a:lnTo>
                    <a:pt x="15059025" y="954887"/>
                  </a:lnTo>
                  <a:lnTo>
                    <a:pt x="15059025" y="945362"/>
                  </a:lnTo>
                  <a:close/>
                </a:path>
                <a:path w="15801975" h="955040">
                  <a:moveTo>
                    <a:pt x="15116175" y="945362"/>
                  </a:moveTo>
                  <a:lnTo>
                    <a:pt x="15087600" y="945362"/>
                  </a:lnTo>
                  <a:lnTo>
                    <a:pt x="15087600" y="954887"/>
                  </a:lnTo>
                  <a:lnTo>
                    <a:pt x="15116175" y="954887"/>
                  </a:lnTo>
                  <a:lnTo>
                    <a:pt x="15116175" y="945362"/>
                  </a:lnTo>
                  <a:close/>
                </a:path>
                <a:path w="15801975" h="955040">
                  <a:moveTo>
                    <a:pt x="15173325" y="945362"/>
                  </a:moveTo>
                  <a:lnTo>
                    <a:pt x="15144750" y="945362"/>
                  </a:lnTo>
                  <a:lnTo>
                    <a:pt x="15144750" y="954887"/>
                  </a:lnTo>
                  <a:lnTo>
                    <a:pt x="15173325" y="954887"/>
                  </a:lnTo>
                  <a:lnTo>
                    <a:pt x="15173325" y="945362"/>
                  </a:lnTo>
                  <a:close/>
                </a:path>
                <a:path w="15801975" h="955040">
                  <a:moveTo>
                    <a:pt x="15230475" y="945362"/>
                  </a:moveTo>
                  <a:lnTo>
                    <a:pt x="15201900" y="945362"/>
                  </a:lnTo>
                  <a:lnTo>
                    <a:pt x="15201900" y="954887"/>
                  </a:lnTo>
                  <a:lnTo>
                    <a:pt x="15230475" y="954887"/>
                  </a:lnTo>
                  <a:lnTo>
                    <a:pt x="15230475" y="945362"/>
                  </a:lnTo>
                  <a:close/>
                </a:path>
                <a:path w="15801975" h="955040">
                  <a:moveTo>
                    <a:pt x="15287625" y="945362"/>
                  </a:moveTo>
                  <a:lnTo>
                    <a:pt x="15259050" y="945362"/>
                  </a:lnTo>
                  <a:lnTo>
                    <a:pt x="15259050" y="954887"/>
                  </a:lnTo>
                  <a:lnTo>
                    <a:pt x="15287625" y="954887"/>
                  </a:lnTo>
                  <a:lnTo>
                    <a:pt x="15287625" y="945362"/>
                  </a:lnTo>
                  <a:close/>
                </a:path>
                <a:path w="15801975" h="955040">
                  <a:moveTo>
                    <a:pt x="15344775" y="945362"/>
                  </a:moveTo>
                  <a:lnTo>
                    <a:pt x="15316200" y="945362"/>
                  </a:lnTo>
                  <a:lnTo>
                    <a:pt x="15316200" y="954887"/>
                  </a:lnTo>
                  <a:lnTo>
                    <a:pt x="15344775" y="954887"/>
                  </a:lnTo>
                  <a:lnTo>
                    <a:pt x="15344775" y="945362"/>
                  </a:lnTo>
                  <a:close/>
                </a:path>
                <a:path w="15801975" h="955040">
                  <a:moveTo>
                    <a:pt x="15401925" y="945362"/>
                  </a:moveTo>
                  <a:lnTo>
                    <a:pt x="15373350" y="945362"/>
                  </a:lnTo>
                  <a:lnTo>
                    <a:pt x="15373350" y="954887"/>
                  </a:lnTo>
                  <a:lnTo>
                    <a:pt x="15401925" y="954887"/>
                  </a:lnTo>
                  <a:lnTo>
                    <a:pt x="15401925" y="945362"/>
                  </a:lnTo>
                  <a:close/>
                </a:path>
                <a:path w="15801975" h="955040">
                  <a:moveTo>
                    <a:pt x="15459075" y="945362"/>
                  </a:moveTo>
                  <a:lnTo>
                    <a:pt x="15430500" y="945362"/>
                  </a:lnTo>
                  <a:lnTo>
                    <a:pt x="15430500" y="954887"/>
                  </a:lnTo>
                  <a:lnTo>
                    <a:pt x="15459075" y="954887"/>
                  </a:lnTo>
                  <a:lnTo>
                    <a:pt x="15459075" y="945362"/>
                  </a:lnTo>
                  <a:close/>
                </a:path>
                <a:path w="15801975" h="955040">
                  <a:moveTo>
                    <a:pt x="15516225" y="945362"/>
                  </a:moveTo>
                  <a:lnTo>
                    <a:pt x="15487650" y="945362"/>
                  </a:lnTo>
                  <a:lnTo>
                    <a:pt x="15487650" y="954887"/>
                  </a:lnTo>
                  <a:lnTo>
                    <a:pt x="15516225" y="954887"/>
                  </a:lnTo>
                  <a:lnTo>
                    <a:pt x="15516225" y="945362"/>
                  </a:lnTo>
                  <a:close/>
                </a:path>
                <a:path w="15801975" h="955040">
                  <a:moveTo>
                    <a:pt x="15573375" y="945362"/>
                  </a:moveTo>
                  <a:lnTo>
                    <a:pt x="15544800" y="945362"/>
                  </a:lnTo>
                  <a:lnTo>
                    <a:pt x="15544800" y="954887"/>
                  </a:lnTo>
                  <a:lnTo>
                    <a:pt x="15573375" y="954887"/>
                  </a:lnTo>
                  <a:lnTo>
                    <a:pt x="15573375" y="945362"/>
                  </a:lnTo>
                  <a:close/>
                </a:path>
                <a:path w="15801975" h="955040">
                  <a:moveTo>
                    <a:pt x="15630525" y="945362"/>
                  </a:moveTo>
                  <a:lnTo>
                    <a:pt x="15601950" y="945362"/>
                  </a:lnTo>
                  <a:lnTo>
                    <a:pt x="15601950" y="954887"/>
                  </a:lnTo>
                  <a:lnTo>
                    <a:pt x="15630525" y="954887"/>
                  </a:lnTo>
                  <a:lnTo>
                    <a:pt x="15630525" y="945362"/>
                  </a:lnTo>
                  <a:close/>
                </a:path>
                <a:path w="15801975" h="955040">
                  <a:moveTo>
                    <a:pt x="15687675" y="945362"/>
                  </a:moveTo>
                  <a:lnTo>
                    <a:pt x="15659100" y="945362"/>
                  </a:lnTo>
                  <a:lnTo>
                    <a:pt x="15659100" y="954887"/>
                  </a:lnTo>
                  <a:lnTo>
                    <a:pt x="15687675" y="954887"/>
                  </a:lnTo>
                  <a:lnTo>
                    <a:pt x="15687675" y="945362"/>
                  </a:lnTo>
                  <a:close/>
                </a:path>
                <a:path w="15801975" h="955040">
                  <a:moveTo>
                    <a:pt x="15744825" y="945362"/>
                  </a:moveTo>
                  <a:lnTo>
                    <a:pt x="15716250" y="945362"/>
                  </a:lnTo>
                  <a:lnTo>
                    <a:pt x="15716250" y="954887"/>
                  </a:lnTo>
                  <a:lnTo>
                    <a:pt x="15744825" y="954887"/>
                  </a:lnTo>
                  <a:lnTo>
                    <a:pt x="15744825" y="945362"/>
                  </a:lnTo>
                  <a:close/>
                </a:path>
                <a:path w="15801975" h="955040">
                  <a:moveTo>
                    <a:pt x="15801975" y="945362"/>
                  </a:moveTo>
                  <a:lnTo>
                    <a:pt x="15773400" y="945362"/>
                  </a:lnTo>
                  <a:lnTo>
                    <a:pt x="15773400" y="954887"/>
                  </a:lnTo>
                  <a:lnTo>
                    <a:pt x="15801975" y="954887"/>
                  </a:lnTo>
                  <a:lnTo>
                    <a:pt x="15801975" y="945362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09750" y="5931699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0250" y="5931699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10750" y="5931699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40290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40290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40290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40290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40290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40290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40290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40290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40290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40290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40290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40290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40290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40290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40290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40290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40290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40290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40290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40290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40290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40290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40290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40290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40290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40290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40290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40290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40290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40290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40290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40290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40290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40290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40290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40290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40290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40290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40290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40290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40290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40290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40290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40290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40290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40290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40290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40290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40290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40290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40290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40290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40290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40290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40290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40290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40290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40290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40290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40290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w="4029075" h="9525">
                  <a:moveTo>
                    <a:pt x="351472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514725" y="9525"/>
                  </a:lnTo>
                  <a:lnTo>
                    <a:pt x="3514725" y="0"/>
                  </a:lnTo>
                  <a:close/>
                </a:path>
                <a:path w="4029075" h="9525">
                  <a:moveTo>
                    <a:pt x="357187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71875" y="9525"/>
                  </a:lnTo>
                  <a:lnTo>
                    <a:pt x="3571875" y="0"/>
                  </a:lnTo>
                  <a:close/>
                </a:path>
                <a:path w="4029075" h="9525">
                  <a:moveTo>
                    <a:pt x="362902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29025" y="9525"/>
                  </a:lnTo>
                  <a:lnTo>
                    <a:pt x="3629025" y="0"/>
                  </a:lnTo>
                  <a:close/>
                </a:path>
                <a:path w="4029075" h="9525">
                  <a:moveTo>
                    <a:pt x="368617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86175" y="9525"/>
                  </a:lnTo>
                  <a:lnTo>
                    <a:pt x="3686175" y="0"/>
                  </a:lnTo>
                  <a:close/>
                </a:path>
                <a:path w="4029075" h="9525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w="4029075" h="9525">
                  <a:moveTo>
                    <a:pt x="380047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800475" y="9525"/>
                  </a:lnTo>
                  <a:lnTo>
                    <a:pt x="3800475" y="0"/>
                  </a:lnTo>
                  <a:close/>
                </a:path>
                <a:path w="4029075" h="9525">
                  <a:moveTo>
                    <a:pt x="385762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57625" y="9525"/>
                  </a:lnTo>
                  <a:lnTo>
                    <a:pt x="3857625" y="0"/>
                  </a:lnTo>
                  <a:close/>
                </a:path>
                <a:path w="4029075" h="9525">
                  <a:moveTo>
                    <a:pt x="391477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914775" y="9525"/>
                  </a:lnTo>
                  <a:lnTo>
                    <a:pt x="3914775" y="0"/>
                  </a:lnTo>
                  <a:close/>
                </a:path>
                <a:path w="4029075" h="9525">
                  <a:moveTo>
                    <a:pt x="397192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71925" y="9525"/>
                  </a:lnTo>
                  <a:lnTo>
                    <a:pt x="3971925" y="0"/>
                  </a:lnTo>
                  <a:close/>
                </a:path>
                <a:path w="4029075" h="9525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811250" y="5931699"/>
              <a:ext cx="3457575" cy="9525"/>
            </a:xfrm>
            <a:custGeom>
              <a:avLst/>
              <a:gdLst/>
              <a:ahLst/>
              <a:cxnLst/>
              <a:rect l="l" t="t" r="r" b="b"/>
              <a:pathLst>
                <a:path w="3457575" h="9525">
                  <a:moveTo>
                    <a:pt x="2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" y="9525"/>
                  </a:lnTo>
                  <a:lnTo>
                    <a:pt x="28575" y="0"/>
                  </a:lnTo>
                  <a:close/>
                </a:path>
                <a:path w="3457575" h="9525">
                  <a:moveTo>
                    <a:pt x="8572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3457575" h="9525">
                  <a:moveTo>
                    <a:pt x="14287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42875" y="9525"/>
                  </a:lnTo>
                  <a:lnTo>
                    <a:pt x="142875" y="0"/>
                  </a:lnTo>
                  <a:close/>
                </a:path>
                <a:path w="3457575" h="9525">
                  <a:moveTo>
                    <a:pt x="20002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  <a:path w="3457575" h="9525">
                  <a:moveTo>
                    <a:pt x="25717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57175" y="9525"/>
                  </a:lnTo>
                  <a:lnTo>
                    <a:pt x="257175" y="0"/>
                  </a:lnTo>
                  <a:close/>
                </a:path>
                <a:path w="3457575" h="9525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w="3457575" h="9525">
                  <a:moveTo>
                    <a:pt x="37147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71475" y="9525"/>
                  </a:lnTo>
                  <a:lnTo>
                    <a:pt x="371475" y="0"/>
                  </a:lnTo>
                  <a:close/>
                </a:path>
                <a:path w="3457575" h="9525">
                  <a:moveTo>
                    <a:pt x="42862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28625" y="9525"/>
                  </a:lnTo>
                  <a:lnTo>
                    <a:pt x="428625" y="0"/>
                  </a:lnTo>
                  <a:close/>
                </a:path>
                <a:path w="3457575" h="9525">
                  <a:moveTo>
                    <a:pt x="48577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85775" y="9525"/>
                  </a:lnTo>
                  <a:lnTo>
                    <a:pt x="485775" y="0"/>
                  </a:lnTo>
                  <a:close/>
                </a:path>
                <a:path w="3457575" h="9525">
                  <a:moveTo>
                    <a:pt x="54292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42925" y="9525"/>
                  </a:lnTo>
                  <a:lnTo>
                    <a:pt x="542925" y="0"/>
                  </a:lnTo>
                  <a:close/>
                </a:path>
                <a:path w="3457575" h="9525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w="3457575" h="9525">
                  <a:moveTo>
                    <a:pt x="65722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57225" y="9525"/>
                  </a:lnTo>
                  <a:lnTo>
                    <a:pt x="657225" y="0"/>
                  </a:lnTo>
                  <a:close/>
                </a:path>
                <a:path w="3457575" h="9525">
                  <a:moveTo>
                    <a:pt x="71437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14375" y="9525"/>
                  </a:lnTo>
                  <a:lnTo>
                    <a:pt x="714375" y="0"/>
                  </a:lnTo>
                  <a:close/>
                </a:path>
                <a:path w="3457575" h="9525">
                  <a:moveTo>
                    <a:pt x="77152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71525" y="9525"/>
                  </a:lnTo>
                  <a:lnTo>
                    <a:pt x="771525" y="0"/>
                  </a:lnTo>
                  <a:close/>
                </a:path>
                <a:path w="3457575" h="9525">
                  <a:moveTo>
                    <a:pt x="82867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28675" y="9525"/>
                  </a:lnTo>
                  <a:lnTo>
                    <a:pt x="828675" y="0"/>
                  </a:lnTo>
                  <a:close/>
                </a:path>
                <a:path w="3457575" h="9525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w="3457575" h="9525">
                  <a:moveTo>
                    <a:pt x="94297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42975" y="9525"/>
                  </a:lnTo>
                  <a:lnTo>
                    <a:pt x="942975" y="0"/>
                  </a:lnTo>
                  <a:close/>
                </a:path>
                <a:path w="3457575" h="9525">
                  <a:moveTo>
                    <a:pt x="100012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1000125" y="9525"/>
                  </a:lnTo>
                  <a:lnTo>
                    <a:pt x="1000125" y="0"/>
                  </a:lnTo>
                  <a:close/>
                </a:path>
                <a:path w="3457575" h="9525">
                  <a:moveTo>
                    <a:pt x="105727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  <a:path w="3457575" h="9525">
                  <a:moveTo>
                    <a:pt x="111442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114425" y="9525"/>
                  </a:lnTo>
                  <a:lnTo>
                    <a:pt x="1114425" y="0"/>
                  </a:lnTo>
                  <a:close/>
                </a:path>
                <a:path w="3457575" h="9525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w="3457575" h="9525">
                  <a:moveTo>
                    <a:pt x="122872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28725" y="9525"/>
                  </a:lnTo>
                  <a:lnTo>
                    <a:pt x="1228725" y="0"/>
                  </a:lnTo>
                  <a:close/>
                </a:path>
                <a:path w="3457575" h="9525">
                  <a:moveTo>
                    <a:pt x="128587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85875" y="9525"/>
                  </a:lnTo>
                  <a:lnTo>
                    <a:pt x="1285875" y="0"/>
                  </a:lnTo>
                  <a:close/>
                </a:path>
                <a:path w="3457575" h="9525">
                  <a:moveTo>
                    <a:pt x="134302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43025" y="9525"/>
                  </a:lnTo>
                  <a:lnTo>
                    <a:pt x="1343025" y="0"/>
                  </a:lnTo>
                  <a:close/>
                </a:path>
                <a:path w="3457575" h="9525">
                  <a:moveTo>
                    <a:pt x="140017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0175" y="9525"/>
                  </a:lnTo>
                  <a:lnTo>
                    <a:pt x="1400175" y="0"/>
                  </a:lnTo>
                  <a:close/>
                </a:path>
                <a:path w="3457575" h="9525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w="3457575" h="9525">
                  <a:moveTo>
                    <a:pt x="151447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514475" y="9525"/>
                  </a:lnTo>
                  <a:lnTo>
                    <a:pt x="1514475" y="0"/>
                  </a:lnTo>
                  <a:close/>
                </a:path>
                <a:path w="3457575" h="9525">
                  <a:moveTo>
                    <a:pt x="157162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71625" y="9525"/>
                  </a:lnTo>
                  <a:lnTo>
                    <a:pt x="1571625" y="0"/>
                  </a:lnTo>
                  <a:close/>
                </a:path>
                <a:path w="3457575" h="9525">
                  <a:moveTo>
                    <a:pt x="162877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28775" y="9525"/>
                  </a:lnTo>
                  <a:lnTo>
                    <a:pt x="1628775" y="0"/>
                  </a:lnTo>
                  <a:close/>
                </a:path>
                <a:path w="3457575" h="9525">
                  <a:moveTo>
                    <a:pt x="168592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85925" y="9525"/>
                  </a:lnTo>
                  <a:lnTo>
                    <a:pt x="1685925" y="0"/>
                  </a:lnTo>
                  <a:close/>
                </a:path>
                <a:path w="3457575" h="9525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w="3457575" h="9525">
                  <a:moveTo>
                    <a:pt x="180022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800225" y="9525"/>
                  </a:lnTo>
                  <a:lnTo>
                    <a:pt x="1800225" y="0"/>
                  </a:lnTo>
                  <a:close/>
                </a:path>
                <a:path w="3457575" h="9525">
                  <a:moveTo>
                    <a:pt x="185737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57375" y="9525"/>
                  </a:lnTo>
                  <a:lnTo>
                    <a:pt x="1857375" y="0"/>
                  </a:lnTo>
                  <a:close/>
                </a:path>
                <a:path w="3457575" h="9525">
                  <a:moveTo>
                    <a:pt x="191452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914525" y="9525"/>
                  </a:lnTo>
                  <a:lnTo>
                    <a:pt x="1914525" y="0"/>
                  </a:lnTo>
                  <a:close/>
                </a:path>
                <a:path w="3457575" h="9525">
                  <a:moveTo>
                    <a:pt x="197167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71675" y="9525"/>
                  </a:lnTo>
                  <a:lnTo>
                    <a:pt x="1971675" y="0"/>
                  </a:lnTo>
                  <a:close/>
                </a:path>
                <a:path w="3457575" h="9525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w="3457575" h="9525">
                  <a:moveTo>
                    <a:pt x="208597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85975" y="9525"/>
                  </a:lnTo>
                  <a:lnTo>
                    <a:pt x="2085975" y="0"/>
                  </a:lnTo>
                  <a:close/>
                </a:path>
                <a:path w="3457575" h="9525">
                  <a:moveTo>
                    <a:pt x="214312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43125" y="9525"/>
                  </a:lnTo>
                  <a:lnTo>
                    <a:pt x="2143125" y="0"/>
                  </a:lnTo>
                  <a:close/>
                </a:path>
                <a:path w="3457575" h="9525">
                  <a:moveTo>
                    <a:pt x="220027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200275" y="9525"/>
                  </a:lnTo>
                  <a:lnTo>
                    <a:pt x="2200275" y="0"/>
                  </a:lnTo>
                  <a:close/>
                </a:path>
                <a:path w="3457575" h="9525">
                  <a:moveTo>
                    <a:pt x="225742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57425" y="9525"/>
                  </a:lnTo>
                  <a:lnTo>
                    <a:pt x="2257425" y="0"/>
                  </a:lnTo>
                  <a:close/>
                </a:path>
                <a:path w="3457575" h="9525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w="3457575" h="9525">
                  <a:moveTo>
                    <a:pt x="237172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71725" y="9525"/>
                  </a:lnTo>
                  <a:lnTo>
                    <a:pt x="2371725" y="0"/>
                  </a:lnTo>
                  <a:close/>
                </a:path>
                <a:path w="3457575" h="9525">
                  <a:moveTo>
                    <a:pt x="242887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28875" y="9525"/>
                  </a:lnTo>
                  <a:lnTo>
                    <a:pt x="2428875" y="0"/>
                  </a:lnTo>
                  <a:close/>
                </a:path>
                <a:path w="3457575" h="9525">
                  <a:moveTo>
                    <a:pt x="248602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86025" y="9525"/>
                  </a:lnTo>
                  <a:lnTo>
                    <a:pt x="2486025" y="0"/>
                  </a:lnTo>
                  <a:close/>
                </a:path>
                <a:path w="3457575" h="9525">
                  <a:moveTo>
                    <a:pt x="254317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43175" y="9525"/>
                  </a:lnTo>
                  <a:lnTo>
                    <a:pt x="2543175" y="0"/>
                  </a:lnTo>
                  <a:close/>
                </a:path>
                <a:path w="3457575" h="9525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w="3457575" h="9525">
                  <a:moveTo>
                    <a:pt x="265747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57475" y="9525"/>
                  </a:lnTo>
                  <a:lnTo>
                    <a:pt x="2657475" y="0"/>
                  </a:lnTo>
                  <a:close/>
                </a:path>
                <a:path w="3457575" h="9525">
                  <a:moveTo>
                    <a:pt x="271462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714625" y="9525"/>
                  </a:lnTo>
                  <a:lnTo>
                    <a:pt x="2714625" y="0"/>
                  </a:lnTo>
                  <a:close/>
                </a:path>
                <a:path w="3457575" h="9525">
                  <a:moveTo>
                    <a:pt x="277177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71775" y="9525"/>
                  </a:lnTo>
                  <a:lnTo>
                    <a:pt x="2771775" y="0"/>
                  </a:lnTo>
                  <a:close/>
                </a:path>
                <a:path w="3457575" h="9525">
                  <a:moveTo>
                    <a:pt x="282892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28925" y="9525"/>
                  </a:lnTo>
                  <a:lnTo>
                    <a:pt x="2828925" y="0"/>
                  </a:lnTo>
                  <a:close/>
                </a:path>
                <a:path w="3457575" h="9525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w="3457575" h="9525">
                  <a:moveTo>
                    <a:pt x="294322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43225" y="9525"/>
                  </a:lnTo>
                  <a:lnTo>
                    <a:pt x="2943225" y="0"/>
                  </a:lnTo>
                  <a:close/>
                </a:path>
                <a:path w="3457575" h="9525">
                  <a:moveTo>
                    <a:pt x="300037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3000375" y="9525"/>
                  </a:lnTo>
                  <a:lnTo>
                    <a:pt x="3000375" y="0"/>
                  </a:lnTo>
                  <a:close/>
                </a:path>
                <a:path w="3457575" h="9525">
                  <a:moveTo>
                    <a:pt x="305752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57525" y="9525"/>
                  </a:lnTo>
                  <a:lnTo>
                    <a:pt x="3057525" y="0"/>
                  </a:lnTo>
                  <a:close/>
                </a:path>
                <a:path w="3457575" h="9525">
                  <a:moveTo>
                    <a:pt x="311467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114675" y="9525"/>
                  </a:lnTo>
                  <a:lnTo>
                    <a:pt x="3114675" y="0"/>
                  </a:lnTo>
                  <a:close/>
                </a:path>
                <a:path w="3457575" h="9525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w="3457575" h="9525">
                  <a:moveTo>
                    <a:pt x="322897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28975" y="9525"/>
                  </a:lnTo>
                  <a:lnTo>
                    <a:pt x="3228975" y="0"/>
                  </a:lnTo>
                  <a:close/>
                </a:path>
                <a:path w="3457575" h="9525">
                  <a:moveTo>
                    <a:pt x="328612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86125" y="9525"/>
                  </a:lnTo>
                  <a:lnTo>
                    <a:pt x="3286125" y="0"/>
                  </a:lnTo>
                  <a:close/>
                </a:path>
                <a:path w="3457575" h="9525">
                  <a:moveTo>
                    <a:pt x="334327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43275" y="9525"/>
                  </a:lnTo>
                  <a:lnTo>
                    <a:pt x="3343275" y="0"/>
                  </a:lnTo>
                  <a:close/>
                </a:path>
                <a:path w="3457575" h="9525">
                  <a:moveTo>
                    <a:pt x="340042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400425" y="9525"/>
                  </a:lnTo>
                  <a:lnTo>
                    <a:pt x="3400425" y="0"/>
                  </a:lnTo>
                  <a:close/>
                </a:path>
                <a:path w="3457575" h="9525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6850" y="4991100"/>
              <a:ext cx="15801975" cy="3743325"/>
            </a:xfrm>
            <a:custGeom>
              <a:avLst/>
              <a:gdLst/>
              <a:ahLst/>
              <a:cxnLst/>
              <a:rect l="l" t="t" r="r" b="b"/>
              <a:pathLst>
                <a:path w="15801975" h="3743325">
                  <a:moveTo>
                    <a:pt x="0" y="0"/>
                  </a:moveTo>
                  <a:lnTo>
                    <a:pt x="15801975" y="0"/>
                  </a:lnTo>
                </a:path>
                <a:path w="15801975" h="3743325">
                  <a:moveTo>
                    <a:pt x="0" y="0"/>
                  </a:moveTo>
                  <a:lnTo>
                    <a:pt x="0" y="3743324"/>
                  </a:lnTo>
                </a:path>
              </a:pathLst>
            </a:custGeom>
            <a:ln w="9525">
              <a:solidFill>
                <a:srgbClr val="44444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2087" y="4991112"/>
              <a:ext cx="3527425" cy="3781425"/>
            </a:xfrm>
            <a:custGeom>
              <a:avLst/>
              <a:gdLst/>
              <a:ahLst/>
              <a:cxnLst/>
              <a:rect l="l" t="t" r="r" b="b"/>
              <a:pathLst>
                <a:path w="352742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3527425" h="3781425">
                  <a:moveTo>
                    <a:pt x="1768475" y="3771887"/>
                  </a:moveTo>
                  <a:lnTo>
                    <a:pt x="1758950" y="3771887"/>
                  </a:lnTo>
                  <a:lnTo>
                    <a:pt x="1758950" y="3781412"/>
                  </a:lnTo>
                  <a:lnTo>
                    <a:pt x="1768475" y="3781412"/>
                  </a:lnTo>
                  <a:lnTo>
                    <a:pt x="1768475" y="3771887"/>
                  </a:lnTo>
                  <a:close/>
                </a:path>
                <a:path w="3527425" h="3781425">
                  <a:moveTo>
                    <a:pt x="1768475" y="3714737"/>
                  </a:moveTo>
                  <a:lnTo>
                    <a:pt x="1758950" y="3714737"/>
                  </a:lnTo>
                  <a:lnTo>
                    <a:pt x="1758950" y="3743312"/>
                  </a:lnTo>
                  <a:lnTo>
                    <a:pt x="1768475" y="3743312"/>
                  </a:lnTo>
                  <a:lnTo>
                    <a:pt x="1768475" y="3714737"/>
                  </a:lnTo>
                  <a:close/>
                </a:path>
                <a:path w="3527425" h="3781425">
                  <a:moveTo>
                    <a:pt x="1768475" y="3657587"/>
                  </a:moveTo>
                  <a:lnTo>
                    <a:pt x="1758950" y="3657587"/>
                  </a:lnTo>
                  <a:lnTo>
                    <a:pt x="1758950" y="3686162"/>
                  </a:lnTo>
                  <a:lnTo>
                    <a:pt x="1768475" y="3686162"/>
                  </a:lnTo>
                  <a:lnTo>
                    <a:pt x="1768475" y="3657587"/>
                  </a:lnTo>
                  <a:close/>
                </a:path>
                <a:path w="3527425" h="3781425">
                  <a:moveTo>
                    <a:pt x="1768475" y="3600437"/>
                  </a:moveTo>
                  <a:lnTo>
                    <a:pt x="1758950" y="3600437"/>
                  </a:lnTo>
                  <a:lnTo>
                    <a:pt x="1758950" y="3629012"/>
                  </a:lnTo>
                  <a:lnTo>
                    <a:pt x="1768475" y="3629012"/>
                  </a:lnTo>
                  <a:lnTo>
                    <a:pt x="1768475" y="3600437"/>
                  </a:lnTo>
                  <a:close/>
                </a:path>
                <a:path w="3527425" h="3781425">
                  <a:moveTo>
                    <a:pt x="1768475" y="3543287"/>
                  </a:moveTo>
                  <a:lnTo>
                    <a:pt x="1758950" y="3543287"/>
                  </a:lnTo>
                  <a:lnTo>
                    <a:pt x="1758950" y="3571862"/>
                  </a:lnTo>
                  <a:lnTo>
                    <a:pt x="1768475" y="3571862"/>
                  </a:lnTo>
                  <a:lnTo>
                    <a:pt x="1768475" y="3543287"/>
                  </a:lnTo>
                  <a:close/>
                </a:path>
                <a:path w="3527425" h="3781425">
                  <a:moveTo>
                    <a:pt x="1768475" y="3486137"/>
                  </a:moveTo>
                  <a:lnTo>
                    <a:pt x="1758950" y="3486137"/>
                  </a:lnTo>
                  <a:lnTo>
                    <a:pt x="1758950" y="3514712"/>
                  </a:lnTo>
                  <a:lnTo>
                    <a:pt x="1768475" y="3514712"/>
                  </a:lnTo>
                  <a:lnTo>
                    <a:pt x="1768475" y="3486137"/>
                  </a:lnTo>
                  <a:close/>
                </a:path>
                <a:path w="3527425" h="3781425">
                  <a:moveTo>
                    <a:pt x="1768475" y="3428987"/>
                  </a:moveTo>
                  <a:lnTo>
                    <a:pt x="1758950" y="3428987"/>
                  </a:lnTo>
                  <a:lnTo>
                    <a:pt x="1758950" y="3457562"/>
                  </a:lnTo>
                  <a:lnTo>
                    <a:pt x="1768475" y="3457562"/>
                  </a:lnTo>
                  <a:lnTo>
                    <a:pt x="1768475" y="3428987"/>
                  </a:lnTo>
                  <a:close/>
                </a:path>
                <a:path w="3527425" h="3781425">
                  <a:moveTo>
                    <a:pt x="1768475" y="3371837"/>
                  </a:moveTo>
                  <a:lnTo>
                    <a:pt x="1758950" y="3371837"/>
                  </a:lnTo>
                  <a:lnTo>
                    <a:pt x="1758950" y="3400412"/>
                  </a:lnTo>
                  <a:lnTo>
                    <a:pt x="1768475" y="3400412"/>
                  </a:lnTo>
                  <a:lnTo>
                    <a:pt x="1768475" y="3371837"/>
                  </a:lnTo>
                  <a:close/>
                </a:path>
                <a:path w="3527425" h="3781425">
                  <a:moveTo>
                    <a:pt x="1768475" y="3314687"/>
                  </a:moveTo>
                  <a:lnTo>
                    <a:pt x="1758950" y="3314687"/>
                  </a:lnTo>
                  <a:lnTo>
                    <a:pt x="1758950" y="3343262"/>
                  </a:lnTo>
                  <a:lnTo>
                    <a:pt x="1768475" y="3343262"/>
                  </a:lnTo>
                  <a:lnTo>
                    <a:pt x="1768475" y="3314687"/>
                  </a:lnTo>
                  <a:close/>
                </a:path>
                <a:path w="3527425" h="3781425">
                  <a:moveTo>
                    <a:pt x="1768475" y="3257537"/>
                  </a:moveTo>
                  <a:lnTo>
                    <a:pt x="1758950" y="3257537"/>
                  </a:lnTo>
                  <a:lnTo>
                    <a:pt x="1758950" y="3286112"/>
                  </a:lnTo>
                  <a:lnTo>
                    <a:pt x="1768475" y="3286112"/>
                  </a:lnTo>
                  <a:lnTo>
                    <a:pt x="1768475" y="3257537"/>
                  </a:lnTo>
                  <a:close/>
                </a:path>
                <a:path w="3527425" h="3781425">
                  <a:moveTo>
                    <a:pt x="1768475" y="3200387"/>
                  </a:moveTo>
                  <a:lnTo>
                    <a:pt x="1758950" y="3200387"/>
                  </a:lnTo>
                  <a:lnTo>
                    <a:pt x="1758950" y="3228962"/>
                  </a:lnTo>
                  <a:lnTo>
                    <a:pt x="1768475" y="3228962"/>
                  </a:lnTo>
                  <a:lnTo>
                    <a:pt x="1768475" y="3200387"/>
                  </a:lnTo>
                  <a:close/>
                </a:path>
                <a:path w="3527425" h="3781425">
                  <a:moveTo>
                    <a:pt x="1768475" y="3143237"/>
                  </a:moveTo>
                  <a:lnTo>
                    <a:pt x="1758950" y="3143237"/>
                  </a:lnTo>
                  <a:lnTo>
                    <a:pt x="1758950" y="3171812"/>
                  </a:lnTo>
                  <a:lnTo>
                    <a:pt x="1768475" y="3171812"/>
                  </a:lnTo>
                  <a:lnTo>
                    <a:pt x="1768475" y="3143237"/>
                  </a:lnTo>
                  <a:close/>
                </a:path>
                <a:path w="3527425" h="3781425">
                  <a:moveTo>
                    <a:pt x="1768475" y="3086087"/>
                  </a:moveTo>
                  <a:lnTo>
                    <a:pt x="1758950" y="3086087"/>
                  </a:lnTo>
                  <a:lnTo>
                    <a:pt x="1758950" y="3114662"/>
                  </a:lnTo>
                  <a:lnTo>
                    <a:pt x="1768475" y="3114662"/>
                  </a:lnTo>
                  <a:lnTo>
                    <a:pt x="1768475" y="3086087"/>
                  </a:lnTo>
                  <a:close/>
                </a:path>
                <a:path w="3527425" h="3781425">
                  <a:moveTo>
                    <a:pt x="1768475" y="3028937"/>
                  </a:moveTo>
                  <a:lnTo>
                    <a:pt x="1758950" y="3028937"/>
                  </a:lnTo>
                  <a:lnTo>
                    <a:pt x="1758950" y="3057512"/>
                  </a:lnTo>
                  <a:lnTo>
                    <a:pt x="1768475" y="3057512"/>
                  </a:lnTo>
                  <a:lnTo>
                    <a:pt x="1768475" y="3028937"/>
                  </a:lnTo>
                  <a:close/>
                </a:path>
                <a:path w="3527425" h="3781425">
                  <a:moveTo>
                    <a:pt x="1768475" y="2971787"/>
                  </a:moveTo>
                  <a:lnTo>
                    <a:pt x="1758950" y="2971787"/>
                  </a:lnTo>
                  <a:lnTo>
                    <a:pt x="1758950" y="3000362"/>
                  </a:lnTo>
                  <a:lnTo>
                    <a:pt x="1768475" y="3000362"/>
                  </a:lnTo>
                  <a:lnTo>
                    <a:pt x="1768475" y="2971787"/>
                  </a:lnTo>
                  <a:close/>
                </a:path>
                <a:path w="3527425" h="3781425">
                  <a:moveTo>
                    <a:pt x="1768475" y="2914637"/>
                  </a:moveTo>
                  <a:lnTo>
                    <a:pt x="1758950" y="2914637"/>
                  </a:lnTo>
                  <a:lnTo>
                    <a:pt x="1758950" y="2943212"/>
                  </a:lnTo>
                  <a:lnTo>
                    <a:pt x="1768475" y="2943212"/>
                  </a:lnTo>
                  <a:lnTo>
                    <a:pt x="1768475" y="2914637"/>
                  </a:lnTo>
                  <a:close/>
                </a:path>
                <a:path w="3527425" h="3781425">
                  <a:moveTo>
                    <a:pt x="1768475" y="2857487"/>
                  </a:moveTo>
                  <a:lnTo>
                    <a:pt x="1758950" y="2857487"/>
                  </a:lnTo>
                  <a:lnTo>
                    <a:pt x="1758950" y="2886062"/>
                  </a:lnTo>
                  <a:lnTo>
                    <a:pt x="1768475" y="2886062"/>
                  </a:lnTo>
                  <a:lnTo>
                    <a:pt x="1768475" y="2857487"/>
                  </a:lnTo>
                  <a:close/>
                </a:path>
                <a:path w="3527425" h="3781425">
                  <a:moveTo>
                    <a:pt x="1768475" y="2800337"/>
                  </a:moveTo>
                  <a:lnTo>
                    <a:pt x="1758950" y="2800337"/>
                  </a:lnTo>
                  <a:lnTo>
                    <a:pt x="1758950" y="2828912"/>
                  </a:lnTo>
                  <a:lnTo>
                    <a:pt x="1768475" y="2828912"/>
                  </a:lnTo>
                  <a:lnTo>
                    <a:pt x="1768475" y="2800337"/>
                  </a:lnTo>
                  <a:close/>
                </a:path>
                <a:path w="3527425" h="3781425">
                  <a:moveTo>
                    <a:pt x="1768475" y="2743187"/>
                  </a:moveTo>
                  <a:lnTo>
                    <a:pt x="1758950" y="2743187"/>
                  </a:lnTo>
                  <a:lnTo>
                    <a:pt x="1758950" y="2771762"/>
                  </a:lnTo>
                  <a:lnTo>
                    <a:pt x="1768475" y="2771762"/>
                  </a:lnTo>
                  <a:lnTo>
                    <a:pt x="1768475" y="2743187"/>
                  </a:lnTo>
                  <a:close/>
                </a:path>
                <a:path w="3527425" h="3781425">
                  <a:moveTo>
                    <a:pt x="1768475" y="2686037"/>
                  </a:moveTo>
                  <a:lnTo>
                    <a:pt x="1758950" y="2686037"/>
                  </a:lnTo>
                  <a:lnTo>
                    <a:pt x="1758950" y="2714612"/>
                  </a:lnTo>
                  <a:lnTo>
                    <a:pt x="1768475" y="2714612"/>
                  </a:lnTo>
                  <a:lnTo>
                    <a:pt x="1768475" y="2686037"/>
                  </a:lnTo>
                  <a:close/>
                </a:path>
                <a:path w="3527425" h="3781425">
                  <a:moveTo>
                    <a:pt x="1768475" y="2628887"/>
                  </a:moveTo>
                  <a:lnTo>
                    <a:pt x="1758950" y="2628887"/>
                  </a:lnTo>
                  <a:lnTo>
                    <a:pt x="1758950" y="2657462"/>
                  </a:lnTo>
                  <a:lnTo>
                    <a:pt x="1768475" y="2657462"/>
                  </a:lnTo>
                  <a:lnTo>
                    <a:pt x="1768475" y="2628887"/>
                  </a:lnTo>
                  <a:close/>
                </a:path>
                <a:path w="3527425" h="3781425">
                  <a:moveTo>
                    <a:pt x="1768475" y="2571737"/>
                  </a:moveTo>
                  <a:lnTo>
                    <a:pt x="1758950" y="2571737"/>
                  </a:lnTo>
                  <a:lnTo>
                    <a:pt x="1758950" y="2600312"/>
                  </a:lnTo>
                  <a:lnTo>
                    <a:pt x="1768475" y="2600312"/>
                  </a:lnTo>
                  <a:lnTo>
                    <a:pt x="1768475" y="2571737"/>
                  </a:lnTo>
                  <a:close/>
                </a:path>
                <a:path w="3527425" h="3781425">
                  <a:moveTo>
                    <a:pt x="1768475" y="2514587"/>
                  </a:moveTo>
                  <a:lnTo>
                    <a:pt x="1758950" y="2514587"/>
                  </a:lnTo>
                  <a:lnTo>
                    <a:pt x="1758950" y="2543162"/>
                  </a:lnTo>
                  <a:lnTo>
                    <a:pt x="1768475" y="2543162"/>
                  </a:lnTo>
                  <a:lnTo>
                    <a:pt x="1768475" y="2514587"/>
                  </a:lnTo>
                  <a:close/>
                </a:path>
                <a:path w="3527425" h="3781425">
                  <a:moveTo>
                    <a:pt x="1768475" y="2457437"/>
                  </a:moveTo>
                  <a:lnTo>
                    <a:pt x="1758950" y="2457437"/>
                  </a:lnTo>
                  <a:lnTo>
                    <a:pt x="1758950" y="2486012"/>
                  </a:lnTo>
                  <a:lnTo>
                    <a:pt x="1768475" y="2486012"/>
                  </a:lnTo>
                  <a:lnTo>
                    <a:pt x="1768475" y="2457437"/>
                  </a:lnTo>
                  <a:close/>
                </a:path>
                <a:path w="3527425" h="3781425">
                  <a:moveTo>
                    <a:pt x="1768475" y="2400300"/>
                  </a:moveTo>
                  <a:lnTo>
                    <a:pt x="1758950" y="2400300"/>
                  </a:lnTo>
                  <a:lnTo>
                    <a:pt x="1758950" y="2428875"/>
                  </a:lnTo>
                  <a:lnTo>
                    <a:pt x="1768475" y="2428875"/>
                  </a:lnTo>
                  <a:lnTo>
                    <a:pt x="1768475" y="2400300"/>
                  </a:lnTo>
                  <a:close/>
                </a:path>
                <a:path w="3527425" h="3781425">
                  <a:moveTo>
                    <a:pt x="1768475" y="2343150"/>
                  </a:moveTo>
                  <a:lnTo>
                    <a:pt x="1758950" y="2343150"/>
                  </a:lnTo>
                  <a:lnTo>
                    <a:pt x="1758950" y="2371725"/>
                  </a:lnTo>
                  <a:lnTo>
                    <a:pt x="1768475" y="2371725"/>
                  </a:lnTo>
                  <a:lnTo>
                    <a:pt x="1768475" y="2343150"/>
                  </a:lnTo>
                  <a:close/>
                </a:path>
                <a:path w="3527425" h="3781425">
                  <a:moveTo>
                    <a:pt x="1768475" y="2286000"/>
                  </a:moveTo>
                  <a:lnTo>
                    <a:pt x="1758950" y="2286000"/>
                  </a:lnTo>
                  <a:lnTo>
                    <a:pt x="1758950" y="2314575"/>
                  </a:lnTo>
                  <a:lnTo>
                    <a:pt x="1768475" y="2314575"/>
                  </a:lnTo>
                  <a:lnTo>
                    <a:pt x="1768475" y="2286000"/>
                  </a:lnTo>
                  <a:close/>
                </a:path>
                <a:path w="3527425" h="3781425">
                  <a:moveTo>
                    <a:pt x="1768475" y="2228837"/>
                  </a:moveTo>
                  <a:lnTo>
                    <a:pt x="1758950" y="2228837"/>
                  </a:lnTo>
                  <a:lnTo>
                    <a:pt x="1758950" y="2257425"/>
                  </a:lnTo>
                  <a:lnTo>
                    <a:pt x="1768475" y="2257425"/>
                  </a:lnTo>
                  <a:lnTo>
                    <a:pt x="1768475" y="2228837"/>
                  </a:lnTo>
                  <a:close/>
                </a:path>
                <a:path w="3527425" h="3781425">
                  <a:moveTo>
                    <a:pt x="1768475" y="2171687"/>
                  </a:moveTo>
                  <a:lnTo>
                    <a:pt x="1758950" y="2171687"/>
                  </a:lnTo>
                  <a:lnTo>
                    <a:pt x="1758950" y="2200262"/>
                  </a:lnTo>
                  <a:lnTo>
                    <a:pt x="1768475" y="2200262"/>
                  </a:lnTo>
                  <a:lnTo>
                    <a:pt x="1768475" y="2171687"/>
                  </a:lnTo>
                  <a:close/>
                </a:path>
                <a:path w="3527425" h="3781425">
                  <a:moveTo>
                    <a:pt x="1768475" y="2114537"/>
                  </a:moveTo>
                  <a:lnTo>
                    <a:pt x="1758950" y="2114537"/>
                  </a:lnTo>
                  <a:lnTo>
                    <a:pt x="1758950" y="2143112"/>
                  </a:lnTo>
                  <a:lnTo>
                    <a:pt x="1768475" y="2143112"/>
                  </a:lnTo>
                  <a:lnTo>
                    <a:pt x="1768475" y="2114537"/>
                  </a:lnTo>
                  <a:close/>
                </a:path>
                <a:path w="3527425" h="3781425">
                  <a:moveTo>
                    <a:pt x="1768475" y="2057387"/>
                  </a:moveTo>
                  <a:lnTo>
                    <a:pt x="1758950" y="2057387"/>
                  </a:lnTo>
                  <a:lnTo>
                    <a:pt x="1758950" y="2085962"/>
                  </a:lnTo>
                  <a:lnTo>
                    <a:pt x="1768475" y="2085962"/>
                  </a:lnTo>
                  <a:lnTo>
                    <a:pt x="1768475" y="2057387"/>
                  </a:lnTo>
                  <a:close/>
                </a:path>
                <a:path w="3527425" h="3781425">
                  <a:moveTo>
                    <a:pt x="1768475" y="2000237"/>
                  </a:moveTo>
                  <a:lnTo>
                    <a:pt x="1758950" y="2000237"/>
                  </a:lnTo>
                  <a:lnTo>
                    <a:pt x="1758950" y="2028812"/>
                  </a:lnTo>
                  <a:lnTo>
                    <a:pt x="1768475" y="2028812"/>
                  </a:lnTo>
                  <a:lnTo>
                    <a:pt x="1768475" y="2000237"/>
                  </a:lnTo>
                  <a:close/>
                </a:path>
                <a:path w="3527425" h="3781425">
                  <a:moveTo>
                    <a:pt x="1768475" y="1943087"/>
                  </a:moveTo>
                  <a:lnTo>
                    <a:pt x="1758950" y="1943087"/>
                  </a:lnTo>
                  <a:lnTo>
                    <a:pt x="1758950" y="1971662"/>
                  </a:lnTo>
                  <a:lnTo>
                    <a:pt x="1768475" y="1971662"/>
                  </a:lnTo>
                  <a:lnTo>
                    <a:pt x="1768475" y="1943087"/>
                  </a:lnTo>
                  <a:close/>
                </a:path>
                <a:path w="3527425" h="3781425">
                  <a:moveTo>
                    <a:pt x="1768475" y="1885937"/>
                  </a:moveTo>
                  <a:lnTo>
                    <a:pt x="1758950" y="1885937"/>
                  </a:lnTo>
                  <a:lnTo>
                    <a:pt x="1758950" y="1914512"/>
                  </a:lnTo>
                  <a:lnTo>
                    <a:pt x="1768475" y="1914512"/>
                  </a:lnTo>
                  <a:lnTo>
                    <a:pt x="1768475" y="1885937"/>
                  </a:lnTo>
                  <a:close/>
                </a:path>
                <a:path w="3527425" h="3781425">
                  <a:moveTo>
                    <a:pt x="1768475" y="1828787"/>
                  </a:moveTo>
                  <a:lnTo>
                    <a:pt x="1758950" y="1828787"/>
                  </a:lnTo>
                  <a:lnTo>
                    <a:pt x="1758950" y="1857362"/>
                  </a:lnTo>
                  <a:lnTo>
                    <a:pt x="1768475" y="1857362"/>
                  </a:lnTo>
                  <a:lnTo>
                    <a:pt x="1768475" y="1828787"/>
                  </a:lnTo>
                  <a:close/>
                </a:path>
                <a:path w="3527425" h="3781425">
                  <a:moveTo>
                    <a:pt x="1768475" y="1771637"/>
                  </a:moveTo>
                  <a:lnTo>
                    <a:pt x="1758950" y="1771637"/>
                  </a:lnTo>
                  <a:lnTo>
                    <a:pt x="1758950" y="1800212"/>
                  </a:lnTo>
                  <a:lnTo>
                    <a:pt x="1768475" y="1800212"/>
                  </a:lnTo>
                  <a:lnTo>
                    <a:pt x="1768475" y="1771637"/>
                  </a:lnTo>
                  <a:close/>
                </a:path>
                <a:path w="3527425" h="3781425">
                  <a:moveTo>
                    <a:pt x="1768475" y="1714487"/>
                  </a:moveTo>
                  <a:lnTo>
                    <a:pt x="1758950" y="1714487"/>
                  </a:lnTo>
                  <a:lnTo>
                    <a:pt x="1758950" y="1743062"/>
                  </a:lnTo>
                  <a:lnTo>
                    <a:pt x="1768475" y="1743062"/>
                  </a:lnTo>
                  <a:lnTo>
                    <a:pt x="1768475" y="1714487"/>
                  </a:lnTo>
                  <a:close/>
                </a:path>
                <a:path w="3527425" h="3781425">
                  <a:moveTo>
                    <a:pt x="1768475" y="1657337"/>
                  </a:moveTo>
                  <a:lnTo>
                    <a:pt x="1758950" y="1657337"/>
                  </a:lnTo>
                  <a:lnTo>
                    <a:pt x="1758950" y="1685912"/>
                  </a:lnTo>
                  <a:lnTo>
                    <a:pt x="1768475" y="1685912"/>
                  </a:lnTo>
                  <a:lnTo>
                    <a:pt x="1768475" y="1657337"/>
                  </a:lnTo>
                  <a:close/>
                </a:path>
                <a:path w="3527425" h="3781425">
                  <a:moveTo>
                    <a:pt x="1768475" y="1600187"/>
                  </a:moveTo>
                  <a:lnTo>
                    <a:pt x="1758950" y="1600187"/>
                  </a:lnTo>
                  <a:lnTo>
                    <a:pt x="1758950" y="1628762"/>
                  </a:lnTo>
                  <a:lnTo>
                    <a:pt x="1768475" y="1628762"/>
                  </a:lnTo>
                  <a:lnTo>
                    <a:pt x="1768475" y="1600187"/>
                  </a:lnTo>
                  <a:close/>
                </a:path>
                <a:path w="3527425" h="3781425">
                  <a:moveTo>
                    <a:pt x="1768475" y="1543037"/>
                  </a:moveTo>
                  <a:lnTo>
                    <a:pt x="1758950" y="1543037"/>
                  </a:lnTo>
                  <a:lnTo>
                    <a:pt x="1758950" y="1571612"/>
                  </a:lnTo>
                  <a:lnTo>
                    <a:pt x="1768475" y="1571612"/>
                  </a:lnTo>
                  <a:lnTo>
                    <a:pt x="1768475" y="1543037"/>
                  </a:lnTo>
                  <a:close/>
                </a:path>
                <a:path w="3527425" h="3781425">
                  <a:moveTo>
                    <a:pt x="1768475" y="1485887"/>
                  </a:moveTo>
                  <a:lnTo>
                    <a:pt x="1758950" y="1485887"/>
                  </a:lnTo>
                  <a:lnTo>
                    <a:pt x="1758950" y="1514462"/>
                  </a:lnTo>
                  <a:lnTo>
                    <a:pt x="1768475" y="1514462"/>
                  </a:lnTo>
                  <a:lnTo>
                    <a:pt x="1768475" y="1485887"/>
                  </a:lnTo>
                  <a:close/>
                </a:path>
                <a:path w="3527425" h="3781425">
                  <a:moveTo>
                    <a:pt x="1768475" y="1428737"/>
                  </a:moveTo>
                  <a:lnTo>
                    <a:pt x="1758950" y="1428737"/>
                  </a:lnTo>
                  <a:lnTo>
                    <a:pt x="1758950" y="1457312"/>
                  </a:lnTo>
                  <a:lnTo>
                    <a:pt x="1768475" y="1457312"/>
                  </a:lnTo>
                  <a:lnTo>
                    <a:pt x="1768475" y="1428737"/>
                  </a:lnTo>
                  <a:close/>
                </a:path>
                <a:path w="3527425" h="3781425">
                  <a:moveTo>
                    <a:pt x="1768475" y="1371587"/>
                  </a:moveTo>
                  <a:lnTo>
                    <a:pt x="1758950" y="1371587"/>
                  </a:lnTo>
                  <a:lnTo>
                    <a:pt x="1758950" y="1400162"/>
                  </a:lnTo>
                  <a:lnTo>
                    <a:pt x="1768475" y="1400162"/>
                  </a:lnTo>
                  <a:lnTo>
                    <a:pt x="1768475" y="1371587"/>
                  </a:lnTo>
                  <a:close/>
                </a:path>
                <a:path w="3527425" h="3781425">
                  <a:moveTo>
                    <a:pt x="1768475" y="1314437"/>
                  </a:moveTo>
                  <a:lnTo>
                    <a:pt x="1758950" y="1314437"/>
                  </a:lnTo>
                  <a:lnTo>
                    <a:pt x="1758950" y="1343012"/>
                  </a:lnTo>
                  <a:lnTo>
                    <a:pt x="1768475" y="1343012"/>
                  </a:lnTo>
                  <a:lnTo>
                    <a:pt x="1768475" y="1314437"/>
                  </a:lnTo>
                  <a:close/>
                </a:path>
                <a:path w="3527425" h="3781425">
                  <a:moveTo>
                    <a:pt x="1768475" y="1257287"/>
                  </a:moveTo>
                  <a:lnTo>
                    <a:pt x="1758950" y="1257287"/>
                  </a:lnTo>
                  <a:lnTo>
                    <a:pt x="1758950" y="1285862"/>
                  </a:lnTo>
                  <a:lnTo>
                    <a:pt x="1768475" y="1285862"/>
                  </a:lnTo>
                  <a:lnTo>
                    <a:pt x="1768475" y="1257287"/>
                  </a:lnTo>
                  <a:close/>
                </a:path>
                <a:path w="3527425" h="3781425">
                  <a:moveTo>
                    <a:pt x="1768475" y="1200150"/>
                  </a:moveTo>
                  <a:lnTo>
                    <a:pt x="1758950" y="1200150"/>
                  </a:lnTo>
                  <a:lnTo>
                    <a:pt x="1758950" y="1228712"/>
                  </a:lnTo>
                  <a:lnTo>
                    <a:pt x="1768475" y="1228712"/>
                  </a:lnTo>
                  <a:lnTo>
                    <a:pt x="1768475" y="1200150"/>
                  </a:lnTo>
                  <a:close/>
                </a:path>
                <a:path w="3527425" h="3781425">
                  <a:moveTo>
                    <a:pt x="1768475" y="1143000"/>
                  </a:moveTo>
                  <a:lnTo>
                    <a:pt x="1758950" y="1143000"/>
                  </a:lnTo>
                  <a:lnTo>
                    <a:pt x="1758950" y="1171575"/>
                  </a:lnTo>
                  <a:lnTo>
                    <a:pt x="1768475" y="1171575"/>
                  </a:lnTo>
                  <a:lnTo>
                    <a:pt x="1768475" y="1143000"/>
                  </a:lnTo>
                  <a:close/>
                </a:path>
                <a:path w="3527425" h="3781425">
                  <a:moveTo>
                    <a:pt x="1768475" y="1085850"/>
                  </a:moveTo>
                  <a:lnTo>
                    <a:pt x="1758950" y="1085850"/>
                  </a:lnTo>
                  <a:lnTo>
                    <a:pt x="1758950" y="1114425"/>
                  </a:lnTo>
                  <a:lnTo>
                    <a:pt x="1768475" y="1114425"/>
                  </a:lnTo>
                  <a:lnTo>
                    <a:pt x="1768475" y="1085850"/>
                  </a:lnTo>
                  <a:close/>
                </a:path>
                <a:path w="3527425" h="3781425">
                  <a:moveTo>
                    <a:pt x="1768475" y="1028687"/>
                  </a:moveTo>
                  <a:lnTo>
                    <a:pt x="1758950" y="1028687"/>
                  </a:lnTo>
                  <a:lnTo>
                    <a:pt x="1758950" y="1057275"/>
                  </a:lnTo>
                  <a:lnTo>
                    <a:pt x="1768475" y="1057275"/>
                  </a:lnTo>
                  <a:lnTo>
                    <a:pt x="1768475" y="1028687"/>
                  </a:lnTo>
                  <a:close/>
                </a:path>
                <a:path w="3527425" h="3781425">
                  <a:moveTo>
                    <a:pt x="1768475" y="971537"/>
                  </a:moveTo>
                  <a:lnTo>
                    <a:pt x="1758950" y="971537"/>
                  </a:lnTo>
                  <a:lnTo>
                    <a:pt x="1758950" y="1000112"/>
                  </a:lnTo>
                  <a:lnTo>
                    <a:pt x="1768475" y="1000112"/>
                  </a:lnTo>
                  <a:lnTo>
                    <a:pt x="1768475" y="971537"/>
                  </a:lnTo>
                  <a:close/>
                </a:path>
                <a:path w="3527425" h="3781425">
                  <a:moveTo>
                    <a:pt x="1768475" y="914387"/>
                  </a:moveTo>
                  <a:lnTo>
                    <a:pt x="1758950" y="914387"/>
                  </a:lnTo>
                  <a:lnTo>
                    <a:pt x="1758950" y="942962"/>
                  </a:lnTo>
                  <a:lnTo>
                    <a:pt x="1768475" y="942962"/>
                  </a:lnTo>
                  <a:lnTo>
                    <a:pt x="1768475" y="914387"/>
                  </a:lnTo>
                  <a:close/>
                </a:path>
                <a:path w="3527425" h="3781425">
                  <a:moveTo>
                    <a:pt x="1768475" y="857237"/>
                  </a:moveTo>
                  <a:lnTo>
                    <a:pt x="1758950" y="857237"/>
                  </a:lnTo>
                  <a:lnTo>
                    <a:pt x="1758950" y="885812"/>
                  </a:lnTo>
                  <a:lnTo>
                    <a:pt x="1768475" y="885812"/>
                  </a:lnTo>
                  <a:lnTo>
                    <a:pt x="1768475" y="857237"/>
                  </a:lnTo>
                  <a:close/>
                </a:path>
                <a:path w="3527425" h="3781425">
                  <a:moveTo>
                    <a:pt x="1768475" y="800087"/>
                  </a:moveTo>
                  <a:lnTo>
                    <a:pt x="1758950" y="800087"/>
                  </a:lnTo>
                  <a:lnTo>
                    <a:pt x="1758950" y="828662"/>
                  </a:lnTo>
                  <a:lnTo>
                    <a:pt x="1768475" y="828662"/>
                  </a:lnTo>
                  <a:lnTo>
                    <a:pt x="1768475" y="800087"/>
                  </a:lnTo>
                  <a:close/>
                </a:path>
                <a:path w="3527425" h="3781425">
                  <a:moveTo>
                    <a:pt x="1768475" y="742937"/>
                  </a:moveTo>
                  <a:lnTo>
                    <a:pt x="1758950" y="742937"/>
                  </a:lnTo>
                  <a:lnTo>
                    <a:pt x="1758950" y="771512"/>
                  </a:lnTo>
                  <a:lnTo>
                    <a:pt x="1768475" y="771512"/>
                  </a:lnTo>
                  <a:lnTo>
                    <a:pt x="1768475" y="742937"/>
                  </a:lnTo>
                  <a:close/>
                </a:path>
                <a:path w="3527425" h="3781425">
                  <a:moveTo>
                    <a:pt x="1768475" y="685787"/>
                  </a:moveTo>
                  <a:lnTo>
                    <a:pt x="1758950" y="685787"/>
                  </a:lnTo>
                  <a:lnTo>
                    <a:pt x="1758950" y="714362"/>
                  </a:lnTo>
                  <a:lnTo>
                    <a:pt x="1768475" y="714362"/>
                  </a:lnTo>
                  <a:lnTo>
                    <a:pt x="1768475" y="685787"/>
                  </a:lnTo>
                  <a:close/>
                </a:path>
                <a:path w="3527425" h="3781425">
                  <a:moveTo>
                    <a:pt x="1768475" y="628637"/>
                  </a:moveTo>
                  <a:lnTo>
                    <a:pt x="1758950" y="628637"/>
                  </a:lnTo>
                  <a:lnTo>
                    <a:pt x="1758950" y="657212"/>
                  </a:lnTo>
                  <a:lnTo>
                    <a:pt x="1768475" y="657212"/>
                  </a:lnTo>
                  <a:lnTo>
                    <a:pt x="1768475" y="628637"/>
                  </a:lnTo>
                  <a:close/>
                </a:path>
                <a:path w="3527425" h="3781425">
                  <a:moveTo>
                    <a:pt x="1768475" y="571500"/>
                  </a:moveTo>
                  <a:lnTo>
                    <a:pt x="1758950" y="571500"/>
                  </a:lnTo>
                  <a:lnTo>
                    <a:pt x="1758950" y="600075"/>
                  </a:lnTo>
                  <a:lnTo>
                    <a:pt x="1768475" y="600075"/>
                  </a:lnTo>
                  <a:lnTo>
                    <a:pt x="1768475" y="571500"/>
                  </a:lnTo>
                  <a:close/>
                </a:path>
                <a:path w="3527425" h="3781425">
                  <a:moveTo>
                    <a:pt x="1768475" y="514350"/>
                  </a:moveTo>
                  <a:lnTo>
                    <a:pt x="1758950" y="514350"/>
                  </a:lnTo>
                  <a:lnTo>
                    <a:pt x="1758950" y="542925"/>
                  </a:lnTo>
                  <a:lnTo>
                    <a:pt x="1768475" y="542925"/>
                  </a:lnTo>
                  <a:lnTo>
                    <a:pt x="1768475" y="514350"/>
                  </a:lnTo>
                  <a:close/>
                </a:path>
                <a:path w="3527425" h="3781425">
                  <a:moveTo>
                    <a:pt x="1768475" y="457200"/>
                  </a:moveTo>
                  <a:lnTo>
                    <a:pt x="1758950" y="457200"/>
                  </a:lnTo>
                  <a:lnTo>
                    <a:pt x="1758950" y="485775"/>
                  </a:lnTo>
                  <a:lnTo>
                    <a:pt x="1768475" y="485775"/>
                  </a:lnTo>
                  <a:lnTo>
                    <a:pt x="1768475" y="457200"/>
                  </a:lnTo>
                  <a:close/>
                </a:path>
                <a:path w="3527425" h="3781425">
                  <a:moveTo>
                    <a:pt x="1768475" y="400037"/>
                  </a:moveTo>
                  <a:lnTo>
                    <a:pt x="1758950" y="400037"/>
                  </a:lnTo>
                  <a:lnTo>
                    <a:pt x="1758950" y="428625"/>
                  </a:lnTo>
                  <a:lnTo>
                    <a:pt x="1768475" y="428625"/>
                  </a:lnTo>
                  <a:lnTo>
                    <a:pt x="1768475" y="400037"/>
                  </a:lnTo>
                  <a:close/>
                </a:path>
                <a:path w="3527425" h="3781425">
                  <a:moveTo>
                    <a:pt x="1768475" y="342887"/>
                  </a:moveTo>
                  <a:lnTo>
                    <a:pt x="1758950" y="342887"/>
                  </a:lnTo>
                  <a:lnTo>
                    <a:pt x="1758950" y="371462"/>
                  </a:lnTo>
                  <a:lnTo>
                    <a:pt x="1768475" y="371462"/>
                  </a:lnTo>
                  <a:lnTo>
                    <a:pt x="1768475" y="342887"/>
                  </a:lnTo>
                  <a:close/>
                </a:path>
                <a:path w="3527425" h="3781425">
                  <a:moveTo>
                    <a:pt x="1768475" y="285750"/>
                  </a:moveTo>
                  <a:lnTo>
                    <a:pt x="1758950" y="285750"/>
                  </a:lnTo>
                  <a:lnTo>
                    <a:pt x="1758950" y="314312"/>
                  </a:lnTo>
                  <a:lnTo>
                    <a:pt x="1768475" y="314312"/>
                  </a:lnTo>
                  <a:lnTo>
                    <a:pt x="1768475" y="285750"/>
                  </a:lnTo>
                  <a:close/>
                </a:path>
                <a:path w="3527425" h="3781425">
                  <a:moveTo>
                    <a:pt x="1768475" y="228600"/>
                  </a:moveTo>
                  <a:lnTo>
                    <a:pt x="1758950" y="228600"/>
                  </a:lnTo>
                  <a:lnTo>
                    <a:pt x="1758950" y="257175"/>
                  </a:lnTo>
                  <a:lnTo>
                    <a:pt x="1768475" y="257175"/>
                  </a:lnTo>
                  <a:lnTo>
                    <a:pt x="1768475" y="228600"/>
                  </a:lnTo>
                  <a:close/>
                </a:path>
                <a:path w="3527425" h="3781425">
                  <a:moveTo>
                    <a:pt x="1768475" y="171450"/>
                  </a:moveTo>
                  <a:lnTo>
                    <a:pt x="1758950" y="171450"/>
                  </a:lnTo>
                  <a:lnTo>
                    <a:pt x="1758950" y="200025"/>
                  </a:lnTo>
                  <a:lnTo>
                    <a:pt x="1768475" y="200025"/>
                  </a:lnTo>
                  <a:lnTo>
                    <a:pt x="1768475" y="171450"/>
                  </a:lnTo>
                  <a:close/>
                </a:path>
                <a:path w="3527425" h="3781425">
                  <a:moveTo>
                    <a:pt x="1768475" y="114300"/>
                  </a:moveTo>
                  <a:lnTo>
                    <a:pt x="1758950" y="114300"/>
                  </a:lnTo>
                  <a:lnTo>
                    <a:pt x="1758950" y="142875"/>
                  </a:lnTo>
                  <a:lnTo>
                    <a:pt x="1768475" y="142875"/>
                  </a:lnTo>
                  <a:lnTo>
                    <a:pt x="1768475" y="114300"/>
                  </a:lnTo>
                  <a:close/>
                </a:path>
                <a:path w="3527425" h="3781425">
                  <a:moveTo>
                    <a:pt x="1768475" y="57150"/>
                  </a:moveTo>
                  <a:lnTo>
                    <a:pt x="1758950" y="57150"/>
                  </a:lnTo>
                  <a:lnTo>
                    <a:pt x="1758950" y="85725"/>
                  </a:lnTo>
                  <a:lnTo>
                    <a:pt x="1768475" y="85725"/>
                  </a:lnTo>
                  <a:lnTo>
                    <a:pt x="1768475" y="57150"/>
                  </a:lnTo>
                  <a:close/>
                </a:path>
                <a:path w="3527425" h="3781425">
                  <a:moveTo>
                    <a:pt x="1768475" y="0"/>
                  </a:moveTo>
                  <a:lnTo>
                    <a:pt x="1758950" y="0"/>
                  </a:lnTo>
                  <a:lnTo>
                    <a:pt x="1758950" y="28575"/>
                  </a:lnTo>
                  <a:lnTo>
                    <a:pt x="1768475" y="28575"/>
                  </a:lnTo>
                  <a:lnTo>
                    <a:pt x="1768475" y="0"/>
                  </a:lnTo>
                  <a:close/>
                </a:path>
                <a:path w="3527425" h="3781425">
                  <a:moveTo>
                    <a:pt x="3527425" y="114300"/>
                  </a:moveTo>
                  <a:lnTo>
                    <a:pt x="3517900" y="114300"/>
                  </a:lnTo>
                  <a:lnTo>
                    <a:pt x="3517900" y="142875"/>
                  </a:lnTo>
                  <a:lnTo>
                    <a:pt x="3527425" y="142875"/>
                  </a:lnTo>
                  <a:lnTo>
                    <a:pt x="3527425" y="114300"/>
                  </a:lnTo>
                  <a:close/>
                </a:path>
                <a:path w="3527425" h="3781425">
                  <a:moveTo>
                    <a:pt x="3527425" y="57150"/>
                  </a:moveTo>
                  <a:lnTo>
                    <a:pt x="3517900" y="57150"/>
                  </a:lnTo>
                  <a:lnTo>
                    <a:pt x="3517900" y="85725"/>
                  </a:lnTo>
                  <a:lnTo>
                    <a:pt x="3527425" y="85725"/>
                  </a:lnTo>
                  <a:lnTo>
                    <a:pt x="3527425" y="57150"/>
                  </a:lnTo>
                  <a:close/>
                </a:path>
                <a:path w="3527425" h="3781425">
                  <a:moveTo>
                    <a:pt x="3527425" y="0"/>
                  </a:moveTo>
                  <a:lnTo>
                    <a:pt x="3517900" y="0"/>
                  </a:lnTo>
                  <a:lnTo>
                    <a:pt x="3517900" y="28575"/>
                  </a:lnTo>
                  <a:lnTo>
                    <a:pt x="3527425" y="28575"/>
                  </a:lnTo>
                  <a:lnTo>
                    <a:pt x="352742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79987" y="4991112"/>
              <a:ext cx="1768475" cy="3781425"/>
            </a:xfrm>
            <a:custGeom>
              <a:avLst/>
              <a:gdLst/>
              <a:ahLst/>
              <a:cxnLst/>
              <a:rect l="l" t="t" r="r" b="b"/>
              <a:pathLst>
                <a:path w="176847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8475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8475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8475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8475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8475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8475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8475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8475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8475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8475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8475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8475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8475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8475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8475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8475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8475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8475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8475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8475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8475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8475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8475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8475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8475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8475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8475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8475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8475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8475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8475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8475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8475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8475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8475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8475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8475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8475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8475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8475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8475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8475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8475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8475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8475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8475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8475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8475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8475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8475" h="3781425">
                  <a:moveTo>
                    <a:pt x="9525" y="914387"/>
                  </a:moveTo>
                  <a:lnTo>
                    <a:pt x="0" y="914387"/>
                  </a:lnTo>
                  <a:lnTo>
                    <a:pt x="0" y="942962"/>
                  </a:lnTo>
                  <a:lnTo>
                    <a:pt x="9525" y="942962"/>
                  </a:lnTo>
                  <a:lnTo>
                    <a:pt x="9525" y="914387"/>
                  </a:lnTo>
                  <a:close/>
                </a:path>
                <a:path w="1768475" h="3781425">
                  <a:moveTo>
                    <a:pt x="9525" y="857237"/>
                  </a:moveTo>
                  <a:lnTo>
                    <a:pt x="0" y="857237"/>
                  </a:lnTo>
                  <a:lnTo>
                    <a:pt x="0" y="885812"/>
                  </a:lnTo>
                  <a:lnTo>
                    <a:pt x="9525" y="885812"/>
                  </a:lnTo>
                  <a:lnTo>
                    <a:pt x="9525" y="857237"/>
                  </a:lnTo>
                  <a:close/>
                </a:path>
                <a:path w="1768475" h="3781425">
                  <a:moveTo>
                    <a:pt x="9525" y="800087"/>
                  </a:moveTo>
                  <a:lnTo>
                    <a:pt x="0" y="800087"/>
                  </a:lnTo>
                  <a:lnTo>
                    <a:pt x="0" y="828662"/>
                  </a:lnTo>
                  <a:lnTo>
                    <a:pt x="9525" y="828662"/>
                  </a:lnTo>
                  <a:lnTo>
                    <a:pt x="9525" y="800087"/>
                  </a:lnTo>
                  <a:close/>
                </a:path>
                <a:path w="1768475" h="3781425">
                  <a:moveTo>
                    <a:pt x="9525" y="742937"/>
                  </a:moveTo>
                  <a:lnTo>
                    <a:pt x="0" y="742937"/>
                  </a:lnTo>
                  <a:lnTo>
                    <a:pt x="0" y="771512"/>
                  </a:lnTo>
                  <a:lnTo>
                    <a:pt x="9525" y="771512"/>
                  </a:lnTo>
                  <a:lnTo>
                    <a:pt x="9525" y="742937"/>
                  </a:lnTo>
                  <a:close/>
                </a:path>
                <a:path w="1768475" h="3781425">
                  <a:moveTo>
                    <a:pt x="9525" y="685787"/>
                  </a:moveTo>
                  <a:lnTo>
                    <a:pt x="0" y="685787"/>
                  </a:lnTo>
                  <a:lnTo>
                    <a:pt x="0" y="714362"/>
                  </a:lnTo>
                  <a:lnTo>
                    <a:pt x="9525" y="714362"/>
                  </a:lnTo>
                  <a:lnTo>
                    <a:pt x="9525" y="685787"/>
                  </a:lnTo>
                  <a:close/>
                </a:path>
                <a:path w="1768475" h="3781425">
                  <a:moveTo>
                    <a:pt x="9525" y="628637"/>
                  </a:moveTo>
                  <a:lnTo>
                    <a:pt x="0" y="628637"/>
                  </a:lnTo>
                  <a:lnTo>
                    <a:pt x="0" y="657212"/>
                  </a:lnTo>
                  <a:lnTo>
                    <a:pt x="9525" y="657212"/>
                  </a:lnTo>
                  <a:lnTo>
                    <a:pt x="9525" y="628637"/>
                  </a:lnTo>
                  <a:close/>
                </a:path>
                <a:path w="1768475" h="3781425">
                  <a:moveTo>
                    <a:pt x="9525" y="571500"/>
                  </a:moveTo>
                  <a:lnTo>
                    <a:pt x="0" y="571500"/>
                  </a:lnTo>
                  <a:lnTo>
                    <a:pt x="0" y="600075"/>
                  </a:lnTo>
                  <a:lnTo>
                    <a:pt x="9525" y="600075"/>
                  </a:lnTo>
                  <a:lnTo>
                    <a:pt x="9525" y="571500"/>
                  </a:lnTo>
                  <a:close/>
                </a:path>
                <a:path w="1768475" h="3781425">
                  <a:moveTo>
                    <a:pt x="9525" y="514350"/>
                  </a:moveTo>
                  <a:lnTo>
                    <a:pt x="0" y="514350"/>
                  </a:lnTo>
                  <a:lnTo>
                    <a:pt x="0" y="542925"/>
                  </a:lnTo>
                  <a:lnTo>
                    <a:pt x="9525" y="542925"/>
                  </a:lnTo>
                  <a:lnTo>
                    <a:pt x="9525" y="514350"/>
                  </a:lnTo>
                  <a:close/>
                </a:path>
                <a:path w="1768475" h="3781425">
                  <a:moveTo>
                    <a:pt x="9525" y="457200"/>
                  </a:moveTo>
                  <a:lnTo>
                    <a:pt x="0" y="457200"/>
                  </a:lnTo>
                  <a:lnTo>
                    <a:pt x="0" y="485775"/>
                  </a:lnTo>
                  <a:lnTo>
                    <a:pt x="9525" y="485775"/>
                  </a:lnTo>
                  <a:lnTo>
                    <a:pt x="9525" y="457200"/>
                  </a:lnTo>
                  <a:close/>
                </a:path>
                <a:path w="1768475" h="3781425">
                  <a:moveTo>
                    <a:pt x="9525" y="400037"/>
                  </a:moveTo>
                  <a:lnTo>
                    <a:pt x="0" y="400037"/>
                  </a:lnTo>
                  <a:lnTo>
                    <a:pt x="0" y="428625"/>
                  </a:lnTo>
                  <a:lnTo>
                    <a:pt x="9525" y="428625"/>
                  </a:lnTo>
                  <a:lnTo>
                    <a:pt x="9525" y="400037"/>
                  </a:lnTo>
                  <a:close/>
                </a:path>
                <a:path w="1768475" h="3781425">
                  <a:moveTo>
                    <a:pt x="9525" y="342887"/>
                  </a:moveTo>
                  <a:lnTo>
                    <a:pt x="0" y="342887"/>
                  </a:lnTo>
                  <a:lnTo>
                    <a:pt x="0" y="371462"/>
                  </a:lnTo>
                  <a:lnTo>
                    <a:pt x="9525" y="371462"/>
                  </a:lnTo>
                  <a:lnTo>
                    <a:pt x="9525" y="342887"/>
                  </a:lnTo>
                  <a:close/>
                </a:path>
                <a:path w="1768475" h="3781425">
                  <a:moveTo>
                    <a:pt x="9525" y="285750"/>
                  </a:moveTo>
                  <a:lnTo>
                    <a:pt x="0" y="285750"/>
                  </a:lnTo>
                  <a:lnTo>
                    <a:pt x="0" y="314312"/>
                  </a:lnTo>
                  <a:lnTo>
                    <a:pt x="9525" y="314312"/>
                  </a:lnTo>
                  <a:lnTo>
                    <a:pt x="9525" y="285750"/>
                  </a:lnTo>
                  <a:close/>
                </a:path>
                <a:path w="1768475" h="3781425">
                  <a:moveTo>
                    <a:pt x="9525" y="228600"/>
                  </a:moveTo>
                  <a:lnTo>
                    <a:pt x="0" y="228600"/>
                  </a:lnTo>
                  <a:lnTo>
                    <a:pt x="0" y="257175"/>
                  </a:lnTo>
                  <a:lnTo>
                    <a:pt x="9525" y="257175"/>
                  </a:lnTo>
                  <a:lnTo>
                    <a:pt x="9525" y="228600"/>
                  </a:lnTo>
                  <a:close/>
                </a:path>
                <a:path w="1768475" h="3781425">
                  <a:moveTo>
                    <a:pt x="9525" y="171450"/>
                  </a:moveTo>
                  <a:lnTo>
                    <a:pt x="0" y="171450"/>
                  </a:lnTo>
                  <a:lnTo>
                    <a:pt x="0" y="200025"/>
                  </a:lnTo>
                  <a:lnTo>
                    <a:pt x="9525" y="200025"/>
                  </a:lnTo>
                  <a:lnTo>
                    <a:pt x="9525" y="171450"/>
                  </a:lnTo>
                  <a:close/>
                </a:path>
                <a:path w="1768475" h="3781425">
                  <a:moveTo>
                    <a:pt x="9525" y="114300"/>
                  </a:moveTo>
                  <a:lnTo>
                    <a:pt x="0" y="114300"/>
                  </a:lnTo>
                  <a:lnTo>
                    <a:pt x="0" y="142875"/>
                  </a:lnTo>
                  <a:lnTo>
                    <a:pt x="9525" y="142875"/>
                  </a:lnTo>
                  <a:lnTo>
                    <a:pt x="9525" y="114300"/>
                  </a:lnTo>
                  <a:close/>
                </a:path>
                <a:path w="1768475" h="3781425">
                  <a:moveTo>
                    <a:pt x="1768475" y="285750"/>
                  </a:moveTo>
                  <a:lnTo>
                    <a:pt x="1758950" y="285750"/>
                  </a:lnTo>
                  <a:lnTo>
                    <a:pt x="1758950" y="314312"/>
                  </a:lnTo>
                  <a:lnTo>
                    <a:pt x="1768475" y="314312"/>
                  </a:lnTo>
                  <a:lnTo>
                    <a:pt x="1768475" y="285750"/>
                  </a:lnTo>
                  <a:close/>
                </a:path>
                <a:path w="1768475" h="3781425">
                  <a:moveTo>
                    <a:pt x="1768475" y="228600"/>
                  </a:moveTo>
                  <a:lnTo>
                    <a:pt x="1758950" y="228600"/>
                  </a:lnTo>
                  <a:lnTo>
                    <a:pt x="1758950" y="257175"/>
                  </a:lnTo>
                  <a:lnTo>
                    <a:pt x="1768475" y="257175"/>
                  </a:lnTo>
                  <a:lnTo>
                    <a:pt x="1768475" y="228600"/>
                  </a:lnTo>
                  <a:close/>
                </a:path>
                <a:path w="1768475" h="3781425">
                  <a:moveTo>
                    <a:pt x="1768475" y="171450"/>
                  </a:moveTo>
                  <a:lnTo>
                    <a:pt x="1758950" y="171450"/>
                  </a:lnTo>
                  <a:lnTo>
                    <a:pt x="1758950" y="200025"/>
                  </a:lnTo>
                  <a:lnTo>
                    <a:pt x="1768475" y="200025"/>
                  </a:lnTo>
                  <a:lnTo>
                    <a:pt x="1768475" y="171450"/>
                  </a:lnTo>
                  <a:close/>
                </a:path>
                <a:path w="1768475" h="3781425">
                  <a:moveTo>
                    <a:pt x="1768475" y="114300"/>
                  </a:moveTo>
                  <a:lnTo>
                    <a:pt x="1758950" y="114300"/>
                  </a:lnTo>
                  <a:lnTo>
                    <a:pt x="1758950" y="142875"/>
                  </a:lnTo>
                  <a:lnTo>
                    <a:pt x="1768475" y="142875"/>
                  </a:lnTo>
                  <a:lnTo>
                    <a:pt x="1768475" y="114300"/>
                  </a:lnTo>
                  <a:close/>
                </a:path>
                <a:path w="1768475" h="3781425">
                  <a:moveTo>
                    <a:pt x="1768475" y="57150"/>
                  </a:moveTo>
                  <a:lnTo>
                    <a:pt x="1758950" y="57150"/>
                  </a:lnTo>
                  <a:lnTo>
                    <a:pt x="1758950" y="85725"/>
                  </a:lnTo>
                  <a:lnTo>
                    <a:pt x="1768475" y="85725"/>
                  </a:lnTo>
                  <a:lnTo>
                    <a:pt x="1768475" y="57150"/>
                  </a:lnTo>
                  <a:close/>
                </a:path>
                <a:path w="1768475" h="3781425">
                  <a:moveTo>
                    <a:pt x="1768475" y="0"/>
                  </a:moveTo>
                  <a:lnTo>
                    <a:pt x="1758950" y="0"/>
                  </a:lnTo>
                  <a:lnTo>
                    <a:pt x="1758950" y="28575"/>
                  </a:lnTo>
                  <a:lnTo>
                    <a:pt x="1768475" y="28575"/>
                  </a:lnTo>
                  <a:lnTo>
                    <a:pt x="17684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38937" y="4991112"/>
              <a:ext cx="1768475" cy="3781425"/>
            </a:xfrm>
            <a:custGeom>
              <a:avLst/>
              <a:gdLst/>
              <a:ahLst/>
              <a:cxnLst/>
              <a:rect l="l" t="t" r="r" b="b"/>
              <a:pathLst>
                <a:path w="176847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8475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8475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8475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8475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8475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8475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8475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8475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8475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8475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8475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8475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8475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8475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8475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8475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8475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8475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8475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8475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8475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8475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8475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8475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8475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8475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8475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8475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8475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8475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8475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8475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8475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8475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8475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8475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8475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8475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8475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8475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8475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8475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8475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8475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8475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8475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8475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8475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8475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8475" h="3781425">
                  <a:moveTo>
                    <a:pt x="9525" y="914387"/>
                  </a:moveTo>
                  <a:lnTo>
                    <a:pt x="0" y="914387"/>
                  </a:lnTo>
                  <a:lnTo>
                    <a:pt x="0" y="942962"/>
                  </a:lnTo>
                  <a:lnTo>
                    <a:pt x="9525" y="942962"/>
                  </a:lnTo>
                  <a:lnTo>
                    <a:pt x="9525" y="914387"/>
                  </a:lnTo>
                  <a:close/>
                </a:path>
                <a:path w="1768475" h="3781425">
                  <a:moveTo>
                    <a:pt x="9525" y="857237"/>
                  </a:moveTo>
                  <a:lnTo>
                    <a:pt x="0" y="857237"/>
                  </a:lnTo>
                  <a:lnTo>
                    <a:pt x="0" y="885812"/>
                  </a:lnTo>
                  <a:lnTo>
                    <a:pt x="9525" y="885812"/>
                  </a:lnTo>
                  <a:lnTo>
                    <a:pt x="9525" y="857237"/>
                  </a:lnTo>
                  <a:close/>
                </a:path>
                <a:path w="1768475" h="3781425">
                  <a:moveTo>
                    <a:pt x="9525" y="800087"/>
                  </a:moveTo>
                  <a:lnTo>
                    <a:pt x="0" y="800087"/>
                  </a:lnTo>
                  <a:lnTo>
                    <a:pt x="0" y="828662"/>
                  </a:lnTo>
                  <a:lnTo>
                    <a:pt x="9525" y="828662"/>
                  </a:lnTo>
                  <a:lnTo>
                    <a:pt x="9525" y="800087"/>
                  </a:lnTo>
                  <a:close/>
                </a:path>
                <a:path w="1768475" h="3781425">
                  <a:moveTo>
                    <a:pt x="9525" y="742937"/>
                  </a:moveTo>
                  <a:lnTo>
                    <a:pt x="0" y="742937"/>
                  </a:lnTo>
                  <a:lnTo>
                    <a:pt x="0" y="771512"/>
                  </a:lnTo>
                  <a:lnTo>
                    <a:pt x="9525" y="771512"/>
                  </a:lnTo>
                  <a:lnTo>
                    <a:pt x="9525" y="742937"/>
                  </a:lnTo>
                  <a:close/>
                </a:path>
                <a:path w="1768475" h="3781425">
                  <a:moveTo>
                    <a:pt x="9525" y="685787"/>
                  </a:moveTo>
                  <a:lnTo>
                    <a:pt x="0" y="685787"/>
                  </a:lnTo>
                  <a:lnTo>
                    <a:pt x="0" y="714362"/>
                  </a:lnTo>
                  <a:lnTo>
                    <a:pt x="9525" y="714362"/>
                  </a:lnTo>
                  <a:lnTo>
                    <a:pt x="9525" y="685787"/>
                  </a:lnTo>
                  <a:close/>
                </a:path>
                <a:path w="1768475" h="3781425">
                  <a:moveTo>
                    <a:pt x="9525" y="628637"/>
                  </a:moveTo>
                  <a:lnTo>
                    <a:pt x="0" y="628637"/>
                  </a:lnTo>
                  <a:lnTo>
                    <a:pt x="0" y="657212"/>
                  </a:lnTo>
                  <a:lnTo>
                    <a:pt x="9525" y="657212"/>
                  </a:lnTo>
                  <a:lnTo>
                    <a:pt x="9525" y="628637"/>
                  </a:lnTo>
                  <a:close/>
                </a:path>
                <a:path w="1768475" h="3781425">
                  <a:moveTo>
                    <a:pt x="9525" y="571500"/>
                  </a:moveTo>
                  <a:lnTo>
                    <a:pt x="0" y="571500"/>
                  </a:lnTo>
                  <a:lnTo>
                    <a:pt x="0" y="600075"/>
                  </a:lnTo>
                  <a:lnTo>
                    <a:pt x="9525" y="600075"/>
                  </a:lnTo>
                  <a:lnTo>
                    <a:pt x="9525" y="571500"/>
                  </a:lnTo>
                  <a:close/>
                </a:path>
                <a:path w="1768475" h="3781425">
                  <a:moveTo>
                    <a:pt x="9525" y="514350"/>
                  </a:moveTo>
                  <a:lnTo>
                    <a:pt x="0" y="514350"/>
                  </a:lnTo>
                  <a:lnTo>
                    <a:pt x="0" y="542925"/>
                  </a:lnTo>
                  <a:lnTo>
                    <a:pt x="9525" y="542925"/>
                  </a:lnTo>
                  <a:lnTo>
                    <a:pt x="9525" y="514350"/>
                  </a:lnTo>
                  <a:close/>
                </a:path>
                <a:path w="1768475" h="3781425">
                  <a:moveTo>
                    <a:pt x="9525" y="457200"/>
                  </a:moveTo>
                  <a:lnTo>
                    <a:pt x="0" y="457200"/>
                  </a:lnTo>
                  <a:lnTo>
                    <a:pt x="0" y="485775"/>
                  </a:lnTo>
                  <a:lnTo>
                    <a:pt x="9525" y="485775"/>
                  </a:lnTo>
                  <a:lnTo>
                    <a:pt x="9525" y="457200"/>
                  </a:lnTo>
                  <a:close/>
                </a:path>
                <a:path w="1768475" h="3781425">
                  <a:moveTo>
                    <a:pt x="9525" y="400037"/>
                  </a:moveTo>
                  <a:lnTo>
                    <a:pt x="0" y="400037"/>
                  </a:lnTo>
                  <a:lnTo>
                    <a:pt x="0" y="428625"/>
                  </a:lnTo>
                  <a:lnTo>
                    <a:pt x="9525" y="428625"/>
                  </a:lnTo>
                  <a:lnTo>
                    <a:pt x="9525" y="400037"/>
                  </a:lnTo>
                  <a:close/>
                </a:path>
                <a:path w="1768475" h="3781425">
                  <a:moveTo>
                    <a:pt x="9525" y="342887"/>
                  </a:moveTo>
                  <a:lnTo>
                    <a:pt x="0" y="342887"/>
                  </a:lnTo>
                  <a:lnTo>
                    <a:pt x="0" y="371462"/>
                  </a:lnTo>
                  <a:lnTo>
                    <a:pt x="9525" y="371462"/>
                  </a:lnTo>
                  <a:lnTo>
                    <a:pt x="9525" y="342887"/>
                  </a:lnTo>
                  <a:close/>
                </a:path>
                <a:path w="1768475" h="3781425">
                  <a:moveTo>
                    <a:pt x="9525" y="285750"/>
                  </a:moveTo>
                  <a:lnTo>
                    <a:pt x="0" y="285750"/>
                  </a:lnTo>
                  <a:lnTo>
                    <a:pt x="0" y="314312"/>
                  </a:lnTo>
                  <a:lnTo>
                    <a:pt x="9525" y="314312"/>
                  </a:lnTo>
                  <a:lnTo>
                    <a:pt x="9525" y="285750"/>
                  </a:lnTo>
                  <a:close/>
                </a:path>
                <a:path w="1768475" h="3781425">
                  <a:moveTo>
                    <a:pt x="1768475" y="457200"/>
                  </a:moveTo>
                  <a:lnTo>
                    <a:pt x="1758950" y="457200"/>
                  </a:lnTo>
                  <a:lnTo>
                    <a:pt x="1758950" y="485775"/>
                  </a:lnTo>
                  <a:lnTo>
                    <a:pt x="1768475" y="485775"/>
                  </a:lnTo>
                  <a:lnTo>
                    <a:pt x="1768475" y="457200"/>
                  </a:lnTo>
                  <a:close/>
                </a:path>
                <a:path w="1768475" h="3781425">
                  <a:moveTo>
                    <a:pt x="1768475" y="400037"/>
                  </a:moveTo>
                  <a:lnTo>
                    <a:pt x="1758950" y="400037"/>
                  </a:lnTo>
                  <a:lnTo>
                    <a:pt x="1758950" y="428625"/>
                  </a:lnTo>
                  <a:lnTo>
                    <a:pt x="1768475" y="428625"/>
                  </a:lnTo>
                  <a:lnTo>
                    <a:pt x="1768475" y="400037"/>
                  </a:lnTo>
                  <a:close/>
                </a:path>
                <a:path w="1768475" h="3781425">
                  <a:moveTo>
                    <a:pt x="1768475" y="342887"/>
                  </a:moveTo>
                  <a:lnTo>
                    <a:pt x="1758950" y="342887"/>
                  </a:lnTo>
                  <a:lnTo>
                    <a:pt x="1758950" y="371462"/>
                  </a:lnTo>
                  <a:lnTo>
                    <a:pt x="1768475" y="371462"/>
                  </a:lnTo>
                  <a:lnTo>
                    <a:pt x="1768475" y="342887"/>
                  </a:lnTo>
                  <a:close/>
                </a:path>
                <a:path w="1768475" h="3781425">
                  <a:moveTo>
                    <a:pt x="1768475" y="285750"/>
                  </a:moveTo>
                  <a:lnTo>
                    <a:pt x="1758950" y="285750"/>
                  </a:lnTo>
                  <a:lnTo>
                    <a:pt x="1758950" y="314312"/>
                  </a:lnTo>
                  <a:lnTo>
                    <a:pt x="1768475" y="314312"/>
                  </a:lnTo>
                  <a:lnTo>
                    <a:pt x="1768475" y="285750"/>
                  </a:lnTo>
                  <a:close/>
                </a:path>
                <a:path w="1768475" h="3781425">
                  <a:moveTo>
                    <a:pt x="1768475" y="228600"/>
                  </a:moveTo>
                  <a:lnTo>
                    <a:pt x="1758950" y="228600"/>
                  </a:lnTo>
                  <a:lnTo>
                    <a:pt x="1758950" y="257175"/>
                  </a:lnTo>
                  <a:lnTo>
                    <a:pt x="1768475" y="257175"/>
                  </a:lnTo>
                  <a:lnTo>
                    <a:pt x="1768475" y="228600"/>
                  </a:lnTo>
                  <a:close/>
                </a:path>
                <a:path w="1768475" h="3781425">
                  <a:moveTo>
                    <a:pt x="1768475" y="171450"/>
                  </a:moveTo>
                  <a:lnTo>
                    <a:pt x="1758950" y="171450"/>
                  </a:lnTo>
                  <a:lnTo>
                    <a:pt x="1758950" y="200025"/>
                  </a:lnTo>
                  <a:lnTo>
                    <a:pt x="1768475" y="200025"/>
                  </a:lnTo>
                  <a:lnTo>
                    <a:pt x="1768475" y="171450"/>
                  </a:lnTo>
                  <a:close/>
                </a:path>
                <a:path w="1768475" h="3781425">
                  <a:moveTo>
                    <a:pt x="1768475" y="114300"/>
                  </a:moveTo>
                  <a:lnTo>
                    <a:pt x="1758950" y="114300"/>
                  </a:lnTo>
                  <a:lnTo>
                    <a:pt x="1758950" y="142875"/>
                  </a:lnTo>
                  <a:lnTo>
                    <a:pt x="1768475" y="142875"/>
                  </a:lnTo>
                  <a:lnTo>
                    <a:pt x="1768475" y="114300"/>
                  </a:lnTo>
                  <a:close/>
                </a:path>
                <a:path w="1768475" h="3781425">
                  <a:moveTo>
                    <a:pt x="1768475" y="57150"/>
                  </a:moveTo>
                  <a:lnTo>
                    <a:pt x="1758950" y="57150"/>
                  </a:lnTo>
                  <a:lnTo>
                    <a:pt x="1758950" y="85725"/>
                  </a:lnTo>
                  <a:lnTo>
                    <a:pt x="1768475" y="85725"/>
                  </a:lnTo>
                  <a:lnTo>
                    <a:pt x="1768475" y="57150"/>
                  </a:lnTo>
                  <a:close/>
                </a:path>
                <a:path w="1768475" h="3781425">
                  <a:moveTo>
                    <a:pt x="1768475" y="0"/>
                  </a:moveTo>
                  <a:lnTo>
                    <a:pt x="1758950" y="0"/>
                  </a:lnTo>
                  <a:lnTo>
                    <a:pt x="1758950" y="28575"/>
                  </a:lnTo>
                  <a:lnTo>
                    <a:pt x="1768475" y="28575"/>
                  </a:lnTo>
                  <a:lnTo>
                    <a:pt x="17684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97888" y="4991112"/>
              <a:ext cx="1768475" cy="3781425"/>
            </a:xfrm>
            <a:custGeom>
              <a:avLst/>
              <a:gdLst/>
              <a:ahLst/>
              <a:cxnLst/>
              <a:rect l="l" t="t" r="r" b="b"/>
              <a:pathLst>
                <a:path w="176847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8475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8475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8475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8475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8475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8475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8475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8475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8475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8475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8475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8475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8475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8475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8475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8475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8475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8475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8475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8475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8475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8475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8475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8475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8475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8475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8475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8475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8475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8475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8475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8475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8475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8475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8475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8475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8475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8475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8475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8475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8475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8475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8475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8475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8475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8475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8475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8475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8475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8475" h="3781425">
                  <a:moveTo>
                    <a:pt x="9525" y="914387"/>
                  </a:moveTo>
                  <a:lnTo>
                    <a:pt x="0" y="914387"/>
                  </a:lnTo>
                  <a:lnTo>
                    <a:pt x="0" y="942962"/>
                  </a:lnTo>
                  <a:lnTo>
                    <a:pt x="9525" y="942962"/>
                  </a:lnTo>
                  <a:lnTo>
                    <a:pt x="9525" y="914387"/>
                  </a:lnTo>
                  <a:close/>
                </a:path>
                <a:path w="1768475" h="3781425">
                  <a:moveTo>
                    <a:pt x="9525" y="857237"/>
                  </a:moveTo>
                  <a:lnTo>
                    <a:pt x="0" y="857237"/>
                  </a:lnTo>
                  <a:lnTo>
                    <a:pt x="0" y="885812"/>
                  </a:lnTo>
                  <a:lnTo>
                    <a:pt x="9525" y="885812"/>
                  </a:lnTo>
                  <a:lnTo>
                    <a:pt x="9525" y="857237"/>
                  </a:lnTo>
                  <a:close/>
                </a:path>
                <a:path w="1768475" h="3781425">
                  <a:moveTo>
                    <a:pt x="9525" y="800087"/>
                  </a:moveTo>
                  <a:lnTo>
                    <a:pt x="0" y="800087"/>
                  </a:lnTo>
                  <a:lnTo>
                    <a:pt x="0" y="828662"/>
                  </a:lnTo>
                  <a:lnTo>
                    <a:pt x="9525" y="828662"/>
                  </a:lnTo>
                  <a:lnTo>
                    <a:pt x="9525" y="800087"/>
                  </a:lnTo>
                  <a:close/>
                </a:path>
                <a:path w="1768475" h="3781425">
                  <a:moveTo>
                    <a:pt x="9525" y="742937"/>
                  </a:moveTo>
                  <a:lnTo>
                    <a:pt x="0" y="742937"/>
                  </a:lnTo>
                  <a:lnTo>
                    <a:pt x="0" y="771512"/>
                  </a:lnTo>
                  <a:lnTo>
                    <a:pt x="9525" y="771512"/>
                  </a:lnTo>
                  <a:lnTo>
                    <a:pt x="9525" y="742937"/>
                  </a:lnTo>
                  <a:close/>
                </a:path>
                <a:path w="1768475" h="3781425">
                  <a:moveTo>
                    <a:pt x="9525" y="685787"/>
                  </a:moveTo>
                  <a:lnTo>
                    <a:pt x="0" y="685787"/>
                  </a:lnTo>
                  <a:lnTo>
                    <a:pt x="0" y="714362"/>
                  </a:lnTo>
                  <a:lnTo>
                    <a:pt x="9525" y="714362"/>
                  </a:lnTo>
                  <a:lnTo>
                    <a:pt x="9525" y="685787"/>
                  </a:lnTo>
                  <a:close/>
                </a:path>
                <a:path w="1768475" h="3781425">
                  <a:moveTo>
                    <a:pt x="9525" y="628637"/>
                  </a:moveTo>
                  <a:lnTo>
                    <a:pt x="0" y="628637"/>
                  </a:lnTo>
                  <a:lnTo>
                    <a:pt x="0" y="657212"/>
                  </a:lnTo>
                  <a:lnTo>
                    <a:pt x="9525" y="657212"/>
                  </a:lnTo>
                  <a:lnTo>
                    <a:pt x="9525" y="628637"/>
                  </a:lnTo>
                  <a:close/>
                </a:path>
                <a:path w="1768475" h="3781425">
                  <a:moveTo>
                    <a:pt x="9525" y="571500"/>
                  </a:moveTo>
                  <a:lnTo>
                    <a:pt x="0" y="571500"/>
                  </a:lnTo>
                  <a:lnTo>
                    <a:pt x="0" y="600075"/>
                  </a:lnTo>
                  <a:lnTo>
                    <a:pt x="9525" y="600075"/>
                  </a:lnTo>
                  <a:lnTo>
                    <a:pt x="9525" y="571500"/>
                  </a:lnTo>
                  <a:close/>
                </a:path>
                <a:path w="1768475" h="3781425">
                  <a:moveTo>
                    <a:pt x="9525" y="514350"/>
                  </a:moveTo>
                  <a:lnTo>
                    <a:pt x="0" y="514350"/>
                  </a:lnTo>
                  <a:lnTo>
                    <a:pt x="0" y="542925"/>
                  </a:lnTo>
                  <a:lnTo>
                    <a:pt x="9525" y="542925"/>
                  </a:lnTo>
                  <a:lnTo>
                    <a:pt x="9525" y="514350"/>
                  </a:lnTo>
                  <a:close/>
                </a:path>
                <a:path w="1768475" h="3781425">
                  <a:moveTo>
                    <a:pt x="9525" y="457200"/>
                  </a:moveTo>
                  <a:lnTo>
                    <a:pt x="0" y="457200"/>
                  </a:lnTo>
                  <a:lnTo>
                    <a:pt x="0" y="485775"/>
                  </a:lnTo>
                  <a:lnTo>
                    <a:pt x="9525" y="485775"/>
                  </a:lnTo>
                  <a:lnTo>
                    <a:pt x="9525" y="457200"/>
                  </a:lnTo>
                  <a:close/>
                </a:path>
                <a:path w="1768475" h="3781425">
                  <a:moveTo>
                    <a:pt x="1768462" y="628637"/>
                  </a:moveTo>
                  <a:lnTo>
                    <a:pt x="1758937" y="628637"/>
                  </a:lnTo>
                  <a:lnTo>
                    <a:pt x="1758937" y="657212"/>
                  </a:lnTo>
                  <a:lnTo>
                    <a:pt x="1768462" y="657212"/>
                  </a:lnTo>
                  <a:lnTo>
                    <a:pt x="1768462" y="628637"/>
                  </a:lnTo>
                  <a:close/>
                </a:path>
                <a:path w="1768475" h="3781425">
                  <a:moveTo>
                    <a:pt x="1768462" y="571500"/>
                  </a:moveTo>
                  <a:lnTo>
                    <a:pt x="1758937" y="571500"/>
                  </a:lnTo>
                  <a:lnTo>
                    <a:pt x="1758937" y="600075"/>
                  </a:lnTo>
                  <a:lnTo>
                    <a:pt x="1768462" y="600075"/>
                  </a:lnTo>
                  <a:lnTo>
                    <a:pt x="1768462" y="571500"/>
                  </a:lnTo>
                  <a:close/>
                </a:path>
                <a:path w="1768475" h="3781425">
                  <a:moveTo>
                    <a:pt x="1768462" y="514350"/>
                  </a:moveTo>
                  <a:lnTo>
                    <a:pt x="1758937" y="514350"/>
                  </a:lnTo>
                  <a:lnTo>
                    <a:pt x="1758937" y="542925"/>
                  </a:lnTo>
                  <a:lnTo>
                    <a:pt x="1768462" y="542925"/>
                  </a:lnTo>
                  <a:lnTo>
                    <a:pt x="1768462" y="514350"/>
                  </a:lnTo>
                  <a:close/>
                </a:path>
                <a:path w="1768475" h="3781425">
                  <a:moveTo>
                    <a:pt x="1768462" y="457200"/>
                  </a:moveTo>
                  <a:lnTo>
                    <a:pt x="1758937" y="457200"/>
                  </a:lnTo>
                  <a:lnTo>
                    <a:pt x="1758937" y="485775"/>
                  </a:lnTo>
                  <a:lnTo>
                    <a:pt x="1768462" y="485775"/>
                  </a:lnTo>
                  <a:lnTo>
                    <a:pt x="1768462" y="457200"/>
                  </a:lnTo>
                  <a:close/>
                </a:path>
                <a:path w="1768475" h="3781425">
                  <a:moveTo>
                    <a:pt x="1768462" y="400037"/>
                  </a:moveTo>
                  <a:lnTo>
                    <a:pt x="1758937" y="400037"/>
                  </a:lnTo>
                  <a:lnTo>
                    <a:pt x="1758937" y="428625"/>
                  </a:lnTo>
                  <a:lnTo>
                    <a:pt x="1768462" y="428625"/>
                  </a:lnTo>
                  <a:lnTo>
                    <a:pt x="1768462" y="400037"/>
                  </a:lnTo>
                  <a:close/>
                </a:path>
                <a:path w="1768475" h="3781425">
                  <a:moveTo>
                    <a:pt x="1768462" y="342887"/>
                  </a:moveTo>
                  <a:lnTo>
                    <a:pt x="1758937" y="342887"/>
                  </a:lnTo>
                  <a:lnTo>
                    <a:pt x="1758937" y="371462"/>
                  </a:lnTo>
                  <a:lnTo>
                    <a:pt x="1768462" y="371462"/>
                  </a:lnTo>
                  <a:lnTo>
                    <a:pt x="1768462" y="342887"/>
                  </a:lnTo>
                  <a:close/>
                </a:path>
                <a:path w="1768475" h="3781425">
                  <a:moveTo>
                    <a:pt x="1768462" y="285750"/>
                  </a:moveTo>
                  <a:lnTo>
                    <a:pt x="1758937" y="285750"/>
                  </a:lnTo>
                  <a:lnTo>
                    <a:pt x="1758937" y="314312"/>
                  </a:lnTo>
                  <a:lnTo>
                    <a:pt x="1768462" y="314312"/>
                  </a:lnTo>
                  <a:lnTo>
                    <a:pt x="1768462" y="285750"/>
                  </a:lnTo>
                  <a:close/>
                </a:path>
                <a:path w="1768475" h="3781425">
                  <a:moveTo>
                    <a:pt x="1768462" y="228600"/>
                  </a:moveTo>
                  <a:lnTo>
                    <a:pt x="1758937" y="228600"/>
                  </a:lnTo>
                  <a:lnTo>
                    <a:pt x="1758937" y="257175"/>
                  </a:lnTo>
                  <a:lnTo>
                    <a:pt x="1768462" y="257175"/>
                  </a:lnTo>
                  <a:lnTo>
                    <a:pt x="1768462" y="228600"/>
                  </a:lnTo>
                  <a:close/>
                </a:path>
                <a:path w="1768475" h="3781425">
                  <a:moveTo>
                    <a:pt x="1768462" y="171450"/>
                  </a:moveTo>
                  <a:lnTo>
                    <a:pt x="1758937" y="171450"/>
                  </a:lnTo>
                  <a:lnTo>
                    <a:pt x="1758937" y="200025"/>
                  </a:lnTo>
                  <a:lnTo>
                    <a:pt x="1768462" y="200025"/>
                  </a:lnTo>
                  <a:lnTo>
                    <a:pt x="1768462" y="171450"/>
                  </a:lnTo>
                  <a:close/>
                </a:path>
                <a:path w="1768475" h="3781425">
                  <a:moveTo>
                    <a:pt x="1768462" y="114300"/>
                  </a:moveTo>
                  <a:lnTo>
                    <a:pt x="1758937" y="114300"/>
                  </a:lnTo>
                  <a:lnTo>
                    <a:pt x="1758937" y="142875"/>
                  </a:lnTo>
                  <a:lnTo>
                    <a:pt x="1768462" y="142875"/>
                  </a:lnTo>
                  <a:lnTo>
                    <a:pt x="1768462" y="114300"/>
                  </a:lnTo>
                  <a:close/>
                </a:path>
                <a:path w="1768475" h="3781425">
                  <a:moveTo>
                    <a:pt x="1768462" y="57150"/>
                  </a:moveTo>
                  <a:lnTo>
                    <a:pt x="1758937" y="57150"/>
                  </a:lnTo>
                  <a:lnTo>
                    <a:pt x="1758937" y="85725"/>
                  </a:lnTo>
                  <a:lnTo>
                    <a:pt x="1768462" y="85725"/>
                  </a:lnTo>
                  <a:lnTo>
                    <a:pt x="1768462" y="57150"/>
                  </a:lnTo>
                  <a:close/>
                </a:path>
                <a:path w="1768475" h="3781425">
                  <a:moveTo>
                    <a:pt x="1768462" y="0"/>
                  </a:moveTo>
                  <a:lnTo>
                    <a:pt x="1758937" y="0"/>
                  </a:lnTo>
                  <a:lnTo>
                    <a:pt x="1758937" y="28575"/>
                  </a:lnTo>
                  <a:lnTo>
                    <a:pt x="1768462" y="28575"/>
                  </a:lnTo>
                  <a:lnTo>
                    <a:pt x="1768462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56825" y="4991112"/>
              <a:ext cx="1769110" cy="3781425"/>
            </a:xfrm>
            <a:custGeom>
              <a:avLst/>
              <a:gdLst/>
              <a:ahLst/>
              <a:cxnLst/>
              <a:rect l="l" t="t" r="r" b="b"/>
              <a:pathLst>
                <a:path w="1769109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9109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9109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9109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9109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9109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9109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9109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9109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9109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9109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9109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9109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9109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9109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9109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9109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9109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9109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9109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9109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9109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9109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9109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9109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9109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9109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9109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9109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9109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9109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9109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9109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9109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9109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9109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9109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9109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9109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9109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9109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9109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9109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9109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9109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9109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9109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9109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9109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9109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9109" h="3781425">
                  <a:moveTo>
                    <a:pt x="9525" y="914387"/>
                  </a:moveTo>
                  <a:lnTo>
                    <a:pt x="0" y="914387"/>
                  </a:lnTo>
                  <a:lnTo>
                    <a:pt x="0" y="942962"/>
                  </a:lnTo>
                  <a:lnTo>
                    <a:pt x="9525" y="942962"/>
                  </a:lnTo>
                  <a:lnTo>
                    <a:pt x="9525" y="914387"/>
                  </a:lnTo>
                  <a:close/>
                </a:path>
                <a:path w="1769109" h="3781425">
                  <a:moveTo>
                    <a:pt x="9525" y="857237"/>
                  </a:moveTo>
                  <a:lnTo>
                    <a:pt x="0" y="857237"/>
                  </a:lnTo>
                  <a:lnTo>
                    <a:pt x="0" y="885812"/>
                  </a:lnTo>
                  <a:lnTo>
                    <a:pt x="9525" y="885812"/>
                  </a:lnTo>
                  <a:lnTo>
                    <a:pt x="9525" y="857237"/>
                  </a:lnTo>
                  <a:close/>
                </a:path>
                <a:path w="1769109" h="3781425">
                  <a:moveTo>
                    <a:pt x="9525" y="800087"/>
                  </a:moveTo>
                  <a:lnTo>
                    <a:pt x="0" y="800087"/>
                  </a:lnTo>
                  <a:lnTo>
                    <a:pt x="0" y="828662"/>
                  </a:lnTo>
                  <a:lnTo>
                    <a:pt x="9525" y="828662"/>
                  </a:lnTo>
                  <a:lnTo>
                    <a:pt x="9525" y="800087"/>
                  </a:lnTo>
                  <a:close/>
                </a:path>
                <a:path w="1769109" h="3781425">
                  <a:moveTo>
                    <a:pt x="9525" y="742937"/>
                  </a:moveTo>
                  <a:lnTo>
                    <a:pt x="0" y="742937"/>
                  </a:lnTo>
                  <a:lnTo>
                    <a:pt x="0" y="771512"/>
                  </a:lnTo>
                  <a:lnTo>
                    <a:pt x="9525" y="771512"/>
                  </a:lnTo>
                  <a:lnTo>
                    <a:pt x="9525" y="742937"/>
                  </a:lnTo>
                  <a:close/>
                </a:path>
                <a:path w="1769109" h="3781425">
                  <a:moveTo>
                    <a:pt x="9525" y="685787"/>
                  </a:moveTo>
                  <a:lnTo>
                    <a:pt x="0" y="685787"/>
                  </a:lnTo>
                  <a:lnTo>
                    <a:pt x="0" y="714362"/>
                  </a:lnTo>
                  <a:lnTo>
                    <a:pt x="9525" y="714362"/>
                  </a:lnTo>
                  <a:lnTo>
                    <a:pt x="9525" y="685787"/>
                  </a:lnTo>
                  <a:close/>
                </a:path>
                <a:path w="1769109" h="3781425">
                  <a:moveTo>
                    <a:pt x="9525" y="628637"/>
                  </a:moveTo>
                  <a:lnTo>
                    <a:pt x="0" y="628637"/>
                  </a:lnTo>
                  <a:lnTo>
                    <a:pt x="0" y="657212"/>
                  </a:lnTo>
                  <a:lnTo>
                    <a:pt x="9525" y="657212"/>
                  </a:lnTo>
                  <a:lnTo>
                    <a:pt x="9525" y="628637"/>
                  </a:lnTo>
                  <a:close/>
                </a:path>
                <a:path w="1769109" h="3781425">
                  <a:moveTo>
                    <a:pt x="1768487" y="800087"/>
                  </a:moveTo>
                  <a:lnTo>
                    <a:pt x="1758962" y="800087"/>
                  </a:lnTo>
                  <a:lnTo>
                    <a:pt x="1758962" y="828662"/>
                  </a:lnTo>
                  <a:lnTo>
                    <a:pt x="1768487" y="828662"/>
                  </a:lnTo>
                  <a:lnTo>
                    <a:pt x="1768487" y="800087"/>
                  </a:lnTo>
                  <a:close/>
                </a:path>
                <a:path w="1769109" h="3781425">
                  <a:moveTo>
                    <a:pt x="1768487" y="742937"/>
                  </a:moveTo>
                  <a:lnTo>
                    <a:pt x="1758962" y="742937"/>
                  </a:lnTo>
                  <a:lnTo>
                    <a:pt x="1758962" y="771512"/>
                  </a:lnTo>
                  <a:lnTo>
                    <a:pt x="1768487" y="771512"/>
                  </a:lnTo>
                  <a:lnTo>
                    <a:pt x="1768487" y="742937"/>
                  </a:lnTo>
                  <a:close/>
                </a:path>
                <a:path w="1769109" h="3781425">
                  <a:moveTo>
                    <a:pt x="1768487" y="685787"/>
                  </a:moveTo>
                  <a:lnTo>
                    <a:pt x="1758962" y="685787"/>
                  </a:lnTo>
                  <a:lnTo>
                    <a:pt x="1758962" y="714362"/>
                  </a:lnTo>
                  <a:lnTo>
                    <a:pt x="1768487" y="714362"/>
                  </a:lnTo>
                  <a:lnTo>
                    <a:pt x="1768487" y="685787"/>
                  </a:lnTo>
                  <a:close/>
                </a:path>
                <a:path w="1769109" h="3781425">
                  <a:moveTo>
                    <a:pt x="1768487" y="628637"/>
                  </a:moveTo>
                  <a:lnTo>
                    <a:pt x="1758962" y="628637"/>
                  </a:lnTo>
                  <a:lnTo>
                    <a:pt x="1758962" y="657212"/>
                  </a:lnTo>
                  <a:lnTo>
                    <a:pt x="1768487" y="657212"/>
                  </a:lnTo>
                  <a:lnTo>
                    <a:pt x="1768487" y="628637"/>
                  </a:lnTo>
                  <a:close/>
                </a:path>
                <a:path w="1769109" h="3781425">
                  <a:moveTo>
                    <a:pt x="1768487" y="571500"/>
                  </a:moveTo>
                  <a:lnTo>
                    <a:pt x="1758962" y="571500"/>
                  </a:lnTo>
                  <a:lnTo>
                    <a:pt x="1758962" y="600075"/>
                  </a:lnTo>
                  <a:lnTo>
                    <a:pt x="1768487" y="600075"/>
                  </a:lnTo>
                  <a:lnTo>
                    <a:pt x="1768487" y="571500"/>
                  </a:lnTo>
                  <a:close/>
                </a:path>
                <a:path w="1769109" h="3781425">
                  <a:moveTo>
                    <a:pt x="1768487" y="514350"/>
                  </a:moveTo>
                  <a:lnTo>
                    <a:pt x="1758962" y="514350"/>
                  </a:lnTo>
                  <a:lnTo>
                    <a:pt x="1758962" y="542925"/>
                  </a:lnTo>
                  <a:lnTo>
                    <a:pt x="1768487" y="542925"/>
                  </a:lnTo>
                  <a:lnTo>
                    <a:pt x="1768487" y="514350"/>
                  </a:lnTo>
                  <a:close/>
                </a:path>
                <a:path w="1769109" h="3781425">
                  <a:moveTo>
                    <a:pt x="1768487" y="457200"/>
                  </a:moveTo>
                  <a:lnTo>
                    <a:pt x="1758962" y="457200"/>
                  </a:lnTo>
                  <a:lnTo>
                    <a:pt x="1758962" y="485775"/>
                  </a:lnTo>
                  <a:lnTo>
                    <a:pt x="1768487" y="485775"/>
                  </a:lnTo>
                  <a:lnTo>
                    <a:pt x="1768487" y="457200"/>
                  </a:lnTo>
                  <a:close/>
                </a:path>
                <a:path w="1769109" h="3781425">
                  <a:moveTo>
                    <a:pt x="1768487" y="400037"/>
                  </a:moveTo>
                  <a:lnTo>
                    <a:pt x="1758962" y="400037"/>
                  </a:lnTo>
                  <a:lnTo>
                    <a:pt x="1758962" y="428625"/>
                  </a:lnTo>
                  <a:lnTo>
                    <a:pt x="1768487" y="428625"/>
                  </a:lnTo>
                  <a:lnTo>
                    <a:pt x="1768487" y="400037"/>
                  </a:lnTo>
                  <a:close/>
                </a:path>
                <a:path w="1769109" h="3781425">
                  <a:moveTo>
                    <a:pt x="1768487" y="342887"/>
                  </a:moveTo>
                  <a:lnTo>
                    <a:pt x="1758962" y="342887"/>
                  </a:lnTo>
                  <a:lnTo>
                    <a:pt x="1758962" y="371462"/>
                  </a:lnTo>
                  <a:lnTo>
                    <a:pt x="1768487" y="371462"/>
                  </a:lnTo>
                  <a:lnTo>
                    <a:pt x="1768487" y="342887"/>
                  </a:lnTo>
                  <a:close/>
                </a:path>
                <a:path w="1769109" h="3781425">
                  <a:moveTo>
                    <a:pt x="1768487" y="285750"/>
                  </a:moveTo>
                  <a:lnTo>
                    <a:pt x="1758962" y="285750"/>
                  </a:lnTo>
                  <a:lnTo>
                    <a:pt x="1758962" y="314312"/>
                  </a:lnTo>
                  <a:lnTo>
                    <a:pt x="1768487" y="314312"/>
                  </a:lnTo>
                  <a:lnTo>
                    <a:pt x="1768487" y="285750"/>
                  </a:lnTo>
                  <a:close/>
                </a:path>
                <a:path w="1769109" h="3781425">
                  <a:moveTo>
                    <a:pt x="1768487" y="228600"/>
                  </a:moveTo>
                  <a:lnTo>
                    <a:pt x="1758962" y="228600"/>
                  </a:lnTo>
                  <a:lnTo>
                    <a:pt x="1758962" y="257175"/>
                  </a:lnTo>
                  <a:lnTo>
                    <a:pt x="1768487" y="257175"/>
                  </a:lnTo>
                  <a:lnTo>
                    <a:pt x="1768487" y="228600"/>
                  </a:lnTo>
                  <a:close/>
                </a:path>
                <a:path w="1769109" h="3781425">
                  <a:moveTo>
                    <a:pt x="1768487" y="171450"/>
                  </a:moveTo>
                  <a:lnTo>
                    <a:pt x="1758962" y="171450"/>
                  </a:lnTo>
                  <a:lnTo>
                    <a:pt x="1758962" y="200025"/>
                  </a:lnTo>
                  <a:lnTo>
                    <a:pt x="1768487" y="200025"/>
                  </a:lnTo>
                  <a:lnTo>
                    <a:pt x="1768487" y="171450"/>
                  </a:lnTo>
                  <a:close/>
                </a:path>
                <a:path w="1769109" h="3781425">
                  <a:moveTo>
                    <a:pt x="1768487" y="114300"/>
                  </a:moveTo>
                  <a:lnTo>
                    <a:pt x="1758962" y="114300"/>
                  </a:lnTo>
                  <a:lnTo>
                    <a:pt x="1758962" y="142875"/>
                  </a:lnTo>
                  <a:lnTo>
                    <a:pt x="1768487" y="142875"/>
                  </a:lnTo>
                  <a:lnTo>
                    <a:pt x="1768487" y="114300"/>
                  </a:lnTo>
                  <a:close/>
                </a:path>
                <a:path w="1769109" h="3781425">
                  <a:moveTo>
                    <a:pt x="1768487" y="57150"/>
                  </a:moveTo>
                  <a:lnTo>
                    <a:pt x="1758962" y="57150"/>
                  </a:lnTo>
                  <a:lnTo>
                    <a:pt x="1758962" y="85725"/>
                  </a:lnTo>
                  <a:lnTo>
                    <a:pt x="1768487" y="85725"/>
                  </a:lnTo>
                  <a:lnTo>
                    <a:pt x="1768487" y="57150"/>
                  </a:lnTo>
                  <a:close/>
                </a:path>
                <a:path w="1769109" h="3781425">
                  <a:moveTo>
                    <a:pt x="1768487" y="0"/>
                  </a:moveTo>
                  <a:lnTo>
                    <a:pt x="1758962" y="0"/>
                  </a:lnTo>
                  <a:lnTo>
                    <a:pt x="1758962" y="28575"/>
                  </a:lnTo>
                  <a:lnTo>
                    <a:pt x="1768487" y="28575"/>
                  </a:lnTo>
                  <a:lnTo>
                    <a:pt x="176848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015788" y="4991112"/>
              <a:ext cx="1768475" cy="3781425"/>
            </a:xfrm>
            <a:custGeom>
              <a:avLst/>
              <a:gdLst/>
              <a:ahLst/>
              <a:cxnLst/>
              <a:rect l="l" t="t" r="r" b="b"/>
              <a:pathLst>
                <a:path w="176847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8475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8475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8475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8475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8475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8475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8475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8475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8475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8475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8475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8475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8475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8475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8475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8475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8475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8475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8475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8475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8475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8475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8475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8475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8475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8475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8475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8475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8475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8475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8475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8475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8475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8475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8475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8475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8475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8475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8475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8475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8475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8475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8475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8475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8475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8475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8475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8475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8475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8475" h="3781425">
                  <a:moveTo>
                    <a:pt x="9525" y="914387"/>
                  </a:moveTo>
                  <a:lnTo>
                    <a:pt x="0" y="914387"/>
                  </a:lnTo>
                  <a:lnTo>
                    <a:pt x="0" y="942962"/>
                  </a:lnTo>
                  <a:lnTo>
                    <a:pt x="9525" y="942962"/>
                  </a:lnTo>
                  <a:lnTo>
                    <a:pt x="9525" y="914387"/>
                  </a:lnTo>
                  <a:close/>
                </a:path>
                <a:path w="1768475" h="3781425">
                  <a:moveTo>
                    <a:pt x="9525" y="857237"/>
                  </a:moveTo>
                  <a:lnTo>
                    <a:pt x="0" y="857237"/>
                  </a:lnTo>
                  <a:lnTo>
                    <a:pt x="0" y="885812"/>
                  </a:lnTo>
                  <a:lnTo>
                    <a:pt x="9525" y="885812"/>
                  </a:lnTo>
                  <a:lnTo>
                    <a:pt x="9525" y="857237"/>
                  </a:lnTo>
                  <a:close/>
                </a:path>
                <a:path w="1768475" h="3781425">
                  <a:moveTo>
                    <a:pt x="9525" y="800087"/>
                  </a:moveTo>
                  <a:lnTo>
                    <a:pt x="0" y="800087"/>
                  </a:lnTo>
                  <a:lnTo>
                    <a:pt x="0" y="828662"/>
                  </a:lnTo>
                  <a:lnTo>
                    <a:pt x="9525" y="828662"/>
                  </a:lnTo>
                  <a:lnTo>
                    <a:pt x="9525" y="800087"/>
                  </a:lnTo>
                  <a:close/>
                </a:path>
                <a:path w="1768475" h="3781425">
                  <a:moveTo>
                    <a:pt x="1768462" y="971537"/>
                  </a:moveTo>
                  <a:lnTo>
                    <a:pt x="1758937" y="971537"/>
                  </a:lnTo>
                  <a:lnTo>
                    <a:pt x="1758937" y="1000112"/>
                  </a:lnTo>
                  <a:lnTo>
                    <a:pt x="1768462" y="1000112"/>
                  </a:lnTo>
                  <a:lnTo>
                    <a:pt x="1768462" y="971537"/>
                  </a:lnTo>
                  <a:close/>
                </a:path>
                <a:path w="1768475" h="3781425">
                  <a:moveTo>
                    <a:pt x="1768462" y="914387"/>
                  </a:moveTo>
                  <a:lnTo>
                    <a:pt x="1758937" y="914387"/>
                  </a:lnTo>
                  <a:lnTo>
                    <a:pt x="1758937" y="942962"/>
                  </a:lnTo>
                  <a:lnTo>
                    <a:pt x="1768462" y="942962"/>
                  </a:lnTo>
                  <a:lnTo>
                    <a:pt x="1768462" y="914387"/>
                  </a:lnTo>
                  <a:close/>
                </a:path>
                <a:path w="1768475" h="3781425">
                  <a:moveTo>
                    <a:pt x="1768462" y="857237"/>
                  </a:moveTo>
                  <a:lnTo>
                    <a:pt x="1758937" y="857237"/>
                  </a:lnTo>
                  <a:lnTo>
                    <a:pt x="1758937" y="885812"/>
                  </a:lnTo>
                  <a:lnTo>
                    <a:pt x="1768462" y="885812"/>
                  </a:lnTo>
                  <a:lnTo>
                    <a:pt x="1768462" y="857237"/>
                  </a:lnTo>
                  <a:close/>
                </a:path>
                <a:path w="1768475" h="3781425">
                  <a:moveTo>
                    <a:pt x="1768462" y="800087"/>
                  </a:moveTo>
                  <a:lnTo>
                    <a:pt x="1758937" y="800087"/>
                  </a:lnTo>
                  <a:lnTo>
                    <a:pt x="1758937" y="828662"/>
                  </a:lnTo>
                  <a:lnTo>
                    <a:pt x="1768462" y="828662"/>
                  </a:lnTo>
                  <a:lnTo>
                    <a:pt x="1768462" y="800087"/>
                  </a:lnTo>
                  <a:close/>
                </a:path>
                <a:path w="1768475" h="3781425">
                  <a:moveTo>
                    <a:pt x="1768462" y="742937"/>
                  </a:moveTo>
                  <a:lnTo>
                    <a:pt x="1758937" y="742937"/>
                  </a:lnTo>
                  <a:lnTo>
                    <a:pt x="1758937" y="771512"/>
                  </a:lnTo>
                  <a:lnTo>
                    <a:pt x="1768462" y="771512"/>
                  </a:lnTo>
                  <a:lnTo>
                    <a:pt x="1768462" y="742937"/>
                  </a:lnTo>
                  <a:close/>
                </a:path>
                <a:path w="1768475" h="3781425">
                  <a:moveTo>
                    <a:pt x="1768462" y="685787"/>
                  </a:moveTo>
                  <a:lnTo>
                    <a:pt x="1758937" y="685787"/>
                  </a:lnTo>
                  <a:lnTo>
                    <a:pt x="1758937" y="714362"/>
                  </a:lnTo>
                  <a:lnTo>
                    <a:pt x="1768462" y="714362"/>
                  </a:lnTo>
                  <a:lnTo>
                    <a:pt x="1768462" y="685787"/>
                  </a:lnTo>
                  <a:close/>
                </a:path>
                <a:path w="1768475" h="3781425">
                  <a:moveTo>
                    <a:pt x="1768462" y="628637"/>
                  </a:moveTo>
                  <a:lnTo>
                    <a:pt x="1758937" y="628637"/>
                  </a:lnTo>
                  <a:lnTo>
                    <a:pt x="1758937" y="657212"/>
                  </a:lnTo>
                  <a:lnTo>
                    <a:pt x="1768462" y="657212"/>
                  </a:lnTo>
                  <a:lnTo>
                    <a:pt x="1768462" y="628637"/>
                  </a:lnTo>
                  <a:close/>
                </a:path>
                <a:path w="1768475" h="3781425">
                  <a:moveTo>
                    <a:pt x="1768462" y="571500"/>
                  </a:moveTo>
                  <a:lnTo>
                    <a:pt x="1758937" y="571500"/>
                  </a:lnTo>
                  <a:lnTo>
                    <a:pt x="1758937" y="600075"/>
                  </a:lnTo>
                  <a:lnTo>
                    <a:pt x="1768462" y="600075"/>
                  </a:lnTo>
                  <a:lnTo>
                    <a:pt x="1768462" y="571500"/>
                  </a:lnTo>
                  <a:close/>
                </a:path>
                <a:path w="1768475" h="3781425">
                  <a:moveTo>
                    <a:pt x="1768462" y="514350"/>
                  </a:moveTo>
                  <a:lnTo>
                    <a:pt x="1758937" y="514350"/>
                  </a:lnTo>
                  <a:lnTo>
                    <a:pt x="1758937" y="542925"/>
                  </a:lnTo>
                  <a:lnTo>
                    <a:pt x="1768462" y="542925"/>
                  </a:lnTo>
                  <a:lnTo>
                    <a:pt x="1768462" y="514350"/>
                  </a:lnTo>
                  <a:close/>
                </a:path>
                <a:path w="1768475" h="3781425">
                  <a:moveTo>
                    <a:pt x="1768462" y="457200"/>
                  </a:moveTo>
                  <a:lnTo>
                    <a:pt x="1758937" y="457200"/>
                  </a:lnTo>
                  <a:lnTo>
                    <a:pt x="1758937" y="485775"/>
                  </a:lnTo>
                  <a:lnTo>
                    <a:pt x="1768462" y="485775"/>
                  </a:lnTo>
                  <a:lnTo>
                    <a:pt x="1768462" y="457200"/>
                  </a:lnTo>
                  <a:close/>
                </a:path>
                <a:path w="1768475" h="3781425">
                  <a:moveTo>
                    <a:pt x="1768462" y="400037"/>
                  </a:moveTo>
                  <a:lnTo>
                    <a:pt x="1758937" y="400037"/>
                  </a:lnTo>
                  <a:lnTo>
                    <a:pt x="1758937" y="428625"/>
                  </a:lnTo>
                  <a:lnTo>
                    <a:pt x="1768462" y="428625"/>
                  </a:lnTo>
                  <a:lnTo>
                    <a:pt x="1768462" y="400037"/>
                  </a:lnTo>
                  <a:close/>
                </a:path>
                <a:path w="1768475" h="3781425">
                  <a:moveTo>
                    <a:pt x="1768462" y="342887"/>
                  </a:moveTo>
                  <a:lnTo>
                    <a:pt x="1758937" y="342887"/>
                  </a:lnTo>
                  <a:lnTo>
                    <a:pt x="1758937" y="371462"/>
                  </a:lnTo>
                  <a:lnTo>
                    <a:pt x="1768462" y="371462"/>
                  </a:lnTo>
                  <a:lnTo>
                    <a:pt x="1768462" y="342887"/>
                  </a:lnTo>
                  <a:close/>
                </a:path>
                <a:path w="1768475" h="3781425">
                  <a:moveTo>
                    <a:pt x="1768462" y="285750"/>
                  </a:moveTo>
                  <a:lnTo>
                    <a:pt x="1758937" y="285750"/>
                  </a:lnTo>
                  <a:lnTo>
                    <a:pt x="1758937" y="314312"/>
                  </a:lnTo>
                  <a:lnTo>
                    <a:pt x="1768462" y="314312"/>
                  </a:lnTo>
                  <a:lnTo>
                    <a:pt x="1768462" y="285750"/>
                  </a:lnTo>
                  <a:close/>
                </a:path>
                <a:path w="1768475" h="3781425">
                  <a:moveTo>
                    <a:pt x="1768462" y="228600"/>
                  </a:moveTo>
                  <a:lnTo>
                    <a:pt x="1758937" y="228600"/>
                  </a:lnTo>
                  <a:lnTo>
                    <a:pt x="1758937" y="257175"/>
                  </a:lnTo>
                  <a:lnTo>
                    <a:pt x="1768462" y="257175"/>
                  </a:lnTo>
                  <a:lnTo>
                    <a:pt x="1768462" y="228600"/>
                  </a:lnTo>
                  <a:close/>
                </a:path>
                <a:path w="1768475" h="3781425">
                  <a:moveTo>
                    <a:pt x="1768462" y="171450"/>
                  </a:moveTo>
                  <a:lnTo>
                    <a:pt x="1758937" y="171450"/>
                  </a:lnTo>
                  <a:lnTo>
                    <a:pt x="1758937" y="200025"/>
                  </a:lnTo>
                  <a:lnTo>
                    <a:pt x="1768462" y="200025"/>
                  </a:lnTo>
                  <a:lnTo>
                    <a:pt x="1768462" y="171450"/>
                  </a:lnTo>
                  <a:close/>
                </a:path>
                <a:path w="1768475" h="3781425">
                  <a:moveTo>
                    <a:pt x="1768462" y="114300"/>
                  </a:moveTo>
                  <a:lnTo>
                    <a:pt x="1758937" y="114300"/>
                  </a:lnTo>
                  <a:lnTo>
                    <a:pt x="1758937" y="142875"/>
                  </a:lnTo>
                  <a:lnTo>
                    <a:pt x="1768462" y="142875"/>
                  </a:lnTo>
                  <a:lnTo>
                    <a:pt x="1768462" y="114300"/>
                  </a:lnTo>
                  <a:close/>
                </a:path>
                <a:path w="1768475" h="3781425">
                  <a:moveTo>
                    <a:pt x="1768462" y="57150"/>
                  </a:moveTo>
                  <a:lnTo>
                    <a:pt x="1758937" y="57150"/>
                  </a:lnTo>
                  <a:lnTo>
                    <a:pt x="1758937" y="85725"/>
                  </a:lnTo>
                  <a:lnTo>
                    <a:pt x="1768462" y="85725"/>
                  </a:lnTo>
                  <a:lnTo>
                    <a:pt x="1768462" y="57150"/>
                  </a:lnTo>
                  <a:close/>
                </a:path>
                <a:path w="1768475" h="3781425">
                  <a:moveTo>
                    <a:pt x="1768462" y="0"/>
                  </a:moveTo>
                  <a:lnTo>
                    <a:pt x="1758937" y="0"/>
                  </a:lnTo>
                  <a:lnTo>
                    <a:pt x="1758937" y="28575"/>
                  </a:lnTo>
                  <a:lnTo>
                    <a:pt x="1768462" y="28575"/>
                  </a:lnTo>
                  <a:lnTo>
                    <a:pt x="1768462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774725" y="4991112"/>
              <a:ext cx="1769110" cy="3781425"/>
            </a:xfrm>
            <a:custGeom>
              <a:avLst/>
              <a:gdLst/>
              <a:ahLst/>
              <a:cxnLst/>
              <a:rect l="l" t="t" r="r" b="b"/>
              <a:pathLst>
                <a:path w="1769109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9109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9109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9109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9109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9109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9109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9109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9109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9109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9109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9109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9109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9109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9109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9109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9109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9109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9109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9109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9109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9109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9109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9109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9109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9109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9109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9109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9109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9109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9109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9109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9109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9109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9109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9109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9109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9109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9109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9109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9109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9109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9109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9109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9109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9109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9109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9109" h="3781425">
                  <a:moveTo>
                    <a:pt x="9525" y="1085850"/>
                  </a:moveTo>
                  <a:lnTo>
                    <a:pt x="0" y="1085850"/>
                  </a:lnTo>
                  <a:lnTo>
                    <a:pt x="0" y="1114425"/>
                  </a:lnTo>
                  <a:lnTo>
                    <a:pt x="9525" y="1114425"/>
                  </a:lnTo>
                  <a:lnTo>
                    <a:pt x="9525" y="1085850"/>
                  </a:lnTo>
                  <a:close/>
                </a:path>
                <a:path w="1769109" h="3781425">
                  <a:moveTo>
                    <a:pt x="9525" y="1028687"/>
                  </a:moveTo>
                  <a:lnTo>
                    <a:pt x="0" y="1028687"/>
                  </a:lnTo>
                  <a:lnTo>
                    <a:pt x="0" y="1057275"/>
                  </a:lnTo>
                  <a:lnTo>
                    <a:pt x="9525" y="1057275"/>
                  </a:lnTo>
                  <a:lnTo>
                    <a:pt x="9525" y="1028687"/>
                  </a:lnTo>
                  <a:close/>
                </a:path>
                <a:path w="1769109" h="3781425">
                  <a:moveTo>
                    <a:pt x="9525" y="971537"/>
                  </a:moveTo>
                  <a:lnTo>
                    <a:pt x="0" y="971537"/>
                  </a:lnTo>
                  <a:lnTo>
                    <a:pt x="0" y="1000112"/>
                  </a:lnTo>
                  <a:lnTo>
                    <a:pt x="9525" y="1000112"/>
                  </a:lnTo>
                  <a:lnTo>
                    <a:pt x="9525" y="971537"/>
                  </a:lnTo>
                  <a:close/>
                </a:path>
                <a:path w="1769109" h="3781425">
                  <a:moveTo>
                    <a:pt x="1768487" y="1143000"/>
                  </a:moveTo>
                  <a:lnTo>
                    <a:pt x="1758962" y="1143000"/>
                  </a:lnTo>
                  <a:lnTo>
                    <a:pt x="1758962" y="1171575"/>
                  </a:lnTo>
                  <a:lnTo>
                    <a:pt x="1768487" y="1171575"/>
                  </a:lnTo>
                  <a:lnTo>
                    <a:pt x="1768487" y="1143000"/>
                  </a:lnTo>
                  <a:close/>
                </a:path>
                <a:path w="1769109" h="3781425">
                  <a:moveTo>
                    <a:pt x="1768487" y="1085850"/>
                  </a:moveTo>
                  <a:lnTo>
                    <a:pt x="1758962" y="1085850"/>
                  </a:lnTo>
                  <a:lnTo>
                    <a:pt x="1758962" y="1114425"/>
                  </a:lnTo>
                  <a:lnTo>
                    <a:pt x="1768487" y="1114425"/>
                  </a:lnTo>
                  <a:lnTo>
                    <a:pt x="1768487" y="1085850"/>
                  </a:lnTo>
                  <a:close/>
                </a:path>
                <a:path w="1769109" h="3781425">
                  <a:moveTo>
                    <a:pt x="1768487" y="1028687"/>
                  </a:moveTo>
                  <a:lnTo>
                    <a:pt x="1758962" y="1028687"/>
                  </a:lnTo>
                  <a:lnTo>
                    <a:pt x="1758962" y="1057275"/>
                  </a:lnTo>
                  <a:lnTo>
                    <a:pt x="1768487" y="1057275"/>
                  </a:lnTo>
                  <a:lnTo>
                    <a:pt x="1768487" y="1028687"/>
                  </a:lnTo>
                  <a:close/>
                </a:path>
                <a:path w="1769109" h="3781425">
                  <a:moveTo>
                    <a:pt x="1768487" y="971537"/>
                  </a:moveTo>
                  <a:lnTo>
                    <a:pt x="1758962" y="971537"/>
                  </a:lnTo>
                  <a:lnTo>
                    <a:pt x="1758962" y="1000112"/>
                  </a:lnTo>
                  <a:lnTo>
                    <a:pt x="1768487" y="1000112"/>
                  </a:lnTo>
                  <a:lnTo>
                    <a:pt x="1768487" y="971537"/>
                  </a:lnTo>
                  <a:close/>
                </a:path>
                <a:path w="1769109" h="3781425">
                  <a:moveTo>
                    <a:pt x="1768487" y="914387"/>
                  </a:moveTo>
                  <a:lnTo>
                    <a:pt x="1758962" y="914387"/>
                  </a:lnTo>
                  <a:lnTo>
                    <a:pt x="1758962" y="942962"/>
                  </a:lnTo>
                  <a:lnTo>
                    <a:pt x="1768487" y="942962"/>
                  </a:lnTo>
                  <a:lnTo>
                    <a:pt x="1768487" y="914387"/>
                  </a:lnTo>
                  <a:close/>
                </a:path>
                <a:path w="1769109" h="3781425">
                  <a:moveTo>
                    <a:pt x="1768487" y="857237"/>
                  </a:moveTo>
                  <a:lnTo>
                    <a:pt x="1758962" y="857237"/>
                  </a:lnTo>
                  <a:lnTo>
                    <a:pt x="1758962" y="885812"/>
                  </a:lnTo>
                  <a:lnTo>
                    <a:pt x="1768487" y="885812"/>
                  </a:lnTo>
                  <a:lnTo>
                    <a:pt x="1768487" y="857237"/>
                  </a:lnTo>
                  <a:close/>
                </a:path>
                <a:path w="1769109" h="3781425">
                  <a:moveTo>
                    <a:pt x="1768487" y="800087"/>
                  </a:moveTo>
                  <a:lnTo>
                    <a:pt x="1758962" y="800087"/>
                  </a:lnTo>
                  <a:lnTo>
                    <a:pt x="1758962" y="828662"/>
                  </a:lnTo>
                  <a:lnTo>
                    <a:pt x="1768487" y="828662"/>
                  </a:lnTo>
                  <a:lnTo>
                    <a:pt x="1768487" y="800087"/>
                  </a:lnTo>
                  <a:close/>
                </a:path>
                <a:path w="1769109" h="3781425">
                  <a:moveTo>
                    <a:pt x="1768487" y="742937"/>
                  </a:moveTo>
                  <a:lnTo>
                    <a:pt x="1758962" y="742937"/>
                  </a:lnTo>
                  <a:lnTo>
                    <a:pt x="1758962" y="771512"/>
                  </a:lnTo>
                  <a:lnTo>
                    <a:pt x="1768487" y="771512"/>
                  </a:lnTo>
                  <a:lnTo>
                    <a:pt x="1768487" y="742937"/>
                  </a:lnTo>
                  <a:close/>
                </a:path>
                <a:path w="1769109" h="3781425">
                  <a:moveTo>
                    <a:pt x="1768487" y="685787"/>
                  </a:moveTo>
                  <a:lnTo>
                    <a:pt x="1758962" y="685787"/>
                  </a:lnTo>
                  <a:lnTo>
                    <a:pt x="1758962" y="714362"/>
                  </a:lnTo>
                  <a:lnTo>
                    <a:pt x="1768487" y="714362"/>
                  </a:lnTo>
                  <a:lnTo>
                    <a:pt x="1768487" y="685787"/>
                  </a:lnTo>
                  <a:close/>
                </a:path>
                <a:path w="1769109" h="3781425">
                  <a:moveTo>
                    <a:pt x="1768487" y="628637"/>
                  </a:moveTo>
                  <a:lnTo>
                    <a:pt x="1758962" y="628637"/>
                  </a:lnTo>
                  <a:lnTo>
                    <a:pt x="1758962" y="657212"/>
                  </a:lnTo>
                  <a:lnTo>
                    <a:pt x="1768487" y="657212"/>
                  </a:lnTo>
                  <a:lnTo>
                    <a:pt x="1768487" y="628637"/>
                  </a:lnTo>
                  <a:close/>
                </a:path>
                <a:path w="1769109" h="3781425">
                  <a:moveTo>
                    <a:pt x="1768487" y="571500"/>
                  </a:moveTo>
                  <a:lnTo>
                    <a:pt x="1758962" y="571500"/>
                  </a:lnTo>
                  <a:lnTo>
                    <a:pt x="1758962" y="600075"/>
                  </a:lnTo>
                  <a:lnTo>
                    <a:pt x="1768487" y="600075"/>
                  </a:lnTo>
                  <a:lnTo>
                    <a:pt x="1768487" y="571500"/>
                  </a:lnTo>
                  <a:close/>
                </a:path>
                <a:path w="1769109" h="3781425">
                  <a:moveTo>
                    <a:pt x="1768487" y="514350"/>
                  </a:moveTo>
                  <a:lnTo>
                    <a:pt x="1758962" y="514350"/>
                  </a:lnTo>
                  <a:lnTo>
                    <a:pt x="1758962" y="542925"/>
                  </a:lnTo>
                  <a:lnTo>
                    <a:pt x="1768487" y="542925"/>
                  </a:lnTo>
                  <a:lnTo>
                    <a:pt x="1768487" y="514350"/>
                  </a:lnTo>
                  <a:close/>
                </a:path>
                <a:path w="1769109" h="3781425">
                  <a:moveTo>
                    <a:pt x="1768487" y="457200"/>
                  </a:moveTo>
                  <a:lnTo>
                    <a:pt x="1758962" y="457200"/>
                  </a:lnTo>
                  <a:lnTo>
                    <a:pt x="1758962" y="485775"/>
                  </a:lnTo>
                  <a:lnTo>
                    <a:pt x="1768487" y="485775"/>
                  </a:lnTo>
                  <a:lnTo>
                    <a:pt x="1768487" y="457200"/>
                  </a:lnTo>
                  <a:close/>
                </a:path>
                <a:path w="1769109" h="3781425">
                  <a:moveTo>
                    <a:pt x="1768487" y="400037"/>
                  </a:moveTo>
                  <a:lnTo>
                    <a:pt x="1758962" y="400037"/>
                  </a:lnTo>
                  <a:lnTo>
                    <a:pt x="1758962" y="428625"/>
                  </a:lnTo>
                  <a:lnTo>
                    <a:pt x="1768487" y="428625"/>
                  </a:lnTo>
                  <a:lnTo>
                    <a:pt x="1768487" y="400037"/>
                  </a:lnTo>
                  <a:close/>
                </a:path>
                <a:path w="1769109" h="3781425">
                  <a:moveTo>
                    <a:pt x="1768487" y="342887"/>
                  </a:moveTo>
                  <a:lnTo>
                    <a:pt x="1758962" y="342887"/>
                  </a:lnTo>
                  <a:lnTo>
                    <a:pt x="1758962" y="371462"/>
                  </a:lnTo>
                  <a:lnTo>
                    <a:pt x="1768487" y="371462"/>
                  </a:lnTo>
                  <a:lnTo>
                    <a:pt x="1768487" y="342887"/>
                  </a:lnTo>
                  <a:close/>
                </a:path>
                <a:path w="1769109" h="3781425">
                  <a:moveTo>
                    <a:pt x="1768487" y="285750"/>
                  </a:moveTo>
                  <a:lnTo>
                    <a:pt x="1758962" y="285750"/>
                  </a:lnTo>
                  <a:lnTo>
                    <a:pt x="1758962" y="314312"/>
                  </a:lnTo>
                  <a:lnTo>
                    <a:pt x="1768487" y="314312"/>
                  </a:lnTo>
                  <a:lnTo>
                    <a:pt x="1768487" y="285750"/>
                  </a:lnTo>
                  <a:close/>
                </a:path>
                <a:path w="1769109" h="3781425">
                  <a:moveTo>
                    <a:pt x="1768487" y="228600"/>
                  </a:moveTo>
                  <a:lnTo>
                    <a:pt x="1758962" y="228600"/>
                  </a:lnTo>
                  <a:lnTo>
                    <a:pt x="1758962" y="257175"/>
                  </a:lnTo>
                  <a:lnTo>
                    <a:pt x="1768487" y="257175"/>
                  </a:lnTo>
                  <a:lnTo>
                    <a:pt x="1768487" y="228600"/>
                  </a:lnTo>
                  <a:close/>
                </a:path>
                <a:path w="1769109" h="3781425">
                  <a:moveTo>
                    <a:pt x="1768487" y="171450"/>
                  </a:moveTo>
                  <a:lnTo>
                    <a:pt x="1758962" y="171450"/>
                  </a:lnTo>
                  <a:lnTo>
                    <a:pt x="1758962" y="200025"/>
                  </a:lnTo>
                  <a:lnTo>
                    <a:pt x="1768487" y="200025"/>
                  </a:lnTo>
                  <a:lnTo>
                    <a:pt x="1768487" y="171450"/>
                  </a:lnTo>
                  <a:close/>
                </a:path>
                <a:path w="1769109" h="3781425">
                  <a:moveTo>
                    <a:pt x="1768487" y="114300"/>
                  </a:moveTo>
                  <a:lnTo>
                    <a:pt x="1758962" y="114300"/>
                  </a:lnTo>
                  <a:lnTo>
                    <a:pt x="1758962" y="142875"/>
                  </a:lnTo>
                  <a:lnTo>
                    <a:pt x="1768487" y="142875"/>
                  </a:lnTo>
                  <a:lnTo>
                    <a:pt x="1768487" y="114300"/>
                  </a:lnTo>
                  <a:close/>
                </a:path>
                <a:path w="1769109" h="3781425">
                  <a:moveTo>
                    <a:pt x="1768487" y="57150"/>
                  </a:moveTo>
                  <a:lnTo>
                    <a:pt x="1758962" y="57150"/>
                  </a:lnTo>
                  <a:lnTo>
                    <a:pt x="1758962" y="85725"/>
                  </a:lnTo>
                  <a:lnTo>
                    <a:pt x="1768487" y="85725"/>
                  </a:lnTo>
                  <a:lnTo>
                    <a:pt x="1768487" y="57150"/>
                  </a:lnTo>
                  <a:close/>
                </a:path>
                <a:path w="1769109" h="3781425">
                  <a:moveTo>
                    <a:pt x="1768487" y="0"/>
                  </a:moveTo>
                  <a:lnTo>
                    <a:pt x="1758962" y="0"/>
                  </a:lnTo>
                  <a:lnTo>
                    <a:pt x="1758962" y="28575"/>
                  </a:lnTo>
                  <a:lnTo>
                    <a:pt x="1768487" y="28575"/>
                  </a:lnTo>
                  <a:lnTo>
                    <a:pt x="176848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533687" y="4991112"/>
              <a:ext cx="1768475" cy="3781425"/>
            </a:xfrm>
            <a:custGeom>
              <a:avLst/>
              <a:gdLst/>
              <a:ahLst/>
              <a:cxnLst/>
              <a:rect l="l" t="t" r="r" b="b"/>
              <a:pathLst>
                <a:path w="1768475" h="3781425">
                  <a:moveTo>
                    <a:pt x="9525" y="3771887"/>
                  </a:moveTo>
                  <a:lnTo>
                    <a:pt x="0" y="3771887"/>
                  </a:lnTo>
                  <a:lnTo>
                    <a:pt x="0" y="3781412"/>
                  </a:lnTo>
                  <a:lnTo>
                    <a:pt x="9525" y="3781412"/>
                  </a:lnTo>
                  <a:lnTo>
                    <a:pt x="9525" y="3771887"/>
                  </a:lnTo>
                  <a:close/>
                </a:path>
                <a:path w="1768475" h="3781425">
                  <a:moveTo>
                    <a:pt x="9525" y="3714737"/>
                  </a:moveTo>
                  <a:lnTo>
                    <a:pt x="0" y="3714737"/>
                  </a:lnTo>
                  <a:lnTo>
                    <a:pt x="0" y="3743312"/>
                  </a:lnTo>
                  <a:lnTo>
                    <a:pt x="9525" y="3743312"/>
                  </a:lnTo>
                  <a:lnTo>
                    <a:pt x="9525" y="3714737"/>
                  </a:lnTo>
                  <a:close/>
                </a:path>
                <a:path w="1768475" h="3781425">
                  <a:moveTo>
                    <a:pt x="9525" y="3657587"/>
                  </a:moveTo>
                  <a:lnTo>
                    <a:pt x="0" y="3657587"/>
                  </a:lnTo>
                  <a:lnTo>
                    <a:pt x="0" y="3686162"/>
                  </a:lnTo>
                  <a:lnTo>
                    <a:pt x="9525" y="3686162"/>
                  </a:lnTo>
                  <a:lnTo>
                    <a:pt x="9525" y="3657587"/>
                  </a:lnTo>
                  <a:close/>
                </a:path>
                <a:path w="1768475" h="3781425">
                  <a:moveTo>
                    <a:pt x="9525" y="3600437"/>
                  </a:moveTo>
                  <a:lnTo>
                    <a:pt x="0" y="3600437"/>
                  </a:lnTo>
                  <a:lnTo>
                    <a:pt x="0" y="3629012"/>
                  </a:lnTo>
                  <a:lnTo>
                    <a:pt x="9525" y="3629012"/>
                  </a:lnTo>
                  <a:lnTo>
                    <a:pt x="9525" y="3600437"/>
                  </a:lnTo>
                  <a:close/>
                </a:path>
                <a:path w="1768475" h="3781425">
                  <a:moveTo>
                    <a:pt x="9525" y="3543287"/>
                  </a:moveTo>
                  <a:lnTo>
                    <a:pt x="0" y="3543287"/>
                  </a:lnTo>
                  <a:lnTo>
                    <a:pt x="0" y="3571862"/>
                  </a:lnTo>
                  <a:lnTo>
                    <a:pt x="9525" y="3571862"/>
                  </a:lnTo>
                  <a:lnTo>
                    <a:pt x="9525" y="3543287"/>
                  </a:lnTo>
                  <a:close/>
                </a:path>
                <a:path w="1768475" h="3781425">
                  <a:moveTo>
                    <a:pt x="9525" y="3486137"/>
                  </a:moveTo>
                  <a:lnTo>
                    <a:pt x="0" y="3486137"/>
                  </a:lnTo>
                  <a:lnTo>
                    <a:pt x="0" y="3514712"/>
                  </a:lnTo>
                  <a:lnTo>
                    <a:pt x="9525" y="3514712"/>
                  </a:lnTo>
                  <a:lnTo>
                    <a:pt x="9525" y="3486137"/>
                  </a:lnTo>
                  <a:close/>
                </a:path>
                <a:path w="1768475" h="3781425">
                  <a:moveTo>
                    <a:pt x="9525" y="3428987"/>
                  </a:moveTo>
                  <a:lnTo>
                    <a:pt x="0" y="3428987"/>
                  </a:lnTo>
                  <a:lnTo>
                    <a:pt x="0" y="3457562"/>
                  </a:lnTo>
                  <a:lnTo>
                    <a:pt x="9525" y="3457562"/>
                  </a:lnTo>
                  <a:lnTo>
                    <a:pt x="9525" y="3428987"/>
                  </a:lnTo>
                  <a:close/>
                </a:path>
                <a:path w="1768475" h="3781425">
                  <a:moveTo>
                    <a:pt x="9525" y="3371837"/>
                  </a:moveTo>
                  <a:lnTo>
                    <a:pt x="0" y="3371837"/>
                  </a:lnTo>
                  <a:lnTo>
                    <a:pt x="0" y="3400412"/>
                  </a:lnTo>
                  <a:lnTo>
                    <a:pt x="9525" y="3400412"/>
                  </a:lnTo>
                  <a:lnTo>
                    <a:pt x="9525" y="3371837"/>
                  </a:lnTo>
                  <a:close/>
                </a:path>
                <a:path w="1768475" h="3781425">
                  <a:moveTo>
                    <a:pt x="9525" y="3314687"/>
                  </a:moveTo>
                  <a:lnTo>
                    <a:pt x="0" y="3314687"/>
                  </a:lnTo>
                  <a:lnTo>
                    <a:pt x="0" y="3343262"/>
                  </a:lnTo>
                  <a:lnTo>
                    <a:pt x="9525" y="3343262"/>
                  </a:lnTo>
                  <a:lnTo>
                    <a:pt x="9525" y="3314687"/>
                  </a:lnTo>
                  <a:close/>
                </a:path>
                <a:path w="1768475" h="3781425">
                  <a:moveTo>
                    <a:pt x="9525" y="3257537"/>
                  </a:moveTo>
                  <a:lnTo>
                    <a:pt x="0" y="3257537"/>
                  </a:lnTo>
                  <a:lnTo>
                    <a:pt x="0" y="3286112"/>
                  </a:lnTo>
                  <a:lnTo>
                    <a:pt x="9525" y="3286112"/>
                  </a:lnTo>
                  <a:lnTo>
                    <a:pt x="9525" y="3257537"/>
                  </a:lnTo>
                  <a:close/>
                </a:path>
                <a:path w="1768475" h="3781425">
                  <a:moveTo>
                    <a:pt x="9525" y="3200387"/>
                  </a:moveTo>
                  <a:lnTo>
                    <a:pt x="0" y="3200387"/>
                  </a:lnTo>
                  <a:lnTo>
                    <a:pt x="0" y="3228962"/>
                  </a:lnTo>
                  <a:lnTo>
                    <a:pt x="9525" y="3228962"/>
                  </a:lnTo>
                  <a:lnTo>
                    <a:pt x="9525" y="3200387"/>
                  </a:lnTo>
                  <a:close/>
                </a:path>
                <a:path w="1768475" h="3781425">
                  <a:moveTo>
                    <a:pt x="9525" y="3143237"/>
                  </a:moveTo>
                  <a:lnTo>
                    <a:pt x="0" y="3143237"/>
                  </a:lnTo>
                  <a:lnTo>
                    <a:pt x="0" y="3171812"/>
                  </a:lnTo>
                  <a:lnTo>
                    <a:pt x="9525" y="3171812"/>
                  </a:lnTo>
                  <a:lnTo>
                    <a:pt x="9525" y="3143237"/>
                  </a:lnTo>
                  <a:close/>
                </a:path>
                <a:path w="1768475" h="3781425">
                  <a:moveTo>
                    <a:pt x="9525" y="3086087"/>
                  </a:moveTo>
                  <a:lnTo>
                    <a:pt x="0" y="3086087"/>
                  </a:lnTo>
                  <a:lnTo>
                    <a:pt x="0" y="3114662"/>
                  </a:lnTo>
                  <a:lnTo>
                    <a:pt x="9525" y="3114662"/>
                  </a:lnTo>
                  <a:lnTo>
                    <a:pt x="9525" y="3086087"/>
                  </a:lnTo>
                  <a:close/>
                </a:path>
                <a:path w="1768475" h="3781425">
                  <a:moveTo>
                    <a:pt x="9525" y="3028937"/>
                  </a:moveTo>
                  <a:lnTo>
                    <a:pt x="0" y="3028937"/>
                  </a:lnTo>
                  <a:lnTo>
                    <a:pt x="0" y="3057512"/>
                  </a:lnTo>
                  <a:lnTo>
                    <a:pt x="9525" y="3057512"/>
                  </a:lnTo>
                  <a:lnTo>
                    <a:pt x="9525" y="3028937"/>
                  </a:lnTo>
                  <a:close/>
                </a:path>
                <a:path w="1768475" h="3781425">
                  <a:moveTo>
                    <a:pt x="9525" y="2971787"/>
                  </a:moveTo>
                  <a:lnTo>
                    <a:pt x="0" y="2971787"/>
                  </a:lnTo>
                  <a:lnTo>
                    <a:pt x="0" y="3000362"/>
                  </a:lnTo>
                  <a:lnTo>
                    <a:pt x="9525" y="3000362"/>
                  </a:lnTo>
                  <a:lnTo>
                    <a:pt x="9525" y="2971787"/>
                  </a:lnTo>
                  <a:close/>
                </a:path>
                <a:path w="1768475" h="3781425">
                  <a:moveTo>
                    <a:pt x="9525" y="2914637"/>
                  </a:moveTo>
                  <a:lnTo>
                    <a:pt x="0" y="2914637"/>
                  </a:lnTo>
                  <a:lnTo>
                    <a:pt x="0" y="2943212"/>
                  </a:lnTo>
                  <a:lnTo>
                    <a:pt x="9525" y="2943212"/>
                  </a:lnTo>
                  <a:lnTo>
                    <a:pt x="9525" y="2914637"/>
                  </a:lnTo>
                  <a:close/>
                </a:path>
                <a:path w="1768475" h="3781425">
                  <a:moveTo>
                    <a:pt x="9525" y="2857487"/>
                  </a:moveTo>
                  <a:lnTo>
                    <a:pt x="0" y="2857487"/>
                  </a:lnTo>
                  <a:lnTo>
                    <a:pt x="0" y="2886062"/>
                  </a:lnTo>
                  <a:lnTo>
                    <a:pt x="9525" y="2886062"/>
                  </a:lnTo>
                  <a:lnTo>
                    <a:pt x="9525" y="2857487"/>
                  </a:lnTo>
                  <a:close/>
                </a:path>
                <a:path w="1768475" h="3781425">
                  <a:moveTo>
                    <a:pt x="9525" y="2800337"/>
                  </a:moveTo>
                  <a:lnTo>
                    <a:pt x="0" y="2800337"/>
                  </a:lnTo>
                  <a:lnTo>
                    <a:pt x="0" y="2828912"/>
                  </a:lnTo>
                  <a:lnTo>
                    <a:pt x="9525" y="2828912"/>
                  </a:lnTo>
                  <a:lnTo>
                    <a:pt x="9525" y="2800337"/>
                  </a:lnTo>
                  <a:close/>
                </a:path>
                <a:path w="1768475" h="3781425">
                  <a:moveTo>
                    <a:pt x="9525" y="2743187"/>
                  </a:moveTo>
                  <a:lnTo>
                    <a:pt x="0" y="2743187"/>
                  </a:lnTo>
                  <a:lnTo>
                    <a:pt x="0" y="2771762"/>
                  </a:lnTo>
                  <a:lnTo>
                    <a:pt x="9525" y="2771762"/>
                  </a:lnTo>
                  <a:lnTo>
                    <a:pt x="9525" y="2743187"/>
                  </a:lnTo>
                  <a:close/>
                </a:path>
                <a:path w="1768475" h="3781425">
                  <a:moveTo>
                    <a:pt x="9525" y="2686037"/>
                  </a:moveTo>
                  <a:lnTo>
                    <a:pt x="0" y="2686037"/>
                  </a:lnTo>
                  <a:lnTo>
                    <a:pt x="0" y="2714612"/>
                  </a:lnTo>
                  <a:lnTo>
                    <a:pt x="9525" y="2714612"/>
                  </a:lnTo>
                  <a:lnTo>
                    <a:pt x="9525" y="2686037"/>
                  </a:lnTo>
                  <a:close/>
                </a:path>
                <a:path w="1768475" h="3781425">
                  <a:moveTo>
                    <a:pt x="9525" y="2628887"/>
                  </a:moveTo>
                  <a:lnTo>
                    <a:pt x="0" y="2628887"/>
                  </a:lnTo>
                  <a:lnTo>
                    <a:pt x="0" y="2657462"/>
                  </a:lnTo>
                  <a:lnTo>
                    <a:pt x="9525" y="2657462"/>
                  </a:lnTo>
                  <a:lnTo>
                    <a:pt x="9525" y="2628887"/>
                  </a:lnTo>
                  <a:close/>
                </a:path>
                <a:path w="1768475" h="3781425">
                  <a:moveTo>
                    <a:pt x="9525" y="2571737"/>
                  </a:moveTo>
                  <a:lnTo>
                    <a:pt x="0" y="2571737"/>
                  </a:lnTo>
                  <a:lnTo>
                    <a:pt x="0" y="2600312"/>
                  </a:lnTo>
                  <a:lnTo>
                    <a:pt x="9525" y="2600312"/>
                  </a:lnTo>
                  <a:lnTo>
                    <a:pt x="9525" y="2571737"/>
                  </a:lnTo>
                  <a:close/>
                </a:path>
                <a:path w="1768475" h="3781425">
                  <a:moveTo>
                    <a:pt x="9525" y="2514587"/>
                  </a:moveTo>
                  <a:lnTo>
                    <a:pt x="0" y="2514587"/>
                  </a:lnTo>
                  <a:lnTo>
                    <a:pt x="0" y="2543162"/>
                  </a:lnTo>
                  <a:lnTo>
                    <a:pt x="9525" y="2543162"/>
                  </a:lnTo>
                  <a:lnTo>
                    <a:pt x="9525" y="2514587"/>
                  </a:lnTo>
                  <a:close/>
                </a:path>
                <a:path w="1768475" h="3781425">
                  <a:moveTo>
                    <a:pt x="9525" y="2457437"/>
                  </a:moveTo>
                  <a:lnTo>
                    <a:pt x="0" y="2457437"/>
                  </a:lnTo>
                  <a:lnTo>
                    <a:pt x="0" y="2486012"/>
                  </a:lnTo>
                  <a:lnTo>
                    <a:pt x="9525" y="2486012"/>
                  </a:lnTo>
                  <a:lnTo>
                    <a:pt x="9525" y="2457437"/>
                  </a:lnTo>
                  <a:close/>
                </a:path>
                <a:path w="1768475" h="3781425">
                  <a:moveTo>
                    <a:pt x="9525" y="2400300"/>
                  </a:moveTo>
                  <a:lnTo>
                    <a:pt x="0" y="2400300"/>
                  </a:lnTo>
                  <a:lnTo>
                    <a:pt x="0" y="2428875"/>
                  </a:lnTo>
                  <a:lnTo>
                    <a:pt x="9525" y="2428875"/>
                  </a:lnTo>
                  <a:lnTo>
                    <a:pt x="9525" y="2400300"/>
                  </a:lnTo>
                  <a:close/>
                </a:path>
                <a:path w="1768475" h="3781425">
                  <a:moveTo>
                    <a:pt x="9525" y="2343150"/>
                  </a:moveTo>
                  <a:lnTo>
                    <a:pt x="0" y="2343150"/>
                  </a:lnTo>
                  <a:lnTo>
                    <a:pt x="0" y="2371725"/>
                  </a:lnTo>
                  <a:lnTo>
                    <a:pt x="9525" y="2371725"/>
                  </a:lnTo>
                  <a:lnTo>
                    <a:pt x="9525" y="2343150"/>
                  </a:lnTo>
                  <a:close/>
                </a:path>
                <a:path w="1768475" h="3781425">
                  <a:moveTo>
                    <a:pt x="9525" y="2286000"/>
                  </a:moveTo>
                  <a:lnTo>
                    <a:pt x="0" y="2286000"/>
                  </a:lnTo>
                  <a:lnTo>
                    <a:pt x="0" y="2314575"/>
                  </a:lnTo>
                  <a:lnTo>
                    <a:pt x="9525" y="2314575"/>
                  </a:lnTo>
                  <a:lnTo>
                    <a:pt x="9525" y="2286000"/>
                  </a:lnTo>
                  <a:close/>
                </a:path>
                <a:path w="1768475" h="3781425">
                  <a:moveTo>
                    <a:pt x="9525" y="2228837"/>
                  </a:moveTo>
                  <a:lnTo>
                    <a:pt x="0" y="2228837"/>
                  </a:lnTo>
                  <a:lnTo>
                    <a:pt x="0" y="2257425"/>
                  </a:lnTo>
                  <a:lnTo>
                    <a:pt x="9525" y="2257425"/>
                  </a:lnTo>
                  <a:lnTo>
                    <a:pt x="9525" y="2228837"/>
                  </a:lnTo>
                  <a:close/>
                </a:path>
                <a:path w="1768475" h="3781425">
                  <a:moveTo>
                    <a:pt x="9525" y="2171687"/>
                  </a:moveTo>
                  <a:lnTo>
                    <a:pt x="0" y="2171687"/>
                  </a:lnTo>
                  <a:lnTo>
                    <a:pt x="0" y="2200262"/>
                  </a:lnTo>
                  <a:lnTo>
                    <a:pt x="9525" y="2200262"/>
                  </a:lnTo>
                  <a:lnTo>
                    <a:pt x="9525" y="2171687"/>
                  </a:lnTo>
                  <a:close/>
                </a:path>
                <a:path w="1768475" h="3781425">
                  <a:moveTo>
                    <a:pt x="9525" y="2114537"/>
                  </a:moveTo>
                  <a:lnTo>
                    <a:pt x="0" y="2114537"/>
                  </a:lnTo>
                  <a:lnTo>
                    <a:pt x="0" y="2143112"/>
                  </a:lnTo>
                  <a:lnTo>
                    <a:pt x="9525" y="2143112"/>
                  </a:lnTo>
                  <a:lnTo>
                    <a:pt x="9525" y="2114537"/>
                  </a:lnTo>
                  <a:close/>
                </a:path>
                <a:path w="1768475" h="3781425">
                  <a:moveTo>
                    <a:pt x="9525" y="2057387"/>
                  </a:moveTo>
                  <a:lnTo>
                    <a:pt x="0" y="2057387"/>
                  </a:lnTo>
                  <a:lnTo>
                    <a:pt x="0" y="2085962"/>
                  </a:lnTo>
                  <a:lnTo>
                    <a:pt x="9525" y="2085962"/>
                  </a:lnTo>
                  <a:lnTo>
                    <a:pt x="9525" y="2057387"/>
                  </a:lnTo>
                  <a:close/>
                </a:path>
                <a:path w="1768475" h="3781425">
                  <a:moveTo>
                    <a:pt x="9525" y="2000237"/>
                  </a:moveTo>
                  <a:lnTo>
                    <a:pt x="0" y="2000237"/>
                  </a:lnTo>
                  <a:lnTo>
                    <a:pt x="0" y="2028812"/>
                  </a:lnTo>
                  <a:lnTo>
                    <a:pt x="9525" y="2028812"/>
                  </a:lnTo>
                  <a:lnTo>
                    <a:pt x="9525" y="2000237"/>
                  </a:lnTo>
                  <a:close/>
                </a:path>
                <a:path w="1768475" h="3781425">
                  <a:moveTo>
                    <a:pt x="9525" y="1943087"/>
                  </a:moveTo>
                  <a:lnTo>
                    <a:pt x="0" y="1943087"/>
                  </a:lnTo>
                  <a:lnTo>
                    <a:pt x="0" y="1971662"/>
                  </a:lnTo>
                  <a:lnTo>
                    <a:pt x="9525" y="1971662"/>
                  </a:lnTo>
                  <a:lnTo>
                    <a:pt x="9525" y="1943087"/>
                  </a:lnTo>
                  <a:close/>
                </a:path>
                <a:path w="1768475" h="3781425">
                  <a:moveTo>
                    <a:pt x="9525" y="1885937"/>
                  </a:moveTo>
                  <a:lnTo>
                    <a:pt x="0" y="1885937"/>
                  </a:lnTo>
                  <a:lnTo>
                    <a:pt x="0" y="1914512"/>
                  </a:lnTo>
                  <a:lnTo>
                    <a:pt x="9525" y="1914512"/>
                  </a:lnTo>
                  <a:lnTo>
                    <a:pt x="9525" y="1885937"/>
                  </a:lnTo>
                  <a:close/>
                </a:path>
                <a:path w="1768475" h="3781425">
                  <a:moveTo>
                    <a:pt x="9525" y="1828787"/>
                  </a:moveTo>
                  <a:lnTo>
                    <a:pt x="0" y="1828787"/>
                  </a:lnTo>
                  <a:lnTo>
                    <a:pt x="0" y="1857362"/>
                  </a:lnTo>
                  <a:lnTo>
                    <a:pt x="9525" y="1857362"/>
                  </a:lnTo>
                  <a:lnTo>
                    <a:pt x="9525" y="1828787"/>
                  </a:lnTo>
                  <a:close/>
                </a:path>
                <a:path w="1768475" h="3781425">
                  <a:moveTo>
                    <a:pt x="9525" y="1771637"/>
                  </a:moveTo>
                  <a:lnTo>
                    <a:pt x="0" y="1771637"/>
                  </a:lnTo>
                  <a:lnTo>
                    <a:pt x="0" y="1800212"/>
                  </a:lnTo>
                  <a:lnTo>
                    <a:pt x="9525" y="1800212"/>
                  </a:lnTo>
                  <a:lnTo>
                    <a:pt x="9525" y="1771637"/>
                  </a:lnTo>
                  <a:close/>
                </a:path>
                <a:path w="1768475" h="3781425">
                  <a:moveTo>
                    <a:pt x="9525" y="1714487"/>
                  </a:moveTo>
                  <a:lnTo>
                    <a:pt x="0" y="1714487"/>
                  </a:lnTo>
                  <a:lnTo>
                    <a:pt x="0" y="1743062"/>
                  </a:lnTo>
                  <a:lnTo>
                    <a:pt x="9525" y="1743062"/>
                  </a:lnTo>
                  <a:lnTo>
                    <a:pt x="9525" y="1714487"/>
                  </a:lnTo>
                  <a:close/>
                </a:path>
                <a:path w="1768475" h="3781425">
                  <a:moveTo>
                    <a:pt x="9525" y="1657337"/>
                  </a:moveTo>
                  <a:lnTo>
                    <a:pt x="0" y="1657337"/>
                  </a:lnTo>
                  <a:lnTo>
                    <a:pt x="0" y="1685912"/>
                  </a:lnTo>
                  <a:lnTo>
                    <a:pt x="9525" y="1685912"/>
                  </a:lnTo>
                  <a:lnTo>
                    <a:pt x="9525" y="1657337"/>
                  </a:lnTo>
                  <a:close/>
                </a:path>
                <a:path w="1768475" h="3781425">
                  <a:moveTo>
                    <a:pt x="9525" y="1600187"/>
                  </a:moveTo>
                  <a:lnTo>
                    <a:pt x="0" y="1600187"/>
                  </a:lnTo>
                  <a:lnTo>
                    <a:pt x="0" y="1628762"/>
                  </a:lnTo>
                  <a:lnTo>
                    <a:pt x="9525" y="1628762"/>
                  </a:lnTo>
                  <a:lnTo>
                    <a:pt x="9525" y="1600187"/>
                  </a:lnTo>
                  <a:close/>
                </a:path>
                <a:path w="1768475" h="3781425">
                  <a:moveTo>
                    <a:pt x="9525" y="1543037"/>
                  </a:moveTo>
                  <a:lnTo>
                    <a:pt x="0" y="1543037"/>
                  </a:lnTo>
                  <a:lnTo>
                    <a:pt x="0" y="1571612"/>
                  </a:lnTo>
                  <a:lnTo>
                    <a:pt x="9525" y="1571612"/>
                  </a:lnTo>
                  <a:lnTo>
                    <a:pt x="9525" y="1543037"/>
                  </a:lnTo>
                  <a:close/>
                </a:path>
                <a:path w="1768475" h="3781425">
                  <a:moveTo>
                    <a:pt x="9525" y="1485887"/>
                  </a:moveTo>
                  <a:lnTo>
                    <a:pt x="0" y="1485887"/>
                  </a:lnTo>
                  <a:lnTo>
                    <a:pt x="0" y="1514462"/>
                  </a:lnTo>
                  <a:lnTo>
                    <a:pt x="9525" y="1514462"/>
                  </a:lnTo>
                  <a:lnTo>
                    <a:pt x="9525" y="1485887"/>
                  </a:lnTo>
                  <a:close/>
                </a:path>
                <a:path w="1768475" h="3781425">
                  <a:moveTo>
                    <a:pt x="9525" y="1428737"/>
                  </a:moveTo>
                  <a:lnTo>
                    <a:pt x="0" y="1428737"/>
                  </a:lnTo>
                  <a:lnTo>
                    <a:pt x="0" y="1457312"/>
                  </a:lnTo>
                  <a:lnTo>
                    <a:pt x="9525" y="1457312"/>
                  </a:lnTo>
                  <a:lnTo>
                    <a:pt x="9525" y="1428737"/>
                  </a:lnTo>
                  <a:close/>
                </a:path>
                <a:path w="1768475" h="3781425">
                  <a:moveTo>
                    <a:pt x="9525" y="1371587"/>
                  </a:moveTo>
                  <a:lnTo>
                    <a:pt x="0" y="1371587"/>
                  </a:lnTo>
                  <a:lnTo>
                    <a:pt x="0" y="1400162"/>
                  </a:lnTo>
                  <a:lnTo>
                    <a:pt x="9525" y="1400162"/>
                  </a:lnTo>
                  <a:lnTo>
                    <a:pt x="9525" y="1371587"/>
                  </a:lnTo>
                  <a:close/>
                </a:path>
                <a:path w="1768475" h="3781425">
                  <a:moveTo>
                    <a:pt x="9525" y="1314437"/>
                  </a:moveTo>
                  <a:lnTo>
                    <a:pt x="0" y="1314437"/>
                  </a:lnTo>
                  <a:lnTo>
                    <a:pt x="0" y="1343012"/>
                  </a:lnTo>
                  <a:lnTo>
                    <a:pt x="9525" y="1343012"/>
                  </a:lnTo>
                  <a:lnTo>
                    <a:pt x="9525" y="1314437"/>
                  </a:lnTo>
                  <a:close/>
                </a:path>
                <a:path w="1768475" h="3781425">
                  <a:moveTo>
                    <a:pt x="9525" y="1257287"/>
                  </a:moveTo>
                  <a:lnTo>
                    <a:pt x="0" y="1257287"/>
                  </a:lnTo>
                  <a:lnTo>
                    <a:pt x="0" y="1285862"/>
                  </a:lnTo>
                  <a:lnTo>
                    <a:pt x="9525" y="1285862"/>
                  </a:lnTo>
                  <a:lnTo>
                    <a:pt x="9525" y="1257287"/>
                  </a:lnTo>
                  <a:close/>
                </a:path>
                <a:path w="1768475" h="3781425">
                  <a:moveTo>
                    <a:pt x="9525" y="1200150"/>
                  </a:moveTo>
                  <a:lnTo>
                    <a:pt x="0" y="1200150"/>
                  </a:lnTo>
                  <a:lnTo>
                    <a:pt x="0" y="1228712"/>
                  </a:lnTo>
                  <a:lnTo>
                    <a:pt x="9525" y="1228712"/>
                  </a:lnTo>
                  <a:lnTo>
                    <a:pt x="9525" y="1200150"/>
                  </a:lnTo>
                  <a:close/>
                </a:path>
                <a:path w="1768475" h="3781425">
                  <a:moveTo>
                    <a:pt x="9525" y="1143000"/>
                  </a:moveTo>
                  <a:lnTo>
                    <a:pt x="0" y="1143000"/>
                  </a:lnTo>
                  <a:lnTo>
                    <a:pt x="0" y="1171575"/>
                  </a:lnTo>
                  <a:lnTo>
                    <a:pt x="9525" y="1171575"/>
                  </a:lnTo>
                  <a:lnTo>
                    <a:pt x="9525" y="1143000"/>
                  </a:lnTo>
                  <a:close/>
                </a:path>
                <a:path w="1768475" h="3781425">
                  <a:moveTo>
                    <a:pt x="1768475" y="0"/>
                  </a:moveTo>
                  <a:lnTo>
                    <a:pt x="1758950" y="0"/>
                  </a:lnTo>
                  <a:lnTo>
                    <a:pt x="1758950" y="28575"/>
                  </a:lnTo>
                  <a:lnTo>
                    <a:pt x="1768475" y="28575"/>
                  </a:lnTo>
                  <a:lnTo>
                    <a:pt x="1768475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297400" y="5048250"/>
              <a:ext cx="0" cy="3686175"/>
            </a:xfrm>
            <a:custGeom>
              <a:avLst/>
              <a:gdLst/>
              <a:ahLst/>
              <a:cxnLst/>
              <a:rect l="l" t="t" r="r" b="b"/>
              <a:pathLst>
                <a:path h="3686175">
                  <a:moveTo>
                    <a:pt x="0" y="0"/>
                  </a:moveTo>
                  <a:lnTo>
                    <a:pt x="0" y="3686174"/>
                  </a:lnTo>
                </a:path>
              </a:pathLst>
            </a:custGeom>
            <a:ln w="9525">
              <a:solidFill>
                <a:srgbClr val="44444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292637" y="87630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5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9525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66850" y="8772525"/>
              <a:ext cx="15830550" cy="57150"/>
            </a:xfrm>
            <a:custGeom>
              <a:avLst/>
              <a:gdLst/>
              <a:ahLst/>
              <a:cxnLst/>
              <a:rect l="l" t="t" r="r" b="b"/>
              <a:pathLst>
                <a:path w="15830550" h="57150">
                  <a:moveTo>
                    <a:pt x="0" y="0"/>
                  </a:moveTo>
                  <a:lnTo>
                    <a:pt x="15830550" y="0"/>
                  </a:lnTo>
                </a:path>
                <a:path w="15830550" h="57150">
                  <a:moveTo>
                    <a:pt x="0" y="57150"/>
                  </a:moveTo>
                  <a:lnTo>
                    <a:pt x="0" y="0"/>
                  </a:lnTo>
                </a:path>
                <a:path w="15830550" h="57150">
                  <a:moveTo>
                    <a:pt x="1758950" y="57150"/>
                  </a:moveTo>
                  <a:lnTo>
                    <a:pt x="175895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085901" y="8776731"/>
            <a:ext cx="28003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40" dirty="0">
                <a:solidFill>
                  <a:srgbClr val="CCCCCC"/>
                </a:solidFill>
                <a:latin typeface="Microsoft Sans Serif"/>
                <a:cs typeface="Microsoft Sans Serif"/>
              </a:rPr>
              <a:t>100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98475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829274" y="8776731"/>
            <a:ext cx="31115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200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74370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589613" y="8776731"/>
            <a:ext cx="30861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500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0265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346529" y="8776731"/>
            <a:ext cx="31242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800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261600" y="8772525"/>
            <a:ext cx="1758950" cy="57150"/>
          </a:xfrm>
          <a:custGeom>
            <a:avLst/>
            <a:gdLst/>
            <a:ahLst/>
            <a:cxnLst/>
            <a:rect l="l" t="t" r="r" b="b"/>
            <a:pathLst>
              <a:path w="1758950" h="57150">
                <a:moveTo>
                  <a:pt x="0" y="57150"/>
                </a:moveTo>
                <a:lnTo>
                  <a:pt x="0" y="0"/>
                </a:lnTo>
              </a:path>
              <a:path w="1758950" h="57150">
                <a:moveTo>
                  <a:pt x="1758950" y="57150"/>
                </a:moveTo>
                <a:lnTo>
                  <a:pt x="175895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1835507" y="8776731"/>
            <a:ext cx="37020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40" dirty="0">
                <a:solidFill>
                  <a:srgbClr val="CCCCCC"/>
                </a:solidFill>
                <a:latin typeface="Microsoft Sans Serif"/>
                <a:cs typeface="Microsoft Sans Serif"/>
              </a:rPr>
              <a:t>1500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77950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3576051" y="8776731"/>
            <a:ext cx="407034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0" dirty="0">
                <a:solidFill>
                  <a:srgbClr val="CCCCCC"/>
                </a:solidFill>
                <a:latin typeface="Microsoft Sans Serif"/>
                <a:cs typeface="Microsoft Sans Serif"/>
              </a:rPr>
              <a:t>2000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553845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5337879" y="8776731"/>
            <a:ext cx="40132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0" dirty="0">
                <a:solidFill>
                  <a:srgbClr val="CCCCCC"/>
                </a:solidFill>
                <a:latin typeface="Microsoft Sans Serif"/>
                <a:cs typeface="Microsoft Sans Serif"/>
              </a:rPr>
              <a:t>2500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7297400" y="8772525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7093307" y="8776731"/>
            <a:ext cx="40830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0" dirty="0">
                <a:solidFill>
                  <a:srgbClr val="CCCCCC"/>
                </a:solidFill>
                <a:latin typeface="Microsoft Sans Serif"/>
                <a:cs typeface="Microsoft Sans Serif"/>
              </a:rPr>
              <a:t>3000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49841" y="8759457"/>
            <a:ext cx="1799589" cy="492759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436370">
              <a:lnSpc>
                <a:spcPct val="100000"/>
              </a:lnSpc>
              <a:spcBef>
                <a:spcPts val="254"/>
              </a:spcBef>
            </a:pPr>
            <a:r>
              <a:rPr sz="1300" spc="-30" dirty="0">
                <a:solidFill>
                  <a:srgbClr val="CCCCCC"/>
                </a:solidFill>
                <a:latin typeface="Microsoft Sans Serif"/>
                <a:cs typeface="Microsoft Sans Serif"/>
              </a:rPr>
              <a:t>1000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Episodes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466850" y="4991100"/>
            <a:ext cx="0" cy="3781425"/>
          </a:xfrm>
          <a:custGeom>
            <a:avLst/>
            <a:gdLst/>
            <a:ahLst/>
            <a:cxnLst/>
            <a:rect l="l" t="t" r="r" b="b"/>
            <a:pathLst>
              <a:path h="3781425">
                <a:moveTo>
                  <a:pt x="0" y="0"/>
                </a:moveTo>
                <a:lnTo>
                  <a:pt x="0" y="378142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118989" y="8646358"/>
            <a:ext cx="408940" cy="3568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295"/>
              </a:lnSpc>
              <a:spcBef>
                <a:spcPts val="114"/>
              </a:spcBef>
            </a:pPr>
            <a:r>
              <a:rPr sz="1300" spc="114" dirty="0">
                <a:solidFill>
                  <a:srgbClr val="CCCCCC"/>
                </a:solidFill>
                <a:latin typeface="Microsoft Sans Serif"/>
                <a:cs typeface="Microsoft Sans Serif"/>
              </a:rPr>
              <a:t>-</a:t>
            </a: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45</a:t>
            </a:r>
            <a:endParaRPr sz="1300">
              <a:latin typeface="Microsoft Sans Serif"/>
              <a:cs typeface="Microsoft Sans Serif"/>
            </a:endParaRPr>
          </a:p>
          <a:p>
            <a:pPr marL="299720">
              <a:lnSpc>
                <a:spcPts val="1295"/>
              </a:lnSpc>
            </a:pPr>
            <a:r>
              <a:rPr sz="1300" spc="-50" dirty="0">
                <a:solidFill>
                  <a:srgbClr val="CCCCCC"/>
                </a:solidFill>
                <a:latin typeface="Microsoft Sans Serif"/>
                <a:cs typeface="Microsoft Sans Serif"/>
              </a:rPr>
              <a:t>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81807" y="7701002"/>
            <a:ext cx="12192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50" dirty="0">
                <a:solidFill>
                  <a:srgbClr val="CCCCCC"/>
                </a:solidFill>
                <a:latin typeface="Microsoft Sans Serif"/>
                <a:cs typeface="Microsoft Sans Serif"/>
              </a:rPr>
              <a:t>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89087" y="6755645"/>
            <a:ext cx="214629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45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87301" y="5810289"/>
            <a:ext cx="21653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25" dirty="0">
                <a:solidFill>
                  <a:srgbClr val="CCCCCC"/>
                </a:solidFill>
                <a:latin typeface="Microsoft Sans Serif"/>
                <a:cs typeface="Microsoft Sans Serif"/>
              </a:rPr>
              <a:t>90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409700" y="49911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0" y="0"/>
                </a:moveTo>
                <a:lnTo>
                  <a:pt x="5715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131341" y="4864933"/>
            <a:ext cx="27241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70" dirty="0">
                <a:solidFill>
                  <a:srgbClr val="CCCCCC"/>
                </a:solidFill>
                <a:latin typeface="Microsoft Sans Serif"/>
                <a:cs typeface="Microsoft Sans Serif"/>
              </a:rPr>
              <a:t>135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5120" y="4738628"/>
            <a:ext cx="217804" cy="21564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Average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Reward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sz="1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Episo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9700" y="5779029"/>
            <a:ext cx="15940087" cy="3045883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17059225" y="9621837"/>
            <a:ext cx="78486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300" spc="-80" dirty="0">
                <a:solidFill>
                  <a:srgbClr val="9CA2AF"/>
                </a:solidFill>
                <a:latin typeface="Microsoft Sans Serif"/>
                <a:cs typeface="Microsoft Sans Serif"/>
              </a:rPr>
              <a:t>11/25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7564755" cy="116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050"/>
              </a:lnSpc>
              <a:spcBef>
                <a:spcPts val="95"/>
              </a:spcBef>
            </a:pPr>
            <a:r>
              <a:rPr spc="-285" dirty="0"/>
              <a:t>Essential</a:t>
            </a:r>
            <a:r>
              <a:rPr spc="-325" dirty="0"/>
              <a:t> </a:t>
            </a:r>
            <a:r>
              <a:rPr spc="-245" dirty="0"/>
              <a:t>Vocabulary</a:t>
            </a:r>
            <a:r>
              <a:rPr spc="-325" dirty="0"/>
              <a:t> </a:t>
            </a:r>
            <a:r>
              <a:rPr spc="-240" dirty="0"/>
              <a:t>Part</a:t>
            </a:r>
            <a:r>
              <a:rPr spc="-325" dirty="0"/>
              <a:t> </a:t>
            </a:r>
            <a:r>
              <a:rPr sz="4900" spc="-50" dirty="0">
                <a:latin typeface="Tw Cen MT Condensed"/>
                <a:cs typeface="Tw Cen MT Condensed"/>
              </a:rPr>
              <a:t>1</a:t>
            </a:r>
            <a:endParaRPr sz="4900">
              <a:latin typeface="Tw Cen MT Condensed"/>
              <a:cs typeface="Tw Cen MT Condensed"/>
            </a:endParaRPr>
          </a:p>
          <a:p>
            <a:pPr marL="12700">
              <a:lnSpc>
                <a:spcPts val="2925"/>
              </a:lnSpc>
            </a:pPr>
            <a:r>
              <a:rPr sz="2500" b="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Understanding</a:t>
            </a:r>
            <a:r>
              <a:rPr sz="2500" b="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b="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Core</a:t>
            </a:r>
            <a:r>
              <a:rPr sz="2500" b="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Components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1600200"/>
            <a:ext cx="8534400" cy="3924300"/>
            <a:chOff x="457200" y="1600200"/>
            <a:chExt cx="8534400" cy="3924300"/>
          </a:xfrm>
        </p:grpSpPr>
        <p:sp>
          <p:nvSpPr>
            <p:cNvPr id="4" name="object 4"/>
            <p:cNvSpPr/>
            <p:nvPr/>
          </p:nvSpPr>
          <p:spPr>
            <a:xfrm>
              <a:off x="476249" y="16002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3" y="3924300"/>
                  </a:moveTo>
                  <a:lnTo>
                    <a:pt x="53397" y="3924300"/>
                  </a:lnTo>
                  <a:lnTo>
                    <a:pt x="49680" y="3923811"/>
                  </a:lnTo>
                  <a:lnTo>
                    <a:pt x="14085" y="3898442"/>
                  </a:lnTo>
                  <a:lnTo>
                    <a:pt x="366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3853103"/>
                  </a:lnTo>
                  <a:lnTo>
                    <a:pt x="8499727" y="3894593"/>
                  </a:lnTo>
                  <a:lnTo>
                    <a:pt x="8463687" y="3920413"/>
                  </a:lnTo>
                  <a:lnTo>
                    <a:pt x="8449108" y="3923811"/>
                  </a:lnTo>
                  <a:lnTo>
                    <a:pt x="8444153" y="3924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6004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7" y="3911191"/>
                  </a:lnTo>
                  <a:lnTo>
                    <a:pt x="5800" y="3876981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7" y="3922088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49" y="2114550"/>
              <a:ext cx="266700" cy="114300"/>
            </a:xfrm>
            <a:custGeom>
              <a:avLst/>
              <a:gdLst/>
              <a:ahLst/>
              <a:cxnLst/>
              <a:rect l="l" t="t" r="r" b="b"/>
              <a:pathLst>
                <a:path w="266700" h="114300">
                  <a:moveTo>
                    <a:pt x="266700" y="114300"/>
                  </a:moveTo>
                  <a:lnTo>
                    <a:pt x="266700" y="76200"/>
                  </a:lnTo>
                  <a:lnTo>
                    <a:pt x="266699" y="71196"/>
                  </a:lnTo>
                  <a:lnTo>
                    <a:pt x="266211" y="66241"/>
                  </a:lnTo>
                  <a:lnTo>
                    <a:pt x="265235" y="61334"/>
                  </a:lnTo>
                  <a:lnTo>
                    <a:pt x="264259" y="56426"/>
                  </a:lnTo>
                  <a:lnTo>
                    <a:pt x="262814" y="51661"/>
                  </a:lnTo>
                  <a:lnTo>
                    <a:pt x="260899" y="47039"/>
                  </a:lnTo>
                  <a:lnTo>
                    <a:pt x="258984" y="42416"/>
                  </a:lnTo>
                  <a:lnTo>
                    <a:pt x="256637" y="38025"/>
                  </a:lnTo>
                  <a:lnTo>
                    <a:pt x="253857" y="33865"/>
                  </a:lnTo>
                  <a:lnTo>
                    <a:pt x="251078" y="29705"/>
                  </a:lnTo>
                  <a:lnTo>
                    <a:pt x="219660" y="5800"/>
                  </a:lnTo>
                  <a:lnTo>
                    <a:pt x="205365" y="1464"/>
                  </a:lnTo>
                  <a:lnTo>
                    <a:pt x="200458" y="488"/>
                  </a:lnTo>
                  <a:lnTo>
                    <a:pt x="195503" y="0"/>
                  </a:lnTo>
                  <a:lnTo>
                    <a:pt x="190500" y="0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1" y="488"/>
                  </a:lnTo>
                  <a:lnTo>
                    <a:pt x="33865" y="12842"/>
                  </a:lnTo>
                  <a:lnTo>
                    <a:pt x="29705" y="15621"/>
                  </a:lnTo>
                  <a:lnTo>
                    <a:pt x="25856" y="18780"/>
                  </a:lnTo>
                  <a:lnTo>
                    <a:pt x="22318" y="22318"/>
                  </a:lnTo>
                  <a:lnTo>
                    <a:pt x="18780" y="25856"/>
                  </a:lnTo>
                  <a:lnTo>
                    <a:pt x="15621" y="29705"/>
                  </a:lnTo>
                  <a:lnTo>
                    <a:pt x="12842" y="33865"/>
                  </a:lnTo>
                  <a:lnTo>
                    <a:pt x="10062" y="38025"/>
                  </a:lnTo>
                  <a:lnTo>
                    <a:pt x="1464" y="61334"/>
                  </a:lnTo>
                  <a:lnTo>
                    <a:pt x="488" y="66241"/>
                  </a:lnTo>
                  <a:lnTo>
                    <a:pt x="0" y="71196"/>
                  </a:lnTo>
                  <a:lnTo>
                    <a:pt x="0" y="7620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49" y="1866900"/>
              <a:ext cx="190500" cy="190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1200" y="1595101"/>
            <a:ext cx="6578600" cy="2013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865"/>
              </a:spcBef>
            </a:pPr>
            <a:r>
              <a:rPr sz="4050" b="1" spc="-30" dirty="0">
                <a:solidFill>
                  <a:srgbClr val="FFFFFF"/>
                </a:solidFill>
                <a:latin typeface="Arial"/>
                <a:cs typeface="Arial"/>
              </a:rPr>
              <a:t>Agent</a:t>
            </a:r>
            <a:endParaRPr sz="4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learner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or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decision</a:t>
            </a:r>
            <a:r>
              <a:rPr sz="2600" spc="-60" dirty="0">
                <a:solidFill>
                  <a:srgbClr val="D0D5DA"/>
                </a:solidFill>
                <a:latin typeface="Verdana"/>
                <a:cs typeface="Verdana"/>
              </a:rPr>
              <a:t>-</a:t>
            </a:r>
            <a:r>
              <a:rPr sz="25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maker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that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takes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actions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spc="85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195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1950" spc="-6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AI</a:t>
            </a:r>
            <a:r>
              <a:rPr sz="1950" dirty="0">
                <a:solidFill>
                  <a:srgbClr val="FF6A34"/>
                </a:solidFill>
                <a:latin typeface="Microsoft Sans Serif"/>
                <a:cs typeface="Microsoft Sans Serif"/>
              </a:rPr>
              <a:t>-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controlled</a:t>
            </a:r>
            <a:r>
              <a:rPr sz="2000" spc="-8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racing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car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10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driver</a:t>
            </a:r>
            <a:r>
              <a:rPr sz="2050" i="1" spc="-9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in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45" dirty="0">
                <a:solidFill>
                  <a:srgbClr val="9CA2AF"/>
                </a:solidFill>
                <a:latin typeface="Arial"/>
                <a:cs typeface="Arial"/>
              </a:rPr>
              <a:t>a</a:t>
            </a:r>
            <a:r>
              <a:rPr sz="2050" i="1" spc="-6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real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20" dirty="0">
                <a:solidFill>
                  <a:srgbClr val="9CA2AF"/>
                </a:solidFill>
                <a:latin typeface="Arial"/>
                <a:cs typeface="Arial"/>
              </a:rPr>
              <a:t>race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296400" y="1600200"/>
            <a:ext cx="8534400" cy="3924300"/>
            <a:chOff x="9296400" y="1600200"/>
            <a:chExt cx="8534400" cy="3924300"/>
          </a:xfrm>
        </p:grpSpPr>
        <p:sp>
          <p:nvSpPr>
            <p:cNvPr id="10" name="object 10"/>
            <p:cNvSpPr/>
            <p:nvPr/>
          </p:nvSpPr>
          <p:spPr>
            <a:xfrm>
              <a:off x="9315449" y="16002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2" y="3924300"/>
                  </a:moveTo>
                  <a:lnTo>
                    <a:pt x="53397" y="3924300"/>
                  </a:lnTo>
                  <a:lnTo>
                    <a:pt x="49680" y="3923811"/>
                  </a:lnTo>
                  <a:lnTo>
                    <a:pt x="14084" y="3898442"/>
                  </a:lnTo>
                  <a:lnTo>
                    <a:pt x="365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1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3853103"/>
                  </a:lnTo>
                  <a:lnTo>
                    <a:pt x="8499727" y="3894593"/>
                  </a:lnTo>
                  <a:lnTo>
                    <a:pt x="8463686" y="3920413"/>
                  </a:lnTo>
                  <a:lnTo>
                    <a:pt x="8449106" y="3923811"/>
                  </a:lnTo>
                  <a:lnTo>
                    <a:pt x="8444152" y="3924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96400" y="16004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49" y="3923744"/>
                  </a:moveTo>
                  <a:lnTo>
                    <a:pt x="33856" y="3911191"/>
                  </a:lnTo>
                  <a:lnTo>
                    <a:pt x="5799" y="3876981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6" y="3922088"/>
                  </a:lnTo>
                  <a:lnTo>
                    <a:pt x="70449" y="39237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20245" y="1890445"/>
              <a:ext cx="343535" cy="334010"/>
            </a:xfrm>
            <a:custGeom>
              <a:avLst/>
              <a:gdLst/>
              <a:ahLst/>
              <a:cxnLst/>
              <a:rect l="l" t="t" r="r" b="b"/>
              <a:pathLst>
                <a:path w="343534" h="334010">
                  <a:moveTo>
                    <a:pt x="211573" y="44138"/>
                  </a:moveTo>
                  <a:lnTo>
                    <a:pt x="216934" y="46817"/>
                  </a:lnTo>
                  <a:lnTo>
                    <a:pt x="222611" y="48157"/>
                  </a:lnTo>
                  <a:lnTo>
                    <a:pt x="228604" y="48157"/>
                  </a:lnTo>
                  <a:lnTo>
                    <a:pt x="234596" y="48157"/>
                  </a:lnTo>
                  <a:lnTo>
                    <a:pt x="240273" y="46817"/>
                  </a:lnTo>
                  <a:lnTo>
                    <a:pt x="245634" y="44138"/>
                  </a:lnTo>
                  <a:lnTo>
                    <a:pt x="315338" y="9277"/>
                  </a:lnTo>
                  <a:lnTo>
                    <a:pt x="316791" y="8551"/>
                  </a:lnTo>
                  <a:lnTo>
                    <a:pt x="318313" y="8019"/>
                  </a:lnTo>
                  <a:lnTo>
                    <a:pt x="319902" y="7682"/>
                  </a:lnTo>
                  <a:lnTo>
                    <a:pt x="321491" y="7345"/>
                  </a:lnTo>
                  <a:lnTo>
                    <a:pt x="323097" y="7214"/>
                  </a:lnTo>
                  <a:lnTo>
                    <a:pt x="324720" y="7287"/>
                  </a:lnTo>
                  <a:lnTo>
                    <a:pt x="326343" y="7361"/>
                  </a:lnTo>
                  <a:lnTo>
                    <a:pt x="327931" y="7638"/>
                  </a:lnTo>
                  <a:lnTo>
                    <a:pt x="329483" y="8118"/>
                  </a:lnTo>
                  <a:lnTo>
                    <a:pt x="331035" y="8598"/>
                  </a:lnTo>
                  <a:lnTo>
                    <a:pt x="332501" y="9266"/>
                  </a:lnTo>
                  <a:lnTo>
                    <a:pt x="333883" y="10121"/>
                  </a:lnTo>
                  <a:lnTo>
                    <a:pt x="335264" y="10977"/>
                  </a:lnTo>
                  <a:lnTo>
                    <a:pt x="336515" y="11992"/>
                  </a:lnTo>
                  <a:lnTo>
                    <a:pt x="337637" y="13167"/>
                  </a:lnTo>
                  <a:lnTo>
                    <a:pt x="338758" y="14343"/>
                  </a:lnTo>
                  <a:lnTo>
                    <a:pt x="339714" y="15640"/>
                  </a:lnTo>
                  <a:lnTo>
                    <a:pt x="340503" y="17060"/>
                  </a:lnTo>
                  <a:lnTo>
                    <a:pt x="341292" y="18480"/>
                  </a:lnTo>
                  <a:lnTo>
                    <a:pt x="341891" y="19977"/>
                  </a:lnTo>
                  <a:lnTo>
                    <a:pt x="342297" y="21549"/>
                  </a:lnTo>
                  <a:lnTo>
                    <a:pt x="342704" y="23122"/>
                  </a:lnTo>
                  <a:lnTo>
                    <a:pt x="342906" y="24721"/>
                  </a:lnTo>
                  <a:lnTo>
                    <a:pt x="342904" y="26346"/>
                  </a:lnTo>
                  <a:lnTo>
                    <a:pt x="342904" y="269500"/>
                  </a:lnTo>
                  <a:lnTo>
                    <a:pt x="332369" y="286531"/>
                  </a:lnTo>
                  <a:lnTo>
                    <a:pt x="245634" y="329907"/>
                  </a:lnTo>
                  <a:lnTo>
                    <a:pt x="240273" y="332586"/>
                  </a:lnTo>
                  <a:lnTo>
                    <a:pt x="234596" y="333926"/>
                  </a:lnTo>
                  <a:lnTo>
                    <a:pt x="228604" y="333926"/>
                  </a:lnTo>
                  <a:lnTo>
                    <a:pt x="222611" y="333926"/>
                  </a:lnTo>
                  <a:lnTo>
                    <a:pt x="216934" y="332586"/>
                  </a:lnTo>
                  <a:lnTo>
                    <a:pt x="211573" y="329907"/>
                  </a:lnTo>
                  <a:lnTo>
                    <a:pt x="131334" y="289788"/>
                  </a:lnTo>
                  <a:lnTo>
                    <a:pt x="125973" y="287109"/>
                  </a:lnTo>
                  <a:lnTo>
                    <a:pt x="120296" y="285770"/>
                  </a:lnTo>
                  <a:lnTo>
                    <a:pt x="114304" y="285770"/>
                  </a:lnTo>
                  <a:lnTo>
                    <a:pt x="108311" y="285770"/>
                  </a:lnTo>
                  <a:lnTo>
                    <a:pt x="102634" y="287109"/>
                  </a:lnTo>
                  <a:lnTo>
                    <a:pt x="97273" y="289788"/>
                  </a:lnTo>
                  <a:lnTo>
                    <a:pt x="27569" y="324650"/>
                  </a:lnTo>
                  <a:lnTo>
                    <a:pt x="26115" y="325376"/>
                  </a:lnTo>
                  <a:lnTo>
                    <a:pt x="24593" y="325908"/>
                  </a:lnTo>
                  <a:lnTo>
                    <a:pt x="23003" y="326245"/>
                  </a:lnTo>
                  <a:lnTo>
                    <a:pt x="21413" y="326582"/>
                  </a:lnTo>
                  <a:lnTo>
                    <a:pt x="19806" y="326713"/>
                  </a:lnTo>
                  <a:lnTo>
                    <a:pt x="18182" y="326639"/>
                  </a:lnTo>
                  <a:lnTo>
                    <a:pt x="16558" y="326564"/>
                  </a:lnTo>
                  <a:lnTo>
                    <a:pt x="14970" y="326287"/>
                  </a:lnTo>
                  <a:lnTo>
                    <a:pt x="13418" y="325806"/>
                  </a:lnTo>
                  <a:lnTo>
                    <a:pt x="11865" y="325325"/>
                  </a:lnTo>
                  <a:lnTo>
                    <a:pt x="0" y="309187"/>
                  </a:lnTo>
                  <a:lnTo>
                    <a:pt x="4" y="307562"/>
                  </a:lnTo>
                  <a:lnTo>
                    <a:pt x="4" y="64427"/>
                  </a:lnTo>
                  <a:lnTo>
                    <a:pt x="10538" y="47396"/>
                  </a:lnTo>
                  <a:lnTo>
                    <a:pt x="97273" y="4019"/>
                  </a:lnTo>
                  <a:lnTo>
                    <a:pt x="102634" y="1340"/>
                  </a:lnTo>
                  <a:lnTo>
                    <a:pt x="108311" y="1"/>
                  </a:lnTo>
                  <a:lnTo>
                    <a:pt x="114304" y="1"/>
                  </a:lnTo>
                  <a:lnTo>
                    <a:pt x="120296" y="1"/>
                  </a:lnTo>
                  <a:lnTo>
                    <a:pt x="125973" y="1340"/>
                  </a:lnTo>
                  <a:lnTo>
                    <a:pt x="131334" y="4019"/>
                  </a:lnTo>
                  <a:lnTo>
                    <a:pt x="211573" y="44138"/>
                  </a:lnTo>
                  <a:close/>
                </a:path>
                <a:path w="343534" h="334010">
                  <a:moveTo>
                    <a:pt x="228604" y="48158"/>
                  </a:moveTo>
                  <a:lnTo>
                    <a:pt x="228604" y="333908"/>
                  </a:lnTo>
                </a:path>
                <a:path w="343534" h="334010">
                  <a:moveTo>
                    <a:pt x="114304" y="0"/>
                  </a:moveTo>
                  <a:lnTo>
                    <a:pt x="114304" y="285749"/>
                  </a:lnTo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60000" y="1691583"/>
            <a:ext cx="2815590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spc="-280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4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50400" y="2221925"/>
            <a:ext cx="7964805" cy="13868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world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interacts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spc="75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195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The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racing</a:t>
            </a:r>
            <a:r>
              <a:rPr sz="2000" spc="-9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track</a:t>
            </a:r>
            <a:r>
              <a:rPr sz="1950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195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physics</a:t>
            </a:r>
            <a:r>
              <a:rPr sz="2000" spc="-9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simulation</a:t>
            </a:r>
            <a:r>
              <a:rPr sz="195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and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track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boundaries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10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9CA2AF"/>
                </a:solidFill>
                <a:latin typeface="Arial"/>
                <a:cs typeface="Arial"/>
              </a:rPr>
              <a:t>race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9CA2AF"/>
                </a:solidFill>
                <a:latin typeface="Arial"/>
                <a:cs typeface="Arial"/>
              </a:rPr>
              <a:t>course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and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20" dirty="0">
                <a:solidFill>
                  <a:srgbClr val="9CA2AF"/>
                </a:solidFill>
                <a:latin typeface="Arial"/>
                <a:cs typeface="Arial"/>
              </a:rPr>
              <a:t>its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rules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5829300"/>
            <a:ext cx="8534400" cy="3924300"/>
            <a:chOff x="457200" y="5829300"/>
            <a:chExt cx="8534400" cy="3924300"/>
          </a:xfrm>
        </p:grpSpPr>
        <p:sp>
          <p:nvSpPr>
            <p:cNvPr id="16" name="object 16"/>
            <p:cNvSpPr/>
            <p:nvPr/>
          </p:nvSpPr>
          <p:spPr>
            <a:xfrm>
              <a:off x="476249" y="58293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3" y="3924299"/>
                  </a:moveTo>
                  <a:lnTo>
                    <a:pt x="53397" y="3924299"/>
                  </a:lnTo>
                  <a:lnTo>
                    <a:pt x="49680" y="3923810"/>
                  </a:lnTo>
                  <a:lnTo>
                    <a:pt x="14085" y="3898443"/>
                  </a:lnTo>
                  <a:lnTo>
                    <a:pt x="366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0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3853103"/>
                  </a:lnTo>
                  <a:lnTo>
                    <a:pt x="8499727" y="3894593"/>
                  </a:lnTo>
                  <a:lnTo>
                    <a:pt x="8463687" y="3920412"/>
                  </a:lnTo>
                  <a:lnTo>
                    <a:pt x="8449108" y="3923811"/>
                  </a:lnTo>
                  <a:lnTo>
                    <a:pt x="8444153" y="39242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58295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7" y="3911191"/>
                  </a:lnTo>
                  <a:lnTo>
                    <a:pt x="5800" y="3876982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7" y="3922087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1999" y="61341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238125" y="0"/>
                  </a:moveTo>
                  <a:lnTo>
                    <a:pt x="142875" y="0"/>
                  </a:lnTo>
                  <a:lnTo>
                    <a:pt x="95250" y="57150"/>
                  </a:lnTo>
                  <a:lnTo>
                    <a:pt x="38100" y="57150"/>
                  </a:lnTo>
                  <a:lnTo>
                    <a:pt x="33047" y="57150"/>
                  </a:lnTo>
                  <a:lnTo>
                    <a:pt x="28187" y="58116"/>
                  </a:lnTo>
                  <a:lnTo>
                    <a:pt x="23519" y="60050"/>
                  </a:lnTo>
                  <a:lnTo>
                    <a:pt x="18851" y="61983"/>
                  </a:lnTo>
                  <a:lnTo>
                    <a:pt x="14731" y="64736"/>
                  </a:lnTo>
                  <a:lnTo>
                    <a:pt x="11159" y="68309"/>
                  </a:lnTo>
                  <a:lnTo>
                    <a:pt x="7586" y="71881"/>
                  </a:lnTo>
                  <a:lnTo>
                    <a:pt x="4833" y="76001"/>
                  </a:lnTo>
                  <a:lnTo>
                    <a:pt x="2900" y="80669"/>
                  </a:lnTo>
                  <a:lnTo>
                    <a:pt x="966" y="85337"/>
                  </a:lnTo>
                  <a:lnTo>
                    <a:pt x="0" y="90197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0" y="271752"/>
                  </a:lnTo>
                  <a:lnTo>
                    <a:pt x="966" y="276612"/>
                  </a:lnTo>
                  <a:lnTo>
                    <a:pt x="2900" y="281280"/>
                  </a:lnTo>
                  <a:lnTo>
                    <a:pt x="4833" y="285948"/>
                  </a:lnTo>
                  <a:lnTo>
                    <a:pt x="38100" y="304800"/>
                  </a:lnTo>
                  <a:lnTo>
                    <a:pt x="342900" y="304800"/>
                  </a:lnTo>
                  <a:lnTo>
                    <a:pt x="376166" y="285948"/>
                  </a:lnTo>
                  <a:lnTo>
                    <a:pt x="378099" y="281280"/>
                  </a:lnTo>
                  <a:lnTo>
                    <a:pt x="380033" y="276612"/>
                  </a:lnTo>
                  <a:lnTo>
                    <a:pt x="380999" y="271752"/>
                  </a:lnTo>
                  <a:lnTo>
                    <a:pt x="381000" y="266700"/>
                  </a:lnTo>
                  <a:lnTo>
                    <a:pt x="381000" y="95250"/>
                  </a:lnTo>
                  <a:lnTo>
                    <a:pt x="380999" y="90197"/>
                  </a:lnTo>
                  <a:lnTo>
                    <a:pt x="380033" y="85337"/>
                  </a:lnTo>
                  <a:lnTo>
                    <a:pt x="378099" y="80669"/>
                  </a:lnTo>
                  <a:lnTo>
                    <a:pt x="376166" y="76001"/>
                  </a:lnTo>
                  <a:lnTo>
                    <a:pt x="373413" y="71881"/>
                  </a:lnTo>
                  <a:lnTo>
                    <a:pt x="369840" y="68309"/>
                  </a:lnTo>
                  <a:lnTo>
                    <a:pt x="366268" y="64736"/>
                  </a:lnTo>
                  <a:lnTo>
                    <a:pt x="362148" y="61983"/>
                  </a:lnTo>
                  <a:lnTo>
                    <a:pt x="357480" y="60050"/>
                  </a:lnTo>
                  <a:lnTo>
                    <a:pt x="352812" y="58116"/>
                  </a:lnTo>
                  <a:lnTo>
                    <a:pt x="347952" y="57150"/>
                  </a:lnTo>
                  <a:lnTo>
                    <a:pt x="342900" y="57150"/>
                  </a:lnTo>
                  <a:lnTo>
                    <a:pt x="285750" y="57150"/>
                  </a:lnTo>
                  <a:lnTo>
                    <a:pt x="238125" y="0"/>
                  </a:lnTo>
                  <a:close/>
                </a:path>
              </a:pathLst>
            </a:custGeom>
            <a:ln w="381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299" y="6229350"/>
              <a:ext cx="152400" cy="1524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60400" y="5801113"/>
            <a:ext cx="7843520" cy="23418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45"/>
              </a:spcBef>
            </a:pPr>
            <a:r>
              <a:rPr sz="4050" b="1" spc="-1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4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90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current</a:t>
            </a:r>
            <a:r>
              <a:rPr sz="25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situation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or</a:t>
            </a:r>
            <a:r>
              <a:rPr sz="25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observations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perceives</a:t>
            </a:r>
            <a:endParaRPr sz="2500">
              <a:latin typeface="Microsoft Sans Serif"/>
              <a:cs typeface="Microsoft Sans Serif"/>
            </a:endParaRPr>
          </a:p>
          <a:p>
            <a:pPr marL="368300" marR="200660" indent="-304800">
              <a:lnSpc>
                <a:spcPct val="100000"/>
              </a:lnSpc>
              <a:spcBef>
                <a:spcPts val="1025"/>
              </a:spcBef>
            </a:pPr>
            <a:r>
              <a:rPr sz="270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2700" spc="89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9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195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FF6A34"/>
                </a:solidFill>
                <a:latin typeface="Microsoft Sans Serif"/>
                <a:cs typeface="Microsoft Sans Serif"/>
              </a:rPr>
              <a:t>Car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position</a:t>
            </a:r>
            <a:r>
              <a:rPr sz="195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velocity</a:t>
            </a:r>
            <a:r>
              <a:rPr sz="195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distance</a:t>
            </a:r>
            <a:r>
              <a:rPr sz="2000" spc="-9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to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track</a:t>
            </a:r>
            <a:r>
              <a:rPr sz="200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edges</a:t>
            </a:r>
            <a:r>
              <a:rPr sz="195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steering angle</a:t>
            </a:r>
            <a:endParaRPr sz="20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55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9CA2AF"/>
                </a:solidFill>
                <a:latin typeface="Arial"/>
                <a:cs typeface="Arial"/>
              </a:rPr>
              <a:t>what</a:t>
            </a:r>
            <a:r>
              <a:rPr sz="2050" i="1" spc="-9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driver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90" dirty="0">
                <a:solidFill>
                  <a:srgbClr val="9CA2AF"/>
                </a:solidFill>
                <a:latin typeface="Arial"/>
                <a:cs typeface="Arial"/>
              </a:rPr>
              <a:t>sees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and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feels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296400" y="5829300"/>
            <a:ext cx="8534400" cy="3924300"/>
            <a:chOff x="9296400" y="5829300"/>
            <a:chExt cx="8534400" cy="3924300"/>
          </a:xfrm>
        </p:grpSpPr>
        <p:sp>
          <p:nvSpPr>
            <p:cNvPr id="22" name="object 22"/>
            <p:cNvSpPr/>
            <p:nvPr/>
          </p:nvSpPr>
          <p:spPr>
            <a:xfrm>
              <a:off x="9315449" y="58293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2" y="3924299"/>
                  </a:moveTo>
                  <a:lnTo>
                    <a:pt x="53397" y="3924299"/>
                  </a:lnTo>
                  <a:lnTo>
                    <a:pt x="49680" y="3923810"/>
                  </a:lnTo>
                  <a:lnTo>
                    <a:pt x="14084" y="3898443"/>
                  </a:lnTo>
                  <a:lnTo>
                    <a:pt x="365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0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3853103"/>
                  </a:lnTo>
                  <a:lnTo>
                    <a:pt x="8499727" y="3894593"/>
                  </a:lnTo>
                  <a:lnTo>
                    <a:pt x="8463686" y="3920412"/>
                  </a:lnTo>
                  <a:lnTo>
                    <a:pt x="8449106" y="3923811"/>
                  </a:lnTo>
                  <a:lnTo>
                    <a:pt x="8444152" y="39242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96400" y="58295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6" y="3911191"/>
                  </a:lnTo>
                  <a:lnTo>
                    <a:pt x="5799" y="3876982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6" y="3922087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19884" y="6095704"/>
              <a:ext cx="344170" cy="381635"/>
            </a:xfrm>
            <a:custGeom>
              <a:avLst/>
              <a:gdLst/>
              <a:ahLst/>
              <a:cxnLst/>
              <a:rect l="l" t="t" r="r" b="b"/>
              <a:pathLst>
                <a:path w="344170" h="381635">
                  <a:moveTo>
                    <a:pt x="19415" y="228895"/>
                  </a:moveTo>
                  <a:lnTo>
                    <a:pt x="15736" y="228907"/>
                  </a:lnTo>
                  <a:lnTo>
                    <a:pt x="12338" y="227936"/>
                  </a:lnTo>
                  <a:lnTo>
                    <a:pt x="9222" y="225980"/>
                  </a:lnTo>
                  <a:lnTo>
                    <a:pt x="6106" y="224024"/>
                  </a:lnTo>
                  <a:lnTo>
                    <a:pt x="3754" y="221387"/>
                  </a:lnTo>
                  <a:lnTo>
                    <a:pt x="2166" y="218068"/>
                  </a:lnTo>
                  <a:lnTo>
                    <a:pt x="578" y="214749"/>
                  </a:lnTo>
                  <a:lnTo>
                    <a:pt x="0" y="211263"/>
                  </a:lnTo>
                  <a:lnTo>
                    <a:pt x="431" y="207609"/>
                  </a:lnTo>
                  <a:lnTo>
                    <a:pt x="863" y="203956"/>
                  </a:lnTo>
                  <a:lnTo>
                    <a:pt x="2238" y="200700"/>
                  </a:lnTo>
                  <a:lnTo>
                    <a:pt x="4556" y="197843"/>
                  </a:lnTo>
                  <a:lnTo>
                    <a:pt x="193151" y="3533"/>
                  </a:lnTo>
                  <a:lnTo>
                    <a:pt x="194607" y="1852"/>
                  </a:lnTo>
                  <a:lnTo>
                    <a:pt x="196430" y="809"/>
                  </a:lnTo>
                  <a:lnTo>
                    <a:pt x="198618" y="404"/>
                  </a:lnTo>
                  <a:lnTo>
                    <a:pt x="200805" y="0"/>
                  </a:lnTo>
                  <a:lnTo>
                    <a:pt x="202880" y="322"/>
                  </a:lnTo>
                  <a:lnTo>
                    <a:pt x="204842" y="1371"/>
                  </a:lnTo>
                  <a:lnTo>
                    <a:pt x="206804" y="2421"/>
                  </a:lnTo>
                  <a:lnTo>
                    <a:pt x="208224" y="3968"/>
                  </a:lnTo>
                  <a:lnTo>
                    <a:pt x="209102" y="6012"/>
                  </a:lnTo>
                  <a:lnTo>
                    <a:pt x="209980" y="8056"/>
                  </a:lnTo>
                  <a:lnTo>
                    <a:pt x="210124" y="10151"/>
                  </a:lnTo>
                  <a:lnTo>
                    <a:pt x="209534" y="12296"/>
                  </a:lnTo>
                  <a:lnTo>
                    <a:pt x="172958" y="126977"/>
                  </a:lnTo>
                  <a:lnTo>
                    <a:pt x="172418" y="128421"/>
                  </a:lnTo>
                  <a:lnTo>
                    <a:pt x="172059" y="129907"/>
                  </a:lnTo>
                  <a:lnTo>
                    <a:pt x="171881" y="131438"/>
                  </a:lnTo>
                  <a:lnTo>
                    <a:pt x="171702" y="132968"/>
                  </a:lnTo>
                  <a:lnTo>
                    <a:pt x="171709" y="134498"/>
                  </a:lnTo>
                  <a:lnTo>
                    <a:pt x="171902" y="136026"/>
                  </a:lnTo>
                  <a:lnTo>
                    <a:pt x="172095" y="137555"/>
                  </a:lnTo>
                  <a:lnTo>
                    <a:pt x="172467" y="139038"/>
                  </a:lnTo>
                  <a:lnTo>
                    <a:pt x="173020" y="140477"/>
                  </a:lnTo>
                  <a:lnTo>
                    <a:pt x="173572" y="141915"/>
                  </a:lnTo>
                  <a:lnTo>
                    <a:pt x="174289" y="143266"/>
                  </a:lnTo>
                  <a:lnTo>
                    <a:pt x="175169" y="144531"/>
                  </a:lnTo>
                  <a:lnTo>
                    <a:pt x="176049" y="145795"/>
                  </a:lnTo>
                  <a:lnTo>
                    <a:pt x="177068" y="146936"/>
                  </a:lnTo>
                  <a:lnTo>
                    <a:pt x="178225" y="147953"/>
                  </a:lnTo>
                  <a:lnTo>
                    <a:pt x="179383" y="148970"/>
                  </a:lnTo>
                  <a:lnTo>
                    <a:pt x="180645" y="149834"/>
                  </a:lnTo>
                  <a:lnTo>
                    <a:pt x="189324" y="152700"/>
                  </a:lnTo>
                  <a:lnTo>
                    <a:pt x="190865" y="152695"/>
                  </a:lnTo>
                  <a:lnTo>
                    <a:pt x="324215" y="152695"/>
                  </a:lnTo>
                  <a:lnTo>
                    <a:pt x="341463" y="163522"/>
                  </a:lnTo>
                  <a:lnTo>
                    <a:pt x="343051" y="166840"/>
                  </a:lnTo>
                  <a:lnTo>
                    <a:pt x="343630" y="170327"/>
                  </a:lnTo>
                  <a:lnTo>
                    <a:pt x="343198" y="173980"/>
                  </a:lnTo>
                  <a:lnTo>
                    <a:pt x="342766" y="177634"/>
                  </a:lnTo>
                  <a:lnTo>
                    <a:pt x="341391" y="180889"/>
                  </a:lnTo>
                  <a:lnTo>
                    <a:pt x="339074" y="183746"/>
                  </a:lnTo>
                  <a:lnTo>
                    <a:pt x="150479" y="378056"/>
                  </a:lnTo>
                  <a:lnTo>
                    <a:pt x="149022" y="379738"/>
                  </a:lnTo>
                  <a:lnTo>
                    <a:pt x="147199" y="380781"/>
                  </a:lnTo>
                  <a:lnTo>
                    <a:pt x="145012" y="381186"/>
                  </a:lnTo>
                  <a:lnTo>
                    <a:pt x="142824" y="381590"/>
                  </a:lnTo>
                  <a:lnTo>
                    <a:pt x="140749" y="381268"/>
                  </a:lnTo>
                  <a:lnTo>
                    <a:pt x="138787" y="380218"/>
                  </a:lnTo>
                  <a:lnTo>
                    <a:pt x="136825" y="379169"/>
                  </a:lnTo>
                  <a:lnTo>
                    <a:pt x="135405" y="377622"/>
                  </a:lnTo>
                  <a:lnTo>
                    <a:pt x="134527" y="375578"/>
                  </a:lnTo>
                  <a:lnTo>
                    <a:pt x="133649" y="373533"/>
                  </a:lnTo>
                  <a:lnTo>
                    <a:pt x="133506" y="371439"/>
                  </a:lnTo>
                  <a:lnTo>
                    <a:pt x="134096" y="369293"/>
                  </a:lnTo>
                  <a:lnTo>
                    <a:pt x="170672" y="254612"/>
                  </a:lnTo>
                  <a:lnTo>
                    <a:pt x="171211" y="253169"/>
                  </a:lnTo>
                  <a:lnTo>
                    <a:pt x="171570" y="251682"/>
                  </a:lnTo>
                  <a:lnTo>
                    <a:pt x="171748" y="250152"/>
                  </a:lnTo>
                  <a:lnTo>
                    <a:pt x="171927" y="248622"/>
                  </a:lnTo>
                  <a:lnTo>
                    <a:pt x="171920" y="247092"/>
                  </a:lnTo>
                  <a:lnTo>
                    <a:pt x="171727" y="245564"/>
                  </a:lnTo>
                  <a:lnTo>
                    <a:pt x="171535" y="244035"/>
                  </a:lnTo>
                  <a:lnTo>
                    <a:pt x="171162" y="242551"/>
                  </a:lnTo>
                  <a:lnTo>
                    <a:pt x="170609" y="241113"/>
                  </a:lnTo>
                  <a:lnTo>
                    <a:pt x="170057" y="239675"/>
                  </a:lnTo>
                  <a:lnTo>
                    <a:pt x="169340" y="238324"/>
                  </a:lnTo>
                  <a:lnTo>
                    <a:pt x="168460" y="237059"/>
                  </a:lnTo>
                  <a:lnTo>
                    <a:pt x="167580" y="235795"/>
                  </a:lnTo>
                  <a:lnTo>
                    <a:pt x="157321" y="229433"/>
                  </a:lnTo>
                  <a:lnTo>
                    <a:pt x="155824" y="229069"/>
                  </a:lnTo>
                  <a:lnTo>
                    <a:pt x="154305" y="228890"/>
                  </a:lnTo>
                  <a:lnTo>
                    <a:pt x="152765" y="228895"/>
                  </a:lnTo>
                  <a:lnTo>
                    <a:pt x="19415" y="228895"/>
                  </a:lnTo>
                  <a:close/>
                </a:path>
              </a:pathLst>
            </a:custGeom>
            <a:ln w="381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550400" y="5801113"/>
            <a:ext cx="6525895" cy="20370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45"/>
              </a:spcBef>
            </a:pPr>
            <a:r>
              <a:rPr sz="4050" b="1" spc="-70" dirty="0">
                <a:solidFill>
                  <a:srgbClr val="FFFFFF"/>
                </a:solidFill>
                <a:latin typeface="Arial"/>
                <a:cs typeface="Arial"/>
              </a:rPr>
              <a:t>Action</a:t>
            </a:r>
            <a:endParaRPr sz="4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A</a:t>
            </a:r>
            <a:r>
              <a:rPr sz="2500" spc="-1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decision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or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move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can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make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spc="70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6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195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1950" spc="-5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Steering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angle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6A34"/>
                </a:solidFill>
                <a:latin typeface="Microsoft Sans Serif"/>
                <a:cs typeface="Microsoft Sans Serif"/>
              </a:rPr>
              <a:t>(-</a:t>
            </a:r>
            <a:r>
              <a:rPr sz="1950" spc="-360" dirty="0">
                <a:solidFill>
                  <a:srgbClr val="FF6A34"/>
                </a:solidFill>
                <a:latin typeface="Microsoft Sans Serif"/>
                <a:cs typeface="Microsoft Sans Serif"/>
              </a:rPr>
              <a:t>1</a:t>
            </a:r>
            <a:r>
              <a:rPr sz="1950" spc="-1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to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19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+1),</a:t>
            </a:r>
            <a:r>
              <a:rPr sz="1950" spc="-5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Acceleration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6A34"/>
                </a:solidFill>
                <a:latin typeface="Microsoft Sans Serif"/>
                <a:cs typeface="Microsoft Sans Serif"/>
              </a:rPr>
              <a:t>(0</a:t>
            </a:r>
            <a:r>
              <a:rPr sz="1950" spc="-5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to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1)</a:t>
            </a: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9CA2AF"/>
                </a:solidFill>
                <a:latin typeface="Arial"/>
                <a:cs typeface="Arial"/>
              </a:rPr>
              <a:t>turning</a:t>
            </a:r>
            <a:r>
              <a:rPr sz="2050" i="1" spc="-11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9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9CA2AF"/>
                </a:solidFill>
                <a:latin typeface="Arial"/>
                <a:cs typeface="Arial"/>
              </a:rPr>
              <a:t>wheel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9CA2AF"/>
                </a:solidFill>
                <a:latin typeface="Arial"/>
                <a:cs typeface="Arial"/>
              </a:rPr>
              <a:t>or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9CA2AF"/>
                </a:solidFill>
                <a:latin typeface="Arial"/>
                <a:cs typeface="Arial"/>
              </a:rPr>
              <a:t>pressing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gas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pedal</a:t>
            </a:r>
            <a:endParaRPr sz="2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028269" y="9926637"/>
            <a:ext cx="81534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12</a:t>
            </a:fld>
            <a:r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7678420" cy="116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050"/>
              </a:lnSpc>
              <a:spcBef>
                <a:spcPts val="95"/>
              </a:spcBef>
            </a:pPr>
            <a:r>
              <a:rPr spc="-285" dirty="0">
                <a:solidFill>
                  <a:srgbClr val="00BEFF"/>
                </a:solidFill>
              </a:rPr>
              <a:t>Essential</a:t>
            </a:r>
            <a:r>
              <a:rPr spc="-325" dirty="0">
                <a:solidFill>
                  <a:srgbClr val="00BEFF"/>
                </a:solidFill>
              </a:rPr>
              <a:t> </a:t>
            </a:r>
            <a:r>
              <a:rPr spc="-245" dirty="0">
                <a:solidFill>
                  <a:srgbClr val="00BEFF"/>
                </a:solidFill>
              </a:rPr>
              <a:t>Vocabulary</a:t>
            </a:r>
            <a:r>
              <a:rPr spc="-325" dirty="0">
                <a:solidFill>
                  <a:srgbClr val="00BEFF"/>
                </a:solidFill>
              </a:rPr>
              <a:t> </a:t>
            </a:r>
            <a:r>
              <a:rPr spc="-240" dirty="0">
                <a:solidFill>
                  <a:srgbClr val="00BEFF"/>
                </a:solidFill>
              </a:rPr>
              <a:t>Part</a:t>
            </a:r>
            <a:r>
              <a:rPr spc="-325" dirty="0">
                <a:solidFill>
                  <a:srgbClr val="00BEFF"/>
                </a:solidFill>
              </a:rPr>
              <a:t> </a:t>
            </a:r>
            <a:r>
              <a:rPr sz="4950" spc="-400" dirty="0">
                <a:solidFill>
                  <a:srgbClr val="00BEFF"/>
                </a:solidFill>
                <a:latin typeface="Lucida Sans"/>
                <a:cs typeface="Lucida Sans"/>
              </a:rPr>
              <a:t>2</a:t>
            </a:r>
            <a:endParaRPr sz="4950">
              <a:latin typeface="Lucida Sans"/>
              <a:cs typeface="Lucida Sans"/>
            </a:endParaRPr>
          </a:p>
          <a:p>
            <a:pPr marL="12700">
              <a:lnSpc>
                <a:spcPts val="2925"/>
              </a:lnSpc>
            </a:pPr>
            <a:r>
              <a:rPr sz="2500" b="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Understanding</a:t>
            </a:r>
            <a:r>
              <a:rPr sz="2500" b="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Feedback</a:t>
            </a:r>
            <a:r>
              <a:rPr sz="2500" b="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500" b="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1600200"/>
            <a:ext cx="8534400" cy="3924300"/>
            <a:chOff x="457200" y="1600200"/>
            <a:chExt cx="8534400" cy="3924300"/>
          </a:xfrm>
        </p:grpSpPr>
        <p:sp>
          <p:nvSpPr>
            <p:cNvPr id="4" name="object 4"/>
            <p:cNvSpPr/>
            <p:nvPr/>
          </p:nvSpPr>
          <p:spPr>
            <a:xfrm>
              <a:off x="476249" y="16002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3" y="3924300"/>
                  </a:moveTo>
                  <a:lnTo>
                    <a:pt x="53397" y="3924300"/>
                  </a:lnTo>
                  <a:lnTo>
                    <a:pt x="49680" y="3923811"/>
                  </a:lnTo>
                  <a:lnTo>
                    <a:pt x="14085" y="3898442"/>
                  </a:lnTo>
                  <a:lnTo>
                    <a:pt x="366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3853103"/>
                  </a:lnTo>
                  <a:lnTo>
                    <a:pt x="8499727" y="3894593"/>
                  </a:lnTo>
                  <a:lnTo>
                    <a:pt x="8463687" y="3920413"/>
                  </a:lnTo>
                  <a:lnTo>
                    <a:pt x="8449108" y="3923811"/>
                  </a:lnTo>
                  <a:lnTo>
                    <a:pt x="8444153" y="3924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6004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7" y="3911191"/>
                  </a:lnTo>
                  <a:lnTo>
                    <a:pt x="5800" y="3876981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7" y="3922088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649" y="2055304"/>
              <a:ext cx="229732" cy="212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8199" y="18669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lnTo>
                    <a:pt x="228599" y="121805"/>
                  </a:lnTo>
                  <a:lnTo>
                    <a:pt x="227867" y="129237"/>
                  </a:lnTo>
                  <a:lnTo>
                    <a:pt x="226403" y="136598"/>
                  </a:lnTo>
                  <a:lnTo>
                    <a:pt x="224939" y="143959"/>
                  </a:lnTo>
                  <a:lnTo>
                    <a:pt x="209336" y="177801"/>
                  </a:lnTo>
                  <a:lnTo>
                    <a:pt x="205167" y="184041"/>
                  </a:lnTo>
                  <a:lnTo>
                    <a:pt x="177801" y="209336"/>
                  </a:lnTo>
                  <a:lnTo>
                    <a:pt x="171561" y="213506"/>
                  </a:lnTo>
                  <a:lnTo>
                    <a:pt x="136598" y="226403"/>
                  </a:lnTo>
                  <a:lnTo>
                    <a:pt x="129237" y="227867"/>
                  </a:lnTo>
                  <a:lnTo>
                    <a:pt x="121805" y="228599"/>
                  </a:lnTo>
                  <a:lnTo>
                    <a:pt x="114300" y="228600"/>
                  </a:lnTo>
                  <a:lnTo>
                    <a:pt x="106794" y="228599"/>
                  </a:lnTo>
                  <a:lnTo>
                    <a:pt x="99362" y="227867"/>
                  </a:lnTo>
                  <a:lnTo>
                    <a:pt x="92001" y="226403"/>
                  </a:lnTo>
                  <a:lnTo>
                    <a:pt x="84640" y="224939"/>
                  </a:lnTo>
                  <a:lnTo>
                    <a:pt x="50798" y="209336"/>
                  </a:lnTo>
                  <a:lnTo>
                    <a:pt x="44558" y="205167"/>
                  </a:lnTo>
                  <a:lnTo>
                    <a:pt x="15093" y="171561"/>
                  </a:lnTo>
                  <a:lnTo>
                    <a:pt x="732" y="129237"/>
                  </a:lnTo>
                  <a:lnTo>
                    <a:pt x="0" y="121805"/>
                  </a:lnTo>
                  <a:lnTo>
                    <a:pt x="0" y="114300"/>
                  </a:lnTo>
                  <a:lnTo>
                    <a:pt x="0" y="106794"/>
                  </a:lnTo>
                  <a:lnTo>
                    <a:pt x="732" y="99361"/>
                  </a:lnTo>
                  <a:lnTo>
                    <a:pt x="2196" y="92001"/>
                  </a:lnTo>
                  <a:lnTo>
                    <a:pt x="3660" y="84640"/>
                  </a:lnTo>
                  <a:lnTo>
                    <a:pt x="23432" y="44558"/>
                  </a:lnTo>
                  <a:lnTo>
                    <a:pt x="33477" y="33477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114300" y="0"/>
                  </a:lnTo>
                  <a:lnTo>
                    <a:pt x="121805" y="0"/>
                  </a:lnTo>
                  <a:lnTo>
                    <a:pt x="129237" y="732"/>
                  </a:lnTo>
                  <a:lnTo>
                    <a:pt x="136598" y="2196"/>
                  </a:lnTo>
                  <a:lnTo>
                    <a:pt x="143959" y="3660"/>
                  </a:lnTo>
                  <a:lnTo>
                    <a:pt x="184041" y="23432"/>
                  </a:lnTo>
                  <a:lnTo>
                    <a:pt x="209336" y="50798"/>
                  </a:lnTo>
                  <a:lnTo>
                    <a:pt x="213506" y="57038"/>
                  </a:lnTo>
                  <a:lnTo>
                    <a:pt x="226403" y="92001"/>
                  </a:lnTo>
                  <a:lnTo>
                    <a:pt x="227867" y="99361"/>
                  </a:lnTo>
                  <a:lnTo>
                    <a:pt x="228599" y="106794"/>
                  </a:lnTo>
                  <a:lnTo>
                    <a:pt x="228600" y="114300"/>
                  </a:lnTo>
                  <a:close/>
                </a:path>
              </a:pathLst>
            </a:custGeom>
            <a:ln w="3809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0400" y="1572013"/>
            <a:ext cx="8020050" cy="26847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45"/>
              </a:spcBef>
            </a:pPr>
            <a:r>
              <a:rPr sz="4050" b="1" spc="-290" dirty="0">
                <a:solidFill>
                  <a:srgbClr val="FFFFFF"/>
                </a:solidFill>
                <a:latin typeface="Arial"/>
                <a:cs typeface="Arial"/>
              </a:rPr>
              <a:t>Reward</a:t>
            </a:r>
            <a:endParaRPr sz="4050">
              <a:latin typeface="Arial"/>
              <a:cs typeface="Arial"/>
            </a:endParaRPr>
          </a:p>
          <a:p>
            <a:pPr marL="63500" marR="219075">
              <a:lnSpc>
                <a:spcPts val="2700"/>
              </a:lnSpc>
              <a:spcBef>
                <a:spcPts val="930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Numerical</a:t>
            </a:r>
            <a:r>
              <a:rPr sz="25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feedback</a:t>
            </a:r>
            <a:r>
              <a:rPr sz="2500" spc="-1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signal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indicating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how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good</a:t>
            </a:r>
            <a:r>
              <a:rPr sz="25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an</a:t>
            </a:r>
            <a:r>
              <a:rPr sz="25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 </a:t>
            </a:r>
            <a:r>
              <a:rPr sz="2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was</a:t>
            </a:r>
            <a:endParaRPr sz="2500">
              <a:latin typeface="Microsoft Sans Serif"/>
              <a:cs typeface="Microsoft Sans Serif"/>
            </a:endParaRPr>
          </a:p>
          <a:p>
            <a:pPr marL="368300" marR="30480" indent="-304800">
              <a:lnSpc>
                <a:spcPts val="2400"/>
              </a:lnSpc>
              <a:spcBef>
                <a:spcPts val="1065"/>
              </a:spcBef>
            </a:pPr>
            <a:r>
              <a:rPr sz="270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2700" spc="127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205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2050" spc="-9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Positive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for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staying</a:t>
            </a:r>
            <a:r>
              <a:rPr sz="2000" spc="-8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track</a:t>
            </a:r>
            <a:r>
              <a:rPr sz="2000" spc="-8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and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moving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forward</a:t>
            </a:r>
            <a:r>
              <a:rPr sz="205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,</a:t>
            </a:r>
            <a:r>
              <a:rPr sz="2050" spc="-9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negative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for</a:t>
            </a:r>
            <a:r>
              <a:rPr sz="2000" spc="-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crashes</a:t>
            </a:r>
            <a:endParaRPr sz="20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47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45" dirty="0">
                <a:solidFill>
                  <a:srgbClr val="9CA2AF"/>
                </a:solidFill>
                <a:latin typeface="Arial"/>
                <a:cs typeface="Arial"/>
              </a:rPr>
              <a:t>a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9CA2AF"/>
                </a:solidFill>
                <a:latin typeface="Arial"/>
                <a:cs typeface="Arial"/>
              </a:rPr>
              <a:t>score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9CA2AF"/>
                </a:solidFill>
                <a:latin typeface="Arial"/>
                <a:cs typeface="Arial"/>
              </a:rPr>
              <a:t>that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5" dirty="0">
                <a:solidFill>
                  <a:srgbClr val="9CA2AF"/>
                </a:solidFill>
                <a:latin typeface="Arial"/>
                <a:cs typeface="Arial"/>
              </a:rPr>
              <a:t>tells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driver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9CA2AF"/>
                </a:solidFill>
                <a:latin typeface="Arial"/>
                <a:cs typeface="Arial"/>
              </a:rPr>
              <a:t>if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20" dirty="0">
                <a:solidFill>
                  <a:srgbClr val="9CA2AF"/>
                </a:solidFill>
                <a:latin typeface="Arial"/>
                <a:cs typeface="Arial"/>
              </a:rPr>
              <a:t>they</a:t>
            </a:r>
            <a:r>
              <a:rPr sz="2000" i="1" spc="-20" dirty="0">
                <a:solidFill>
                  <a:srgbClr val="9CA2AF"/>
                </a:solidFill>
                <a:latin typeface="Arial"/>
                <a:cs typeface="Arial"/>
              </a:rPr>
              <a:t>'</a:t>
            </a:r>
            <a:r>
              <a:rPr sz="2050" i="1" spc="-20" dirty="0">
                <a:solidFill>
                  <a:srgbClr val="9CA2AF"/>
                </a:solidFill>
                <a:latin typeface="Arial"/>
                <a:cs typeface="Arial"/>
              </a:rPr>
              <a:t>re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5" dirty="0">
                <a:solidFill>
                  <a:srgbClr val="9CA2AF"/>
                </a:solidFill>
                <a:latin typeface="Arial"/>
                <a:cs typeface="Arial"/>
              </a:rPr>
              <a:t>doing</a:t>
            </a:r>
            <a:r>
              <a:rPr sz="2050" i="1" spc="-7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20" dirty="0">
                <a:solidFill>
                  <a:srgbClr val="9CA2AF"/>
                </a:solidFill>
                <a:latin typeface="Arial"/>
                <a:cs typeface="Arial"/>
              </a:rPr>
              <a:t>well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296400" y="1600200"/>
            <a:ext cx="8534400" cy="3924300"/>
            <a:chOff x="9296400" y="1600200"/>
            <a:chExt cx="8534400" cy="3924300"/>
          </a:xfrm>
        </p:grpSpPr>
        <p:sp>
          <p:nvSpPr>
            <p:cNvPr id="10" name="object 10"/>
            <p:cNvSpPr/>
            <p:nvPr/>
          </p:nvSpPr>
          <p:spPr>
            <a:xfrm>
              <a:off x="9315449" y="16002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2" y="3924300"/>
                  </a:moveTo>
                  <a:lnTo>
                    <a:pt x="53397" y="3924300"/>
                  </a:lnTo>
                  <a:lnTo>
                    <a:pt x="49680" y="3923811"/>
                  </a:lnTo>
                  <a:lnTo>
                    <a:pt x="14084" y="3898442"/>
                  </a:lnTo>
                  <a:lnTo>
                    <a:pt x="365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1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3853103"/>
                  </a:lnTo>
                  <a:lnTo>
                    <a:pt x="8499727" y="3894593"/>
                  </a:lnTo>
                  <a:lnTo>
                    <a:pt x="8463686" y="3920413"/>
                  </a:lnTo>
                  <a:lnTo>
                    <a:pt x="8449106" y="3923811"/>
                  </a:lnTo>
                  <a:lnTo>
                    <a:pt x="8444152" y="3924300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96400" y="16004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49" y="3923744"/>
                  </a:moveTo>
                  <a:lnTo>
                    <a:pt x="33856" y="3911191"/>
                  </a:lnTo>
                  <a:lnTo>
                    <a:pt x="5799" y="3876981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6" y="3922088"/>
                  </a:lnTo>
                  <a:lnTo>
                    <a:pt x="70449" y="3923744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20245" y="1890445"/>
              <a:ext cx="343535" cy="334010"/>
            </a:xfrm>
            <a:custGeom>
              <a:avLst/>
              <a:gdLst/>
              <a:ahLst/>
              <a:cxnLst/>
              <a:rect l="l" t="t" r="r" b="b"/>
              <a:pathLst>
                <a:path w="343534" h="334010">
                  <a:moveTo>
                    <a:pt x="211573" y="44138"/>
                  </a:moveTo>
                  <a:lnTo>
                    <a:pt x="216934" y="46817"/>
                  </a:lnTo>
                  <a:lnTo>
                    <a:pt x="222611" y="48157"/>
                  </a:lnTo>
                  <a:lnTo>
                    <a:pt x="228604" y="48157"/>
                  </a:lnTo>
                  <a:lnTo>
                    <a:pt x="234596" y="48157"/>
                  </a:lnTo>
                  <a:lnTo>
                    <a:pt x="240273" y="46817"/>
                  </a:lnTo>
                  <a:lnTo>
                    <a:pt x="245634" y="44138"/>
                  </a:lnTo>
                  <a:lnTo>
                    <a:pt x="315338" y="9277"/>
                  </a:lnTo>
                  <a:lnTo>
                    <a:pt x="316791" y="8551"/>
                  </a:lnTo>
                  <a:lnTo>
                    <a:pt x="318313" y="8019"/>
                  </a:lnTo>
                  <a:lnTo>
                    <a:pt x="319902" y="7682"/>
                  </a:lnTo>
                  <a:lnTo>
                    <a:pt x="321491" y="7345"/>
                  </a:lnTo>
                  <a:lnTo>
                    <a:pt x="323097" y="7214"/>
                  </a:lnTo>
                  <a:lnTo>
                    <a:pt x="324720" y="7287"/>
                  </a:lnTo>
                  <a:lnTo>
                    <a:pt x="326343" y="7361"/>
                  </a:lnTo>
                  <a:lnTo>
                    <a:pt x="327931" y="7638"/>
                  </a:lnTo>
                  <a:lnTo>
                    <a:pt x="329483" y="8118"/>
                  </a:lnTo>
                  <a:lnTo>
                    <a:pt x="331035" y="8598"/>
                  </a:lnTo>
                  <a:lnTo>
                    <a:pt x="332501" y="9266"/>
                  </a:lnTo>
                  <a:lnTo>
                    <a:pt x="333883" y="10121"/>
                  </a:lnTo>
                  <a:lnTo>
                    <a:pt x="335264" y="10977"/>
                  </a:lnTo>
                  <a:lnTo>
                    <a:pt x="336515" y="11992"/>
                  </a:lnTo>
                  <a:lnTo>
                    <a:pt x="337637" y="13167"/>
                  </a:lnTo>
                  <a:lnTo>
                    <a:pt x="338758" y="14343"/>
                  </a:lnTo>
                  <a:lnTo>
                    <a:pt x="339714" y="15640"/>
                  </a:lnTo>
                  <a:lnTo>
                    <a:pt x="340503" y="17060"/>
                  </a:lnTo>
                  <a:lnTo>
                    <a:pt x="341292" y="18480"/>
                  </a:lnTo>
                  <a:lnTo>
                    <a:pt x="341891" y="19977"/>
                  </a:lnTo>
                  <a:lnTo>
                    <a:pt x="342297" y="21549"/>
                  </a:lnTo>
                  <a:lnTo>
                    <a:pt x="342704" y="23122"/>
                  </a:lnTo>
                  <a:lnTo>
                    <a:pt x="342906" y="24721"/>
                  </a:lnTo>
                  <a:lnTo>
                    <a:pt x="342904" y="26346"/>
                  </a:lnTo>
                  <a:lnTo>
                    <a:pt x="342904" y="269500"/>
                  </a:lnTo>
                  <a:lnTo>
                    <a:pt x="332369" y="286531"/>
                  </a:lnTo>
                  <a:lnTo>
                    <a:pt x="245634" y="329907"/>
                  </a:lnTo>
                  <a:lnTo>
                    <a:pt x="240273" y="332586"/>
                  </a:lnTo>
                  <a:lnTo>
                    <a:pt x="234596" y="333926"/>
                  </a:lnTo>
                  <a:lnTo>
                    <a:pt x="228604" y="333926"/>
                  </a:lnTo>
                  <a:lnTo>
                    <a:pt x="222611" y="333926"/>
                  </a:lnTo>
                  <a:lnTo>
                    <a:pt x="216934" y="332586"/>
                  </a:lnTo>
                  <a:lnTo>
                    <a:pt x="211573" y="329907"/>
                  </a:lnTo>
                  <a:lnTo>
                    <a:pt x="131334" y="289788"/>
                  </a:lnTo>
                  <a:lnTo>
                    <a:pt x="125973" y="287109"/>
                  </a:lnTo>
                  <a:lnTo>
                    <a:pt x="120296" y="285770"/>
                  </a:lnTo>
                  <a:lnTo>
                    <a:pt x="114304" y="285770"/>
                  </a:lnTo>
                  <a:lnTo>
                    <a:pt x="108311" y="285770"/>
                  </a:lnTo>
                  <a:lnTo>
                    <a:pt x="102634" y="287109"/>
                  </a:lnTo>
                  <a:lnTo>
                    <a:pt x="97273" y="289788"/>
                  </a:lnTo>
                  <a:lnTo>
                    <a:pt x="27569" y="324650"/>
                  </a:lnTo>
                  <a:lnTo>
                    <a:pt x="26115" y="325376"/>
                  </a:lnTo>
                  <a:lnTo>
                    <a:pt x="24593" y="325908"/>
                  </a:lnTo>
                  <a:lnTo>
                    <a:pt x="23003" y="326245"/>
                  </a:lnTo>
                  <a:lnTo>
                    <a:pt x="21413" y="326582"/>
                  </a:lnTo>
                  <a:lnTo>
                    <a:pt x="19806" y="326713"/>
                  </a:lnTo>
                  <a:lnTo>
                    <a:pt x="18182" y="326639"/>
                  </a:lnTo>
                  <a:lnTo>
                    <a:pt x="16558" y="326564"/>
                  </a:lnTo>
                  <a:lnTo>
                    <a:pt x="14970" y="326287"/>
                  </a:lnTo>
                  <a:lnTo>
                    <a:pt x="13418" y="325806"/>
                  </a:lnTo>
                  <a:lnTo>
                    <a:pt x="11865" y="325325"/>
                  </a:lnTo>
                  <a:lnTo>
                    <a:pt x="0" y="309187"/>
                  </a:lnTo>
                  <a:lnTo>
                    <a:pt x="4" y="307562"/>
                  </a:lnTo>
                  <a:lnTo>
                    <a:pt x="4" y="64427"/>
                  </a:lnTo>
                  <a:lnTo>
                    <a:pt x="10538" y="47396"/>
                  </a:lnTo>
                  <a:lnTo>
                    <a:pt x="97273" y="4019"/>
                  </a:lnTo>
                  <a:lnTo>
                    <a:pt x="102634" y="1340"/>
                  </a:lnTo>
                  <a:lnTo>
                    <a:pt x="108311" y="1"/>
                  </a:lnTo>
                  <a:lnTo>
                    <a:pt x="114304" y="1"/>
                  </a:lnTo>
                  <a:lnTo>
                    <a:pt x="120296" y="1"/>
                  </a:lnTo>
                  <a:lnTo>
                    <a:pt x="125973" y="1340"/>
                  </a:lnTo>
                  <a:lnTo>
                    <a:pt x="131334" y="4019"/>
                  </a:lnTo>
                  <a:lnTo>
                    <a:pt x="211573" y="44138"/>
                  </a:lnTo>
                  <a:close/>
                </a:path>
                <a:path w="343534" h="334010">
                  <a:moveTo>
                    <a:pt x="228604" y="48158"/>
                  </a:moveTo>
                  <a:lnTo>
                    <a:pt x="228604" y="333908"/>
                  </a:lnTo>
                </a:path>
                <a:path w="343534" h="334010">
                  <a:moveTo>
                    <a:pt x="114304" y="0"/>
                  </a:moveTo>
                  <a:lnTo>
                    <a:pt x="114304" y="285749"/>
                  </a:lnTo>
                </a:path>
              </a:pathLst>
            </a:custGeom>
            <a:ln w="381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60000" y="1691583"/>
            <a:ext cx="1362075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spc="-225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4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9600" y="2224930"/>
            <a:ext cx="8114030" cy="1688464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5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</a:t>
            </a:r>
            <a:r>
              <a:rPr sz="26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'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strategy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choosing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actions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based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states</a:t>
            </a:r>
            <a:endParaRPr sz="2500">
              <a:latin typeface="Microsoft Sans Serif"/>
              <a:cs typeface="Microsoft Sans Serif"/>
            </a:endParaRPr>
          </a:p>
          <a:p>
            <a:pPr marL="368300" marR="30480" indent="-304800">
              <a:lnSpc>
                <a:spcPts val="2400"/>
              </a:lnSpc>
              <a:spcBef>
                <a:spcPts val="1085"/>
              </a:spcBef>
            </a:pPr>
            <a:r>
              <a:rPr sz="270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2700" spc="142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205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2050" spc="-8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The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neural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network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that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maps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6A34"/>
                </a:solidFill>
                <a:latin typeface="Microsoft Sans Serif"/>
                <a:cs typeface="Microsoft Sans Serif"/>
              </a:rPr>
              <a:t>observations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to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steering</a:t>
            </a:r>
            <a:r>
              <a:rPr sz="2000" spc="-7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and </a:t>
            </a:r>
            <a:r>
              <a:rPr sz="2000" spc="-35" dirty="0">
                <a:solidFill>
                  <a:srgbClr val="FF6A34"/>
                </a:solidFill>
                <a:latin typeface="Microsoft Sans Serif"/>
                <a:cs typeface="Microsoft Sans Serif"/>
              </a:rPr>
              <a:t>acceleration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decisions</a:t>
            </a:r>
            <a:endParaRPr sz="20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47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10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driver</a:t>
            </a:r>
            <a:r>
              <a:rPr sz="2000" i="1" spc="-10" dirty="0">
                <a:solidFill>
                  <a:srgbClr val="9CA2AF"/>
                </a:solidFill>
                <a:latin typeface="Arial"/>
                <a:cs typeface="Arial"/>
              </a:rPr>
              <a:t>'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s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9CA2AF"/>
                </a:solidFill>
                <a:latin typeface="Arial"/>
                <a:cs typeface="Arial"/>
              </a:rPr>
              <a:t>racing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strategy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and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instincts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5829300"/>
            <a:ext cx="8534400" cy="3924300"/>
            <a:chOff x="457200" y="5829300"/>
            <a:chExt cx="8534400" cy="3924300"/>
          </a:xfrm>
        </p:grpSpPr>
        <p:sp>
          <p:nvSpPr>
            <p:cNvPr id="16" name="object 16"/>
            <p:cNvSpPr/>
            <p:nvPr/>
          </p:nvSpPr>
          <p:spPr>
            <a:xfrm>
              <a:off x="476249" y="58293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3" y="3924299"/>
                  </a:moveTo>
                  <a:lnTo>
                    <a:pt x="53397" y="3924299"/>
                  </a:lnTo>
                  <a:lnTo>
                    <a:pt x="49680" y="3923810"/>
                  </a:lnTo>
                  <a:lnTo>
                    <a:pt x="14085" y="3898443"/>
                  </a:lnTo>
                  <a:lnTo>
                    <a:pt x="366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0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3853103"/>
                  </a:lnTo>
                  <a:lnTo>
                    <a:pt x="8499727" y="3894593"/>
                  </a:lnTo>
                  <a:lnTo>
                    <a:pt x="8463687" y="3920412"/>
                  </a:lnTo>
                  <a:lnTo>
                    <a:pt x="8449108" y="3923811"/>
                  </a:lnTo>
                  <a:lnTo>
                    <a:pt x="8444153" y="39242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58295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7" y="3911191"/>
                  </a:lnTo>
                  <a:lnTo>
                    <a:pt x="5800" y="3876982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7" y="3922087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8199" y="611505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0"/>
                  </a:moveTo>
                  <a:lnTo>
                    <a:pt x="266700" y="17145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0400" y="5824201"/>
            <a:ext cx="7678420" cy="23183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865"/>
              </a:spcBef>
            </a:pPr>
            <a:r>
              <a:rPr sz="4050" b="1" spc="-290" dirty="0">
                <a:solidFill>
                  <a:srgbClr val="FFFFFF"/>
                </a:solidFill>
                <a:latin typeface="Arial"/>
                <a:cs typeface="Arial"/>
              </a:rPr>
              <a:t>Episode</a:t>
            </a:r>
            <a:endParaRPr sz="4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490"/>
              </a:spcBef>
            </a:pPr>
            <a:r>
              <a:rPr sz="2500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One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complete</a:t>
            </a:r>
            <a:r>
              <a:rPr sz="2500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run</a:t>
            </a:r>
            <a:r>
              <a:rPr sz="2500" spc="-1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start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finish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or</a:t>
            </a:r>
            <a:r>
              <a:rPr sz="25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crash</a:t>
            </a:r>
            <a:r>
              <a:rPr sz="26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)</a:t>
            </a:r>
            <a:endParaRPr sz="2600">
              <a:latin typeface="Microsoft Sans Serif"/>
              <a:cs typeface="Microsoft Sans Serif"/>
            </a:endParaRPr>
          </a:p>
          <a:p>
            <a:pPr marL="368300" marR="30480" indent="-304800">
              <a:lnSpc>
                <a:spcPct val="100000"/>
              </a:lnSpc>
              <a:spcBef>
                <a:spcPts val="955"/>
              </a:spcBef>
            </a:pPr>
            <a:r>
              <a:rPr sz="270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2700" spc="67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205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2050" spc="-9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FF6A34"/>
                </a:solidFill>
                <a:latin typeface="Microsoft Sans Serif"/>
                <a:cs typeface="Microsoft Sans Serif"/>
              </a:rPr>
              <a:t>From</a:t>
            </a:r>
            <a:r>
              <a:rPr sz="2000" spc="-3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starting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position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until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lap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6A34"/>
                </a:solidFill>
                <a:latin typeface="Microsoft Sans Serif"/>
                <a:cs typeface="Microsoft Sans Serif"/>
              </a:rPr>
              <a:t>completion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or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going</a:t>
            </a:r>
            <a:r>
              <a:rPr sz="200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off</a:t>
            </a:r>
            <a:r>
              <a:rPr sz="205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-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track</a:t>
            </a:r>
            <a:endParaRPr sz="20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54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one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practice</a:t>
            </a:r>
            <a:r>
              <a:rPr sz="2050" i="1" spc="-9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lap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in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racing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96400" y="5829300"/>
            <a:ext cx="8534400" cy="3924300"/>
            <a:chOff x="9296400" y="5829300"/>
            <a:chExt cx="8534400" cy="3924300"/>
          </a:xfrm>
        </p:grpSpPr>
        <p:sp>
          <p:nvSpPr>
            <p:cNvPr id="21" name="object 21"/>
            <p:cNvSpPr/>
            <p:nvPr/>
          </p:nvSpPr>
          <p:spPr>
            <a:xfrm>
              <a:off x="9315449" y="5829300"/>
              <a:ext cx="8515350" cy="3924300"/>
            </a:xfrm>
            <a:custGeom>
              <a:avLst/>
              <a:gdLst/>
              <a:ahLst/>
              <a:cxnLst/>
              <a:rect l="l" t="t" r="r" b="b"/>
              <a:pathLst>
                <a:path w="8515350" h="3924300">
                  <a:moveTo>
                    <a:pt x="8444152" y="3924299"/>
                  </a:moveTo>
                  <a:lnTo>
                    <a:pt x="53397" y="3924299"/>
                  </a:lnTo>
                  <a:lnTo>
                    <a:pt x="49680" y="3923810"/>
                  </a:lnTo>
                  <a:lnTo>
                    <a:pt x="14084" y="3898443"/>
                  </a:lnTo>
                  <a:lnTo>
                    <a:pt x="365" y="3858058"/>
                  </a:lnTo>
                  <a:lnTo>
                    <a:pt x="0" y="3853103"/>
                  </a:lnTo>
                  <a:lnTo>
                    <a:pt x="0" y="3848100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0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3853103"/>
                  </a:lnTo>
                  <a:lnTo>
                    <a:pt x="8499727" y="3894593"/>
                  </a:lnTo>
                  <a:lnTo>
                    <a:pt x="8463686" y="3920412"/>
                  </a:lnTo>
                  <a:lnTo>
                    <a:pt x="8449106" y="3923811"/>
                  </a:lnTo>
                  <a:lnTo>
                    <a:pt x="8444152" y="39242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96400" y="5829577"/>
              <a:ext cx="70485" cy="3924300"/>
            </a:xfrm>
            <a:custGeom>
              <a:avLst/>
              <a:gdLst/>
              <a:ahLst/>
              <a:cxnLst/>
              <a:rect l="l" t="t" r="r" b="b"/>
              <a:pathLst>
                <a:path w="70484" h="3924300">
                  <a:moveTo>
                    <a:pt x="70450" y="3923744"/>
                  </a:moveTo>
                  <a:lnTo>
                    <a:pt x="33856" y="3911191"/>
                  </a:lnTo>
                  <a:lnTo>
                    <a:pt x="5799" y="3876982"/>
                  </a:lnTo>
                  <a:lnTo>
                    <a:pt x="0" y="38478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847822"/>
                  </a:lnTo>
                  <a:lnTo>
                    <a:pt x="44514" y="3890163"/>
                  </a:lnTo>
                  <a:lnTo>
                    <a:pt x="66286" y="3922087"/>
                  </a:lnTo>
                  <a:lnTo>
                    <a:pt x="70450" y="39237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20249" y="6115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171450"/>
                  </a:moveTo>
                  <a:lnTo>
                    <a:pt x="5139" y="129780"/>
                  </a:lnTo>
                  <a:lnTo>
                    <a:pt x="20242" y="90628"/>
                  </a:lnTo>
                  <a:lnTo>
                    <a:pt x="44406" y="56318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50" y="0"/>
                  </a:lnTo>
                  <a:lnTo>
                    <a:pt x="189258" y="905"/>
                  </a:lnTo>
                  <a:lnTo>
                    <a:pt x="240699" y="13673"/>
                  </a:lnTo>
                  <a:lnTo>
                    <a:pt x="286458" y="40419"/>
                  </a:lnTo>
                  <a:lnTo>
                    <a:pt x="299847" y="52196"/>
                  </a:lnTo>
                  <a:lnTo>
                    <a:pt x="342900" y="95250"/>
                  </a:lnTo>
                </a:path>
                <a:path w="342900" h="342900">
                  <a:moveTo>
                    <a:pt x="342900" y="0"/>
                  </a:moveTo>
                  <a:lnTo>
                    <a:pt x="342900" y="95250"/>
                  </a:lnTo>
                  <a:lnTo>
                    <a:pt x="247650" y="95250"/>
                  </a:lnTo>
                </a:path>
                <a:path w="342900" h="342900">
                  <a:moveTo>
                    <a:pt x="342900" y="171450"/>
                  </a:moveTo>
                  <a:lnTo>
                    <a:pt x="337760" y="213119"/>
                  </a:lnTo>
                  <a:lnTo>
                    <a:pt x="322657" y="252271"/>
                  </a:lnTo>
                  <a:lnTo>
                    <a:pt x="298493" y="286582"/>
                  </a:lnTo>
                  <a:lnTo>
                    <a:pt x="266702" y="314005"/>
                  </a:lnTo>
                  <a:lnTo>
                    <a:pt x="229200" y="332882"/>
                  </a:lnTo>
                  <a:lnTo>
                    <a:pt x="188255" y="342076"/>
                  </a:lnTo>
                  <a:lnTo>
                    <a:pt x="171450" y="342900"/>
                  </a:lnTo>
                  <a:lnTo>
                    <a:pt x="153641" y="341994"/>
                  </a:lnTo>
                  <a:lnTo>
                    <a:pt x="102200" y="329226"/>
                  </a:lnTo>
                  <a:lnTo>
                    <a:pt x="56441" y="302480"/>
                  </a:lnTo>
                  <a:lnTo>
                    <a:pt x="43052" y="290703"/>
                  </a:lnTo>
                  <a:lnTo>
                    <a:pt x="0" y="247650"/>
                  </a:lnTo>
                </a:path>
                <a:path w="342900" h="342900">
                  <a:moveTo>
                    <a:pt x="95250" y="247650"/>
                  </a:moveTo>
                  <a:lnTo>
                    <a:pt x="0" y="247650"/>
                  </a:lnTo>
                  <a:lnTo>
                    <a:pt x="0" y="342900"/>
                  </a:lnTo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99600" y="5801113"/>
            <a:ext cx="7861934" cy="26847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45"/>
              </a:spcBef>
            </a:pPr>
            <a:r>
              <a:rPr sz="4050" b="1" spc="-114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endParaRPr sz="4050">
              <a:latin typeface="Arial"/>
              <a:cs typeface="Arial"/>
            </a:endParaRPr>
          </a:p>
          <a:p>
            <a:pPr marL="63500" marR="504825">
              <a:lnSpc>
                <a:spcPts val="2700"/>
              </a:lnSpc>
              <a:spcBef>
                <a:spcPts val="930"/>
              </a:spcBef>
            </a:pP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process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running</a:t>
            </a:r>
            <a:r>
              <a:rPr sz="2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many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episodes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improve</a:t>
            </a:r>
            <a:r>
              <a:rPr sz="25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the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endParaRPr sz="2500">
              <a:latin typeface="Microsoft Sans Serif"/>
              <a:cs typeface="Microsoft Sans Serif"/>
            </a:endParaRPr>
          </a:p>
          <a:p>
            <a:pPr marL="368300" marR="30480" indent="-304800">
              <a:lnSpc>
                <a:spcPct val="100000"/>
              </a:lnSpc>
              <a:spcBef>
                <a:spcPts val="935"/>
              </a:spcBef>
            </a:pPr>
            <a:r>
              <a:rPr sz="270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2700" spc="150" baseline="-37037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In</a:t>
            </a:r>
            <a:r>
              <a:rPr sz="2000" spc="-5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our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case</a:t>
            </a:r>
            <a:r>
              <a:rPr sz="2050" spc="-45" dirty="0">
                <a:solidFill>
                  <a:srgbClr val="FF6A34"/>
                </a:solidFill>
                <a:latin typeface="Microsoft Sans Serif"/>
                <a:cs typeface="Microsoft Sans Serif"/>
              </a:rPr>
              <a:t>:</a:t>
            </a:r>
            <a:r>
              <a:rPr sz="2050" spc="-7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FF6A34"/>
                </a:solidFill>
                <a:latin typeface="Microsoft Sans Serif"/>
                <a:cs typeface="Microsoft Sans Serif"/>
              </a:rPr>
              <a:t>Running</a:t>
            </a:r>
            <a:r>
              <a:rPr sz="2000" spc="-5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thousands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of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FF6A34"/>
                </a:solidFill>
                <a:latin typeface="Microsoft Sans Serif"/>
                <a:cs typeface="Microsoft Sans Serif"/>
              </a:rPr>
              <a:t>episodes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while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the</a:t>
            </a:r>
            <a:r>
              <a:rPr sz="2000" spc="-5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FF6A34"/>
                </a:solidFill>
                <a:latin typeface="Microsoft Sans Serif"/>
                <a:cs typeface="Microsoft Sans Serif"/>
              </a:rPr>
              <a:t>neural</a:t>
            </a:r>
            <a:r>
              <a:rPr sz="2000" spc="-60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network </a:t>
            </a:r>
            <a:r>
              <a:rPr sz="2000" spc="-35" dirty="0">
                <a:solidFill>
                  <a:srgbClr val="FF6A34"/>
                </a:solidFill>
                <a:latin typeface="Microsoft Sans Serif"/>
                <a:cs typeface="Microsoft Sans Serif"/>
              </a:rPr>
              <a:t>learns</a:t>
            </a:r>
            <a:r>
              <a:rPr sz="2000" spc="-9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6A34"/>
                </a:solidFill>
                <a:latin typeface="Microsoft Sans Serif"/>
                <a:cs typeface="Microsoft Sans Serif"/>
              </a:rPr>
              <a:t>better</a:t>
            </a:r>
            <a:r>
              <a:rPr sz="2000" spc="-9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6A34"/>
                </a:solidFill>
                <a:latin typeface="Microsoft Sans Serif"/>
                <a:cs typeface="Microsoft Sans Serif"/>
              </a:rPr>
              <a:t>racing</a:t>
            </a:r>
            <a:r>
              <a:rPr sz="2000" spc="-95" dirty="0">
                <a:solidFill>
                  <a:srgbClr val="FF6A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6A34"/>
                </a:solidFill>
                <a:latin typeface="Microsoft Sans Serif"/>
                <a:cs typeface="Microsoft Sans Serif"/>
              </a:rPr>
              <a:t>strategies</a:t>
            </a:r>
            <a:endParaRPr sz="20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540"/>
              </a:spcBef>
            </a:pPr>
            <a:r>
              <a:rPr sz="2050" i="1" spc="-85" dirty="0">
                <a:solidFill>
                  <a:srgbClr val="9CA2AF"/>
                </a:solidFill>
                <a:latin typeface="Arial"/>
                <a:cs typeface="Arial"/>
              </a:rPr>
              <a:t>Like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9CA2AF"/>
                </a:solidFill>
                <a:latin typeface="Arial"/>
                <a:cs typeface="Arial"/>
              </a:rPr>
              <a:t>practicing</a:t>
            </a:r>
            <a:r>
              <a:rPr sz="2050" i="1" spc="-10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9CA2AF"/>
                </a:solidFill>
                <a:latin typeface="Arial"/>
                <a:cs typeface="Arial"/>
              </a:rPr>
              <a:t>on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9CA2AF"/>
                </a:solidFill>
                <a:latin typeface="Arial"/>
                <a:cs typeface="Arial"/>
              </a:rPr>
              <a:t>the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25" dirty="0">
                <a:solidFill>
                  <a:srgbClr val="9CA2AF"/>
                </a:solidFill>
                <a:latin typeface="Arial"/>
                <a:cs typeface="Arial"/>
              </a:rPr>
              <a:t>track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9CA2AF"/>
                </a:solidFill>
                <a:latin typeface="Arial"/>
                <a:cs typeface="Arial"/>
              </a:rPr>
              <a:t>to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75" dirty="0">
                <a:solidFill>
                  <a:srgbClr val="9CA2AF"/>
                </a:solidFill>
                <a:latin typeface="Arial"/>
                <a:cs typeface="Arial"/>
              </a:rPr>
              <a:t>improve</a:t>
            </a:r>
            <a:r>
              <a:rPr sz="2050" i="1" spc="-65" dirty="0">
                <a:solidFill>
                  <a:srgbClr val="9CA2AF"/>
                </a:solidFill>
                <a:latin typeface="Arial"/>
                <a:cs typeface="Arial"/>
              </a:rPr>
              <a:t> lap</a:t>
            </a:r>
            <a:r>
              <a:rPr sz="2050" i="1" spc="-8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9CA2AF"/>
                </a:solidFill>
                <a:latin typeface="Arial"/>
                <a:cs typeface="Arial"/>
              </a:rPr>
              <a:t>times</a:t>
            </a:r>
            <a:endParaRPr sz="2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28269" y="9926637"/>
            <a:ext cx="81534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13</a:t>
            </a:fld>
            <a:r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7666355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15" dirty="0">
                <a:solidFill>
                  <a:srgbClr val="FF6A34"/>
                </a:solidFill>
              </a:rPr>
              <a:t>PPO</a:t>
            </a:r>
            <a:r>
              <a:rPr spc="-345" dirty="0">
                <a:solidFill>
                  <a:srgbClr val="FF6A34"/>
                </a:solidFill>
              </a:rPr>
              <a:t> </a:t>
            </a:r>
            <a:r>
              <a:rPr spc="-265" dirty="0">
                <a:solidFill>
                  <a:srgbClr val="FF6A34"/>
                </a:solidFill>
              </a:rPr>
              <a:t>Algorithm</a:t>
            </a:r>
            <a:r>
              <a:rPr spc="-345" dirty="0">
                <a:solidFill>
                  <a:srgbClr val="FF6A34"/>
                </a:solidFill>
              </a:rPr>
              <a:t> </a:t>
            </a:r>
            <a:r>
              <a:rPr spc="-265" dirty="0">
                <a:solidFill>
                  <a:srgbClr val="FF6A34"/>
                </a:solidFill>
              </a:rPr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19675" y="1200150"/>
            <a:ext cx="419100" cy="419100"/>
            <a:chOff x="5019675" y="1200150"/>
            <a:chExt cx="419100" cy="419100"/>
          </a:xfrm>
        </p:grpSpPr>
        <p:sp>
          <p:nvSpPr>
            <p:cNvPr id="4" name="object 4"/>
            <p:cNvSpPr/>
            <p:nvPr/>
          </p:nvSpPr>
          <p:spPr>
            <a:xfrm>
              <a:off x="5076824" y="12573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0"/>
                  </a:moveTo>
                  <a:lnTo>
                    <a:pt x="266700" y="0"/>
                  </a:lnTo>
                  <a:lnTo>
                    <a:pt x="271752" y="0"/>
                  </a:lnTo>
                  <a:lnTo>
                    <a:pt x="276612" y="966"/>
                  </a:lnTo>
                  <a:lnTo>
                    <a:pt x="281280" y="2900"/>
                  </a:lnTo>
                  <a:lnTo>
                    <a:pt x="285948" y="4833"/>
                  </a:lnTo>
                  <a:lnTo>
                    <a:pt x="290068" y="7586"/>
                  </a:lnTo>
                  <a:lnTo>
                    <a:pt x="304800" y="38100"/>
                  </a:lnTo>
                  <a:lnTo>
                    <a:pt x="304800" y="266700"/>
                  </a:lnTo>
                  <a:lnTo>
                    <a:pt x="285948" y="299966"/>
                  </a:lnTo>
                  <a:lnTo>
                    <a:pt x="266700" y="304800"/>
                  </a:lnTo>
                  <a:lnTo>
                    <a:pt x="38100" y="304800"/>
                  </a:lnTo>
                  <a:lnTo>
                    <a:pt x="4833" y="285948"/>
                  </a:lnTo>
                  <a:lnTo>
                    <a:pt x="2900" y="281280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700"/>
                  </a:lnTo>
                  <a:lnTo>
                    <a:pt x="0" y="38100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3024" y="1333500"/>
              <a:ext cx="152400" cy="152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38725" y="1219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47650" y="0"/>
                  </a:moveTo>
                  <a:lnTo>
                    <a:pt x="247650" y="38100"/>
                  </a:lnTo>
                </a:path>
                <a:path w="381000" h="381000">
                  <a:moveTo>
                    <a:pt x="247650" y="342900"/>
                  </a:moveTo>
                  <a:lnTo>
                    <a:pt x="247650" y="381000"/>
                  </a:lnTo>
                </a:path>
                <a:path w="381000" h="381000">
                  <a:moveTo>
                    <a:pt x="0" y="247650"/>
                  </a:moveTo>
                  <a:lnTo>
                    <a:pt x="38100" y="247650"/>
                  </a:lnTo>
                </a:path>
                <a:path w="381000" h="381000">
                  <a:moveTo>
                    <a:pt x="0" y="133350"/>
                  </a:moveTo>
                  <a:lnTo>
                    <a:pt x="38100" y="133350"/>
                  </a:lnTo>
                </a:path>
                <a:path w="381000" h="381000">
                  <a:moveTo>
                    <a:pt x="342900" y="247650"/>
                  </a:moveTo>
                  <a:lnTo>
                    <a:pt x="381000" y="247650"/>
                  </a:lnTo>
                </a:path>
                <a:path w="381000" h="381000">
                  <a:moveTo>
                    <a:pt x="342900" y="133350"/>
                  </a:moveTo>
                  <a:lnTo>
                    <a:pt x="381000" y="133350"/>
                  </a:lnTo>
                </a:path>
                <a:path w="381000" h="381000">
                  <a:moveTo>
                    <a:pt x="133350" y="0"/>
                  </a:moveTo>
                  <a:lnTo>
                    <a:pt x="133350" y="38100"/>
                  </a:lnTo>
                </a:path>
                <a:path w="381000" h="381000">
                  <a:moveTo>
                    <a:pt x="133350" y="342900"/>
                  </a:moveTo>
                  <a:lnTo>
                    <a:pt x="133350" y="381000"/>
                  </a:lnTo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45158" y="912076"/>
            <a:ext cx="13997940" cy="165290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609600" algn="ctr">
              <a:lnSpc>
                <a:spcPct val="100000"/>
              </a:lnSpc>
              <a:spcBef>
                <a:spcPts val="1040"/>
              </a:spcBef>
            </a:pPr>
            <a:r>
              <a:rPr sz="4050" b="1" spc="-270" dirty="0">
                <a:solidFill>
                  <a:srgbClr val="FFFFFF"/>
                </a:solidFill>
                <a:latin typeface="Arial"/>
                <a:cs typeface="Arial"/>
              </a:rPr>
              <a:t>Proximal</a:t>
            </a:r>
            <a:r>
              <a:rPr sz="405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5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r>
              <a:rPr sz="405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50" b="1" spc="-215" dirty="0">
                <a:solidFill>
                  <a:srgbClr val="FFFFFF"/>
                </a:solidFill>
                <a:latin typeface="Arial"/>
                <a:cs typeface="Arial"/>
              </a:rPr>
              <a:t>Optimization</a:t>
            </a:r>
            <a:r>
              <a:rPr sz="405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50" b="1" spc="-3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4050" b="1" spc="-325" dirty="0">
                <a:solidFill>
                  <a:srgbClr val="FFFFFF"/>
                </a:solidFill>
                <a:latin typeface="Arial"/>
                <a:cs typeface="Arial"/>
              </a:rPr>
              <a:t>PPO</a:t>
            </a:r>
            <a:r>
              <a:rPr sz="4150" b="1" spc="-325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4150">
              <a:latin typeface="Trebuchet MS"/>
              <a:cs typeface="Trebuchet MS"/>
            </a:endParaRPr>
          </a:p>
          <a:p>
            <a:pPr marL="471170" marR="5080" indent="-459105">
              <a:lnSpc>
                <a:spcPct val="106700"/>
              </a:lnSpc>
              <a:spcBef>
                <a:spcPts val="370"/>
              </a:spcBef>
            </a:pPr>
            <a:r>
              <a:rPr sz="2500" spc="-240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D0D5DA"/>
                </a:solidFill>
                <a:latin typeface="Microsoft Sans Serif"/>
                <a:cs typeface="Microsoft Sans Serif"/>
              </a:rPr>
              <a:t>is</a:t>
            </a:r>
            <a:r>
              <a:rPr sz="2500" spc="-1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D0D5DA"/>
                </a:solidFill>
                <a:latin typeface="Microsoft Sans Serif"/>
                <a:cs typeface="Microsoft Sans Serif"/>
              </a:rPr>
              <a:t>a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modern</a:t>
            </a:r>
            <a:r>
              <a:rPr sz="2500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reinforcement</a:t>
            </a:r>
            <a:r>
              <a:rPr sz="25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algorithm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that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balances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exploration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stability</a:t>
            </a:r>
            <a:r>
              <a:rPr sz="25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during</a:t>
            </a:r>
            <a:r>
              <a:rPr sz="25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training </a:t>
            </a:r>
            <a:r>
              <a:rPr sz="2500" spc="-20" dirty="0">
                <a:solidFill>
                  <a:srgbClr val="00BEFF"/>
                </a:solidFill>
                <a:latin typeface="Microsoft Sans Serif"/>
                <a:cs typeface="Microsoft Sans Serif"/>
              </a:rPr>
              <a:t>It</a:t>
            </a:r>
            <a:r>
              <a:rPr sz="2600" spc="-20" dirty="0">
                <a:solidFill>
                  <a:srgbClr val="00BEFF"/>
                </a:solidFill>
                <a:latin typeface="Gungsuh"/>
                <a:cs typeface="Gungsuh"/>
              </a:rPr>
              <a:t>'</a:t>
            </a:r>
            <a:r>
              <a:rPr sz="2500" spc="-20" dirty="0">
                <a:solidFill>
                  <a:srgbClr val="00BEFF"/>
                </a:solidFill>
                <a:latin typeface="Microsoft Sans Serif"/>
                <a:cs typeface="Microsoft Sans Serif"/>
              </a:rPr>
              <a:t>s</a:t>
            </a:r>
            <a:r>
              <a:rPr sz="2500" spc="-95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00BEFF"/>
                </a:solidFill>
                <a:latin typeface="Microsoft Sans Serif"/>
                <a:cs typeface="Microsoft Sans Serif"/>
              </a:rPr>
              <a:t>one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00BEFF"/>
                </a:solidFill>
                <a:latin typeface="Microsoft Sans Serif"/>
                <a:cs typeface="Microsoft Sans Serif"/>
              </a:rPr>
              <a:t>of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00BEFF"/>
                </a:solidFill>
                <a:latin typeface="Microsoft Sans Serif"/>
                <a:cs typeface="Microsoft Sans Serif"/>
              </a:rPr>
              <a:t>the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BEFF"/>
                </a:solidFill>
                <a:latin typeface="Microsoft Sans Serif"/>
                <a:cs typeface="Microsoft Sans Serif"/>
              </a:rPr>
              <a:t>most</a:t>
            </a:r>
            <a:r>
              <a:rPr sz="2500" spc="-95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00BEFF"/>
                </a:solidFill>
                <a:latin typeface="Microsoft Sans Serif"/>
                <a:cs typeface="Microsoft Sans Serif"/>
              </a:rPr>
              <a:t>popular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00BEFF"/>
                </a:solidFill>
                <a:latin typeface="Microsoft Sans Serif"/>
                <a:cs typeface="Microsoft Sans Serif"/>
              </a:rPr>
              <a:t>and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00BEFF"/>
                </a:solidFill>
                <a:latin typeface="Microsoft Sans Serif"/>
                <a:cs typeface="Microsoft Sans Serif"/>
              </a:rPr>
              <a:t>effective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00BEFF"/>
                </a:solidFill>
                <a:latin typeface="Microsoft Sans Serif"/>
                <a:cs typeface="Microsoft Sans Serif"/>
              </a:rPr>
              <a:t>algorithms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00BEFF"/>
                </a:solidFill>
                <a:latin typeface="Microsoft Sans Serif"/>
                <a:cs typeface="Microsoft Sans Serif"/>
              </a:rPr>
              <a:t>for</a:t>
            </a:r>
            <a:r>
              <a:rPr sz="2500" spc="-95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00BEFF"/>
                </a:solidFill>
                <a:latin typeface="Microsoft Sans Serif"/>
                <a:cs typeface="Microsoft Sans Serif"/>
              </a:rPr>
              <a:t>training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00BEFF"/>
                </a:solidFill>
                <a:latin typeface="Microsoft Sans Serif"/>
                <a:cs typeface="Microsoft Sans Serif"/>
              </a:rPr>
              <a:t>agents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00BEFF"/>
                </a:solidFill>
                <a:latin typeface="Microsoft Sans Serif"/>
                <a:cs typeface="Microsoft Sans Serif"/>
              </a:rPr>
              <a:t>in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00BEFF"/>
                </a:solidFill>
                <a:latin typeface="Microsoft Sans Serif"/>
                <a:cs typeface="Microsoft Sans Serif"/>
              </a:rPr>
              <a:t>complex</a:t>
            </a:r>
            <a:r>
              <a:rPr sz="2500" spc="-90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00BEFF"/>
                </a:solidFill>
                <a:latin typeface="Microsoft Sans Serif"/>
                <a:cs typeface="Microsoft Sans Serif"/>
              </a:rPr>
              <a:t>environments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2857499"/>
            <a:ext cx="5486400" cy="4381500"/>
            <a:chOff x="457200" y="2857499"/>
            <a:chExt cx="5486400" cy="4381500"/>
          </a:xfrm>
        </p:grpSpPr>
        <p:sp>
          <p:nvSpPr>
            <p:cNvPr id="9" name="object 9"/>
            <p:cNvSpPr/>
            <p:nvPr/>
          </p:nvSpPr>
          <p:spPr>
            <a:xfrm>
              <a:off x="457200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3" y="4362449"/>
                  </a:moveTo>
                  <a:lnTo>
                    <a:pt x="71196" y="4362449"/>
                  </a:lnTo>
                  <a:lnTo>
                    <a:pt x="66241" y="4361961"/>
                  </a:lnTo>
                  <a:lnTo>
                    <a:pt x="29705" y="4346827"/>
                  </a:lnTo>
                  <a:lnTo>
                    <a:pt x="3885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3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7" y="4358563"/>
                  </a:lnTo>
                  <a:lnTo>
                    <a:pt x="5420158" y="4361961"/>
                  </a:lnTo>
                  <a:lnTo>
                    <a:pt x="5415203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477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4" y="12829"/>
                  </a:lnTo>
                  <a:lnTo>
                    <a:pt x="5475831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5486400" h="70485">
                  <a:moveTo>
                    <a:pt x="5485844" y="70449"/>
                  </a:moveTo>
                  <a:lnTo>
                    <a:pt x="5452264" y="44514"/>
                  </a:lnTo>
                  <a:lnTo>
                    <a:pt x="5409922" y="38100"/>
                  </a:lnTo>
                  <a:lnTo>
                    <a:pt x="5475831" y="38100"/>
                  </a:lnTo>
                  <a:lnTo>
                    <a:pt x="5485759" y="68693"/>
                  </a:lnTo>
                  <a:lnTo>
                    <a:pt x="5485844" y="70449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7200" y="3251188"/>
              <a:ext cx="406400" cy="509270"/>
            </a:xfrm>
            <a:custGeom>
              <a:avLst/>
              <a:gdLst/>
              <a:ahLst/>
              <a:cxnLst/>
              <a:rect l="l" t="t" r="r" b="b"/>
              <a:pathLst>
                <a:path w="406400" h="509270">
                  <a:moveTo>
                    <a:pt x="406400" y="279411"/>
                  </a:moveTo>
                  <a:lnTo>
                    <a:pt x="401167" y="330059"/>
                  </a:lnTo>
                  <a:lnTo>
                    <a:pt x="386311" y="373576"/>
                  </a:lnTo>
                  <a:lnTo>
                    <a:pt x="363092" y="410606"/>
                  </a:lnTo>
                  <a:lnTo>
                    <a:pt x="332774" y="441793"/>
                  </a:lnTo>
                  <a:lnTo>
                    <a:pt x="296617" y="467782"/>
                  </a:lnTo>
                  <a:lnTo>
                    <a:pt x="255883" y="489216"/>
                  </a:lnTo>
                  <a:lnTo>
                    <a:pt x="211836" y="506741"/>
                  </a:lnTo>
                  <a:lnTo>
                    <a:pt x="206133" y="508673"/>
                  </a:lnTo>
                  <a:lnTo>
                    <a:pt x="200460" y="508589"/>
                  </a:lnTo>
                  <a:lnTo>
                    <a:pt x="150676" y="489056"/>
                  </a:lnTo>
                  <a:lnTo>
                    <a:pt x="109875" y="467689"/>
                  </a:lnTo>
                  <a:lnTo>
                    <a:pt x="73673" y="441746"/>
                  </a:lnTo>
                  <a:lnTo>
                    <a:pt x="43327" y="410586"/>
                  </a:lnTo>
                  <a:lnTo>
                    <a:pt x="20094" y="373570"/>
                  </a:lnTo>
                  <a:lnTo>
                    <a:pt x="5233" y="330058"/>
                  </a:lnTo>
                  <a:lnTo>
                    <a:pt x="0" y="279411"/>
                  </a:lnTo>
                  <a:lnTo>
                    <a:pt x="0" y="101611"/>
                  </a:lnTo>
                  <a:lnTo>
                    <a:pt x="0" y="98243"/>
                  </a:lnTo>
                  <a:lnTo>
                    <a:pt x="7439" y="83650"/>
                  </a:lnTo>
                  <a:lnTo>
                    <a:pt x="9821" y="81269"/>
                  </a:lnTo>
                  <a:lnTo>
                    <a:pt x="12567" y="79433"/>
                  </a:lnTo>
                  <a:lnTo>
                    <a:pt x="15679" y="78144"/>
                  </a:lnTo>
                  <a:lnTo>
                    <a:pt x="18791" y="76855"/>
                  </a:lnTo>
                  <a:lnTo>
                    <a:pt x="22031" y="76211"/>
                  </a:lnTo>
                  <a:lnTo>
                    <a:pt x="25400" y="76211"/>
                  </a:lnTo>
                  <a:lnTo>
                    <a:pt x="65381" y="70845"/>
                  </a:lnTo>
                  <a:lnTo>
                    <a:pt x="107124" y="56145"/>
                  </a:lnTo>
                  <a:lnTo>
                    <a:pt x="147629" y="34206"/>
                  </a:lnTo>
                  <a:lnTo>
                    <a:pt x="183896" y="7123"/>
                  </a:lnTo>
                  <a:lnTo>
                    <a:pt x="186586" y="4824"/>
                  </a:lnTo>
                  <a:lnTo>
                    <a:pt x="189591" y="3062"/>
                  </a:lnTo>
                  <a:lnTo>
                    <a:pt x="192911" y="1837"/>
                  </a:lnTo>
                  <a:lnTo>
                    <a:pt x="196231" y="612"/>
                  </a:lnTo>
                  <a:lnTo>
                    <a:pt x="199661" y="0"/>
                  </a:lnTo>
                  <a:lnTo>
                    <a:pt x="203200" y="0"/>
                  </a:lnTo>
                  <a:lnTo>
                    <a:pt x="206738" y="0"/>
                  </a:lnTo>
                  <a:lnTo>
                    <a:pt x="210168" y="612"/>
                  </a:lnTo>
                  <a:lnTo>
                    <a:pt x="213488" y="1837"/>
                  </a:lnTo>
                  <a:lnTo>
                    <a:pt x="216808" y="3062"/>
                  </a:lnTo>
                  <a:lnTo>
                    <a:pt x="219813" y="4824"/>
                  </a:lnTo>
                  <a:lnTo>
                    <a:pt x="258877" y="34313"/>
                  </a:lnTo>
                  <a:lnTo>
                    <a:pt x="299370" y="56240"/>
                  </a:lnTo>
                  <a:lnTo>
                    <a:pt x="341054" y="70881"/>
                  </a:lnTo>
                  <a:lnTo>
                    <a:pt x="381000" y="76211"/>
                  </a:lnTo>
                  <a:lnTo>
                    <a:pt x="384368" y="76211"/>
                  </a:lnTo>
                  <a:lnTo>
                    <a:pt x="387608" y="76855"/>
                  </a:lnTo>
                  <a:lnTo>
                    <a:pt x="390720" y="78144"/>
                  </a:lnTo>
                  <a:lnTo>
                    <a:pt x="393832" y="79433"/>
                  </a:lnTo>
                  <a:lnTo>
                    <a:pt x="396578" y="81269"/>
                  </a:lnTo>
                  <a:lnTo>
                    <a:pt x="406400" y="101611"/>
                  </a:lnTo>
                  <a:lnTo>
                    <a:pt x="406400" y="279411"/>
                  </a:lnTo>
                  <a:close/>
                </a:path>
              </a:pathLst>
            </a:custGeom>
            <a:ln w="508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6392" y="3778449"/>
            <a:ext cx="4748530" cy="200025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Stable</a:t>
            </a:r>
            <a:r>
              <a:rPr sz="30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55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3050">
              <a:latin typeface="Arial"/>
              <a:cs typeface="Arial"/>
            </a:endParaRPr>
          </a:p>
          <a:p>
            <a:pPr marL="12700" marR="5080" indent="-635" algn="ctr">
              <a:lnSpc>
                <a:spcPts val="2400"/>
              </a:lnSpc>
              <a:spcBef>
                <a:spcPts val="994"/>
              </a:spcBef>
            </a:pPr>
            <a:r>
              <a:rPr sz="2000" spc="-195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prevents</a:t>
            </a:r>
            <a:r>
              <a:rPr sz="20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1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changing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too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drastically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updates</a:t>
            </a:r>
            <a:r>
              <a:rPr sz="20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avoiding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catastrophic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forgetting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ensuring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steady improvement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00799" y="2857499"/>
            <a:ext cx="5486400" cy="4381500"/>
            <a:chOff x="6400799" y="2857499"/>
            <a:chExt cx="5486400" cy="4381500"/>
          </a:xfrm>
        </p:grpSpPr>
        <p:sp>
          <p:nvSpPr>
            <p:cNvPr id="14" name="object 14"/>
            <p:cNvSpPr/>
            <p:nvPr/>
          </p:nvSpPr>
          <p:spPr>
            <a:xfrm>
              <a:off x="6400799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3" y="4362449"/>
                  </a:moveTo>
                  <a:lnTo>
                    <a:pt x="71197" y="4362449"/>
                  </a:lnTo>
                  <a:lnTo>
                    <a:pt x="66241" y="4361961"/>
                  </a:lnTo>
                  <a:lnTo>
                    <a:pt x="29705" y="4346827"/>
                  </a:lnTo>
                  <a:lnTo>
                    <a:pt x="3885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30"/>
                  </a:lnTo>
                  <a:lnTo>
                    <a:pt x="71197" y="0"/>
                  </a:lnTo>
                  <a:lnTo>
                    <a:pt x="5415203" y="0"/>
                  </a:lnTo>
                  <a:lnTo>
                    <a:pt x="5456692" y="11716"/>
                  </a:lnTo>
                  <a:lnTo>
                    <a:pt x="5483959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6" y="4358563"/>
                  </a:lnTo>
                  <a:lnTo>
                    <a:pt x="5420157" y="4361961"/>
                  </a:lnTo>
                  <a:lnTo>
                    <a:pt x="5415203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1077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29"/>
                  </a:lnTo>
                  <a:lnTo>
                    <a:pt x="5475830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30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14913" y="3250806"/>
              <a:ext cx="458470" cy="509270"/>
            </a:xfrm>
            <a:custGeom>
              <a:avLst/>
              <a:gdLst/>
              <a:ahLst/>
              <a:cxnLst/>
              <a:rect l="l" t="t" r="r" b="b"/>
              <a:pathLst>
                <a:path w="458470" h="509270">
                  <a:moveTo>
                    <a:pt x="25886" y="305193"/>
                  </a:moveTo>
                  <a:lnTo>
                    <a:pt x="20981" y="305210"/>
                  </a:lnTo>
                  <a:lnTo>
                    <a:pt x="16451" y="303914"/>
                  </a:lnTo>
                  <a:lnTo>
                    <a:pt x="12296" y="301307"/>
                  </a:lnTo>
                  <a:lnTo>
                    <a:pt x="8141" y="298699"/>
                  </a:lnTo>
                  <a:lnTo>
                    <a:pt x="5005" y="295182"/>
                  </a:lnTo>
                  <a:lnTo>
                    <a:pt x="2888" y="290757"/>
                  </a:lnTo>
                  <a:lnTo>
                    <a:pt x="770" y="286333"/>
                  </a:lnTo>
                  <a:lnTo>
                    <a:pt x="0" y="281684"/>
                  </a:lnTo>
                  <a:lnTo>
                    <a:pt x="575" y="276813"/>
                  </a:lnTo>
                  <a:lnTo>
                    <a:pt x="1151" y="271941"/>
                  </a:lnTo>
                  <a:lnTo>
                    <a:pt x="2984" y="267601"/>
                  </a:lnTo>
                  <a:lnTo>
                    <a:pt x="6074" y="263791"/>
                  </a:lnTo>
                  <a:lnTo>
                    <a:pt x="257534" y="4711"/>
                  </a:lnTo>
                  <a:lnTo>
                    <a:pt x="259477" y="2469"/>
                  </a:lnTo>
                  <a:lnTo>
                    <a:pt x="261907" y="1078"/>
                  </a:lnTo>
                  <a:lnTo>
                    <a:pt x="264824" y="539"/>
                  </a:lnTo>
                  <a:lnTo>
                    <a:pt x="267741" y="0"/>
                  </a:lnTo>
                  <a:lnTo>
                    <a:pt x="270507" y="429"/>
                  </a:lnTo>
                  <a:lnTo>
                    <a:pt x="273123" y="1829"/>
                  </a:lnTo>
                  <a:lnTo>
                    <a:pt x="275739" y="3228"/>
                  </a:lnTo>
                  <a:lnTo>
                    <a:pt x="277632" y="5290"/>
                  </a:lnTo>
                  <a:lnTo>
                    <a:pt x="278803" y="8016"/>
                  </a:lnTo>
                  <a:lnTo>
                    <a:pt x="279973" y="10742"/>
                  </a:lnTo>
                  <a:lnTo>
                    <a:pt x="280165" y="13535"/>
                  </a:lnTo>
                  <a:lnTo>
                    <a:pt x="279378" y="16395"/>
                  </a:lnTo>
                  <a:lnTo>
                    <a:pt x="230610" y="169303"/>
                  </a:lnTo>
                  <a:lnTo>
                    <a:pt x="229891" y="171228"/>
                  </a:lnTo>
                  <a:lnTo>
                    <a:pt x="229413" y="173210"/>
                  </a:lnTo>
                  <a:lnTo>
                    <a:pt x="229175" y="175251"/>
                  </a:lnTo>
                  <a:lnTo>
                    <a:pt x="228937" y="177291"/>
                  </a:lnTo>
                  <a:lnTo>
                    <a:pt x="228946" y="179330"/>
                  </a:lnTo>
                  <a:lnTo>
                    <a:pt x="229203" y="181369"/>
                  </a:lnTo>
                  <a:lnTo>
                    <a:pt x="229460" y="183407"/>
                  </a:lnTo>
                  <a:lnTo>
                    <a:pt x="229956" y="185385"/>
                  </a:lnTo>
                  <a:lnTo>
                    <a:pt x="230693" y="187302"/>
                  </a:lnTo>
                  <a:lnTo>
                    <a:pt x="231430" y="189220"/>
                  </a:lnTo>
                  <a:lnTo>
                    <a:pt x="232385" y="191022"/>
                  </a:lnTo>
                  <a:lnTo>
                    <a:pt x="233559" y="192708"/>
                  </a:lnTo>
                  <a:lnTo>
                    <a:pt x="234733" y="194393"/>
                  </a:lnTo>
                  <a:lnTo>
                    <a:pt x="236091" y="195915"/>
                  </a:lnTo>
                  <a:lnTo>
                    <a:pt x="237634" y="197271"/>
                  </a:lnTo>
                  <a:lnTo>
                    <a:pt x="239177" y="198627"/>
                  </a:lnTo>
                  <a:lnTo>
                    <a:pt x="252432" y="203600"/>
                  </a:lnTo>
                  <a:lnTo>
                    <a:pt x="254486" y="203593"/>
                  </a:lnTo>
                  <a:lnTo>
                    <a:pt x="432286" y="203593"/>
                  </a:lnTo>
                  <a:lnTo>
                    <a:pt x="455285" y="218029"/>
                  </a:lnTo>
                  <a:lnTo>
                    <a:pt x="457402" y="222454"/>
                  </a:lnTo>
                  <a:lnTo>
                    <a:pt x="458173" y="227102"/>
                  </a:lnTo>
                  <a:lnTo>
                    <a:pt x="457597" y="231974"/>
                  </a:lnTo>
                  <a:lnTo>
                    <a:pt x="457022" y="236845"/>
                  </a:lnTo>
                  <a:lnTo>
                    <a:pt x="455189" y="241186"/>
                  </a:lnTo>
                  <a:lnTo>
                    <a:pt x="452098" y="244995"/>
                  </a:lnTo>
                  <a:lnTo>
                    <a:pt x="200638" y="504075"/>
                  </a:lnTo>
                  <a:lnTo>
                    <a:pt x="198696" y="506318"/>
                  </a:lnTo>
                  <a:lnTo>
                    <a:pt x="196266" y="507708"/>
                  </a:lnTo>
                  <a:lnTo>
                    <a:pt x="193349" y="508248"/>
                  </a:lnTo>
                  <a:lnTo>
                    <a:pt x="190432" y="508787"/>
                  </a:lnTo>
                  <a:lnTo>
                    <a:pt x="187665" y="508357"/>
                  </a:lnTo>
                  <a:lnTo>
                    <a:pt x="185050" y="506958"/>
                  </a:lnTo>
                  <a:lnTo>
                    <a:pt x="182434" y="505559"/>
                  </a:lnTo>
                  <a:lnTo>
                    <a:pt x="180541" y="503497"/>
                  </a:lnTo>
                  <a:lnTo>
                    <a:pt x="179370" y="500771"/>
                  </a:lnTo>
                  <a:lnTo>
                    <a:pt x="178199" y="498045"/>
                  </a:lnTo>
                  <a:lnTo>
                    <a:pt x="178008" y="495252"/>
                  </a:lnTo>
                  <a:lnTo>
                    <a:pt x="178794" y="492391"/>
                  </a:lnTo>
                  <a:lnTo>
                    <a:pt x="227562" y="339483"/>
                  </a:lnTo>
                  <a:lnTo>
                    <a:pt x="228281" y="337559"/>
                  </a:lnTo>
                  <a:lnTo>
                    <a:pt x="228760" y="335577"/>
                  </a:lnTo>
                  <a:lnTo>
                    <a:pt x="228998" y="333536"/>
                  </a:lnTo>
                  <a:lnTo>
                    <a:pt x="229236" y="331496"/>
                  </a:lnTo>
                  <a:lnTo>
                    <a:pt x="229227" y="329456"/>
                  </a:lnTo>
                  <a:lnTo>
                    <a:pt x="228970" y="327418"/>
                  </a:lnTo>
                  <a:lnTo>
                    <a:pt x="228713" y="325380"/>
                  </a:lnTo>
                  <a:lnTo>
                    <a:pt x="228216" y="323402"/>
                  </a:lnTo>
                  <a:lnTo>
                    <a:pt x="227480" y="321484"/>
                  </a:lnTo>
                  <a:lnTo>
                    <a:pt x="226743" y="319567"/>
                  </a:lnTo>
                  <a:lnTo>
                    <a:pt x="225788" y="317765"/>
                  </a:lnTo>
                  <a:lnTo>
                    <a:pt x="224614" y="316079"/>
                  </a:lnTo>
                  <a:lnTo>
                    <a:pt x="223440" y="314393"/>
                  </a:lnTo>
                  <a:lnTo>
                    <a:pt x="209762" y="305910"/>
                  </a:lnTo>
                  <a:lnTo>
                    <a:pt x="207766" y="305426"/>
                  </a:lnTo>
                  <a:lnTo>
                    <a:pt x="205741" y="305187"/>
                  </a:lnTo>
                  <a:lnTo>
                    <a:pt x="203686" y="305193"/>
                  </a:lnTo>
                  <a:lnTo>
                    <a:pt x="25886" y="305193"/>
                  </a:lnTo>
                  <a:close/>
                </a:path>
              </a:pathLst>
            </a:custGeom>
            <a:ln w="508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24451" y="3778449"/>
            <a:ext cx="4839335" cy="169545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050" b="1" spc="-195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305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30" dirty="0">
                <a:solidFill>
                  <a:srgbClr val="FFFFFF"/>
                </a:solidFill>
                <a:latin typeface="Arial"/>
                <a:cs typeface="Arial"/>
              </a:rPr>
              <a:t>Efficient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reuses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collected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experience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times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epochs</a:t>
            </a:r>
            <a:r>
              <a:rPr sz="20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making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better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use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speeding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up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344400" y="2857499"/>
            <a:ext cx="5486400" cy="4381500"/>
            <a:chOff x="12344400" y="2857499"/>
            <a:chExt cx="5486400" cy="4381500"/>
          </a:xfrm>
        </p:grpSpPr>
        <p:sp>
          <p:nvSpPr>
            <p:cNvPr id="19" name="object 19"/>
            <p:cNvSpPr/>
            <p:nvPr/>
          </p:nvSpPr>
          <p:spPr>
            <a:xfrm>
              <a:off x="12344400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2" y="4362449"/>
                  </a:moveTo>
                  <a:lnTo>
                    <a:pt x="71196" y="4362449"/>
                  </a:lnTo>
                  <a:lnTo>
                    <a:pt x="66241" y="4361961"/>
                  </a:lnTo>
                  <a:lnTo>
                    <a:pt x="29703" y="4346827"/>
                  </a:lnTo>
                  <a:lnTo>
                    <a:pt x="3883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79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2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6" y="4358563"/>
                  </a:lnTo>
                  <a:lnTo>
                    <a:pt x="5420156" y="4361961"/>
                  </a:lnTo>
                  <a:lnTo>
                    <a:pt x="5415202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344678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29"/>
                  </a:lnTo>
                  <a:lnTo>
                    <a:pt x="5475828" y="38100"/>
                  </a:lnTo>
                  <a:lnTo>
                    <a:pt x="75922" y="38100"/>
                  </a:lnTo>
                  <a:lnTo>
                    <a:pt x="68414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28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58444" y="3251200"/>
              <a:ext cx="458470" cy="508000"/>
            </a:xfrm>
            <a:custGeom>
              <a:avLst/>
              <a:gdLst/>
              <a:ahLst/>
              <a:cxnLst/>
              <a:rect l="l" t="t" r="r" b="b"/>
              <a:pathLst>
                <a:path w="458469" h="508000">
                  <a:moveTo>
                    <a:pt x="234743" y="0"/>
                  </a:moveTo>
                  <a:lnTo>
                    <a:pt x="223567" y="0"/>
                  </a:lnTo>
                  <a:lnTo>
                    <a:pt x="220232" y="0"/>
                  </a:lnTo>
                  <a:lnTo>
                    <a:pt x="216928" y="325"/>
                  </a:lnTo>
                  <a:lnTo>
                    <a:pt x="213656" y="976"/>
                  </a:lnTo>
                  <a:lnTo>
                    <a:pt x="210385" y="1626"/>
                  </a:lnTo>
                  <a:lnTo>
                    <a:pt x="207208" y="2590"/>
                  </a:lnTo>
                  <a:lnTo>
                    <a:pt x="204127" y="3866"/>
                  </a:lnTo>
                  <a:lnTo>
                    <a:pt x="201045" y="5143"/>
                  </a:lnTo>
                  <a:lnTo>
                    <a:pt x="198118" y="6708"/>
                  </a:lnTo>
                  <a:lnTo>
                    <a:pt x="195344" y="8561"/>
                  </a:lnTo>
                  <a:lnTo>
                    <a:pt x="192571" y="10414"/>
                  </a:lnTo>
                  <a:lnTo>
                    <a:pt x="190005" y="12520"/>
                  </a:lnTo>
                  <a:lnTo>
                    <a:pt x="187646" y="14878"/>
                  </a:lnTo>
                  <a:lnTo>
                    <a:pt x="185287" y="17237"/>
                  </a:lnTo>
                  <a:lnTo>
                    <a:pt x="183182" y="19803"/>
                  </a:lnTo>
                  <a:lnTo>
                    <a:pt x="181328" y="22577"/>
                  </a:lnTo>
                  <a:lnTo>
                    <a:pt x="179475" y="25350"/>
                  </a:lnTo>
                  <a:lnTo>
                    <a:pt x="177910" y="28278"/>
                  </a:lnTo>
                  <a:lnTo>
                    <a:pt x="176634" y="31359"/>
                  </a:lnTo>
                  <a:lnTo>
                    <a:pt x="175358" y="34441"/>
                  </a:lnTo>
                  <a:lnTo>
                    <a:pt x="174394" y="37617"/>
                  </a:lnTo>
                  <a:lnTo>
                    <a:pt x="173743" y="40889"/>
                  </a:lnTo>
                  <a:lnTo>
                    <a:pt x="173092" y="44160"/>
                  </a:lnTo>
                  <a:lnTo>
                    <a:pt x="172767" y="47464"/>
                  </a:lnTo>
                  <a:lnTo>
                    <a:pt x="172767" y="50800"/>
                  </a:lnTo>
                  <a:lnTo>
                    <a:pt x="172767" y="55372"/>
                  </a:lnTo>
                  <a:lnTo>
                    <a:pt x="157900" y="91271"/>
                  </a:lnTo>
                  <a:lnTo>
                    <a:pt x="124201" y="110768"/>
                  </a:lnTo>
                  <a:lnTo>
                    <a:pt x="111045" y="112469"/>
                  </a:lnTo>
                  <a:lnTo>
                    <a:pt x="104353" y="112044"/>
                  </a:lnTo>
                  <a:lnTo>
                    <a:pt x="78949" y="101967"/>
                  </a:lnTo>
                  <a:lnTo>
                    <a:pt x="75928" y="100599"/>
                  </a:lnTo>
                  <a:lnTo>
                    <a:pt x="72773" y="99529"/>
                  </a:lnTo>
                  <a:lnTo>
                    <a:pt x="69618" y="98458"/>
                  </a:lnTo>
                  <a:lnTo>
                    <a:pt x="66389" y="97705"/>
                  </a:lnTo>
                  <a:lnTo>
                    <a:pt x="63086" y="97270"/>
                  </a:lnTo>
                  <a:lnTo>
                    <a:pt x="59783" y="96835"/>
                  </a:lnTo>
                  <a:lnTo>
                    <a:pt x="56469" y="96726"/>
                  </a:lnTo>
                  <a:lnTo>
                    <a:pt x="53144" y="96943"/>
                  </a:lnTo>
                  <a:lnTo>
                    <a:pt x="49819" y="97160"/>
                  </a:lnTo>
                  <a:lnTo>
                    <a:pt x="46547" y="97699"/>
                  </a:lnTo>
                  <a:lnTo>
                    <a:pt x="43329" y="98559"/>
                  </a:lnTo>
                  <a:lnTo>
                    <a:pt x="40110" y="99420"/>
                  </a:lnTo>
                  <a:lnTo>
                    <a:pt x="25565" y="107303"/>
                  </a:lnTo>
                  <a:lnTo>
                    <a:pt x="22920" y="109329"/>
                  </a:lnTo>
                  <a:lnTo>
                    <a:pt x="20497" y="111593"/>
                  </a:lnTo>
                  <a:lnTo>
                    <a:pt x="18298" y="114095"/>
                  </a:lnTo>
                  <a:lnTo>
                    <a:pt x="16098" y="116598"/>
                  </a:lnTo>
                  <a:lnTo>
                    <a:pt x="544" y="150575"/>
                  </a:lnTo>
                  <a:lnTo>
                    <a:pt x="109" y="153878"/>
                  </a:lnTo>
                  <a:lnTo>
                    <a:pt x="0" y="157192"/>
                  </a:lnTo>
                  <a:lnTo>
                    <a:pt x="216" y="160517"/>
                  </a:lnTo>
                  <a:lnTo>
                    <a:pt x="433" y="163842"/>
                  </a:lnTo>
                  <a:lnTo>
                    <a:pt x="972" y="167113"/>
                  </a:lnTo>
                  <a:lnTo>
                    <a:pt x="1833" y="170332"/>
                  </a:lnTo>
                  <a:lnTo>
                    <a:pt x="2694" y="173551"/>
                  </a:lnTo>
                  <a:lnTo>
                    <a:pt x="10577" y="188096"/>
                  </a:lnTo>
                  <a:lnTo>
                    <a:pt x="12602" y="190741"/>
                  </a:lnTo>
                  <a:lnTo>
                    <a:pt x="14867" y="193163"/>
                  </a:lnTo>
                  <a:lnTo>
                    <a:pt x="17369" y="195363"/>
                  </a:lnTo>
                  <a:lnTo>
                    <a:pt x="19871" y="197563"/>
                  </a:lnTo>
                  <a:lnTo>
                    <a:pt x="22564" y="199498"/>
                  </a:lnTo>
                  <a:lnTo>
                    <a:pt x="25447" y="201168"/>
                  </a:lnTo>
                  <a:lnTo>
                    <a:pt x="29257" y="203708"/>
                  </a:lnTo>
                  <a:lnTo>
                    <a:pt x="52896" y="234324"/>
                  </a:lnTo>
                  <a:lnTo>
                    <a:pt x="54657" y="247396"/>
                  </a:lnTo>
                  <a:lnTo>
                    <a:pt x="54657" y="260350"/>
                  </a:lnTo>
                  <a:lnTo>
                    <a:pt x="39836" y="296459"/>
                  </a:lnTo>
                  <a:lnTo>
                    <a:pt x="22564" y="308501"/>
                  </a:lnTo>
                  <a:lnTo>
                    <a:pt x="19871" y="310436"/>
                  </a:lnTo>
                  <a:lnTo>
                    <a:pt x="17369" y="312636"/>
                  </a:lnTo>
                  <a:lnTo>
                    <a:pt x="14867" y="314836"/>
                  </a:lnTo>
                  <a:lnTo>
                    <a:pt x="12602" y="317258"/>
                  </a:lnTo>
                  <a:lnTo>
                    <a:pt x="1833" y="337667"/>
                  </a:lnTo>
                  <a:lnTo>
                    <a:pt x="972" y="340886"/>
                  </a:lnTo>
                  <a:lnTo>
                    <a:pt x="433" y="344158"/>
                  </a:lnTo>
                  <a:lnTo>
                    <a:pt x="216" y="347482"/>
                  </a:lnTo>
                  <a:lnTo>
                    <a:pt x="0" y="350807"/>
                  </a:lnTo>
                  <a:lnTo>
                    <a:pt x="109" y="354121"/>
                  </a:lnTo>
                  <a:lnTo>
                    <a:pt x="544" y="357424"/>
                  </a:lnTo>
                  <a:lnTo>
                    <a:pt x="979" y="360728"/>
                  </a:lnTo>
                  <a:lnTo>
                    <a:pt x="18298" y="393904"/>
                  </a:lnTo>
                  <a:lnTo>
                    <a:pt x="20497" y="396406"/>
                  </a:lnTo>
                  <a:lnTo>
                    <a:pt x="22920" y="398670"/>
                  </a:lnTo>
                  <a:lnTo>
                    <a:pt x="25565" y="400696"/>
                  </a:lnTo>
                  <a:lnTo>
                    <a:pt x="28210" y="402722"/>
                  </a:lnTo>
                  <a:lnTo>
                    <a:pt x="31027" y="404470"/>
                  </a:lnTo>
                  <a:lnTo>
                    <a:pt x="34017" y="405942"/>
                  </a:lnTo>
                  <a:lnTo>
                    <a:pt x="37006" y="407413"/>
                  </a:lnTo>
                  <a:lnTo>
                    <a:pt x="53144" y="411056"/>
                  </a:lnTo>
                  <a:lnTo>
                    <a:pt x="56469" y="411273"/>
                  </a:lnTo>
                  <a:lnTo>
                    <a:pt x="72773" y="408470"/>
                  </a:lnTo>
                  <a:lnTo>
                    <a:pt x="75928" y="407400"/>
                  </a:lnTo>
                  <a:lnTo>
                    <a:pt x="78949" y="406032"/>
                  </a:lnTo>
                  <a:lnTo>
                    <a:pt x="81835" y="404368"/>
                  </a:lnTo>
                  <a:lnTo>
                    <a:pt x="85645" y="402336"/>
                  </a:lnTo>
                  <a:lnTo>
                    <a:pt x="91653" y="399358"/>
                  </a:lnTo>
                  <a:lnTo>
                    <a:pt x="97889" y="397231"/>
                  </a:lnTo>
                  <a:lnTo>
                    <a:pt x="104353" y="395955"/>
                  </a:lnTo>
                  <a:lnTo>
                    <a:pt x="111045" y="395530"/>
                  </a:lnTo>
                  <a:lnTo>
                    <a:pt x="117737" y="395955"/>
                  </a:lnTo>
                  <a:lnTo>
                    <a:pt x="152944" y="412396"/>
                  </a:lnTo>
                  <a:lnTo>
                    <a:pt x="172336" y="445943"/>
                  </a:lnTo>
                  <a:lnTo>
                    <a:pt x="172767" y="452628"/>
                  </a:lnTo>
                  <a:lnTo>
                    <a:pt x="172767" y="457200"/>
                  </a:lnTo>
                  <a:lnTo>
                    <a:pt x="172767" y="460535"/>
                  </a:lnTo>
                  <a:lnTo>
                    <a:pt x="173092" y="463839"/>
                  </a:lnTo>
                  <a:lnTo>
                    <a:pt x="173743" y="467110"/>
                  </a:lnTo>
                  <a:lnTo>
                    <a:pt x="174394" y="470382"/>
                  </a:lnTo>
                  <a:lnTo>
                    <a:pt x="175357" y="473558"/>
                  </a:lnTo>
                  <a:lnTo>
                    <a:pt x="176634" y="476640"/>
                  </a:lnTo>
                  <a:lnTo>
                    <a:pt x="177910" y="479721"/>
                  </a:lnTo>
                  <a:lnTo>
                    <a:pt x="179475" y="482649"/>
                  </a:lnTo>
                  <a:lnTo>
                    <a:pt x="181328" y="485423"/>
                  </a:lnTo>
                  <a:lnTo>
                    <a:pt x="183182" y="488196"/>
                  </a:lnTo>
                  <a:lnTo>
                    <a:pt x="204127" y="504133"/>
                  </a:lnTo>
                  <a:lnTo>
                    <a:pt x="207208" y="505409"/>
                  </a:lnTo>
                  <a:lnTo>
                    <a:pt x="210385" y="506373"/>
                  </a:lnTo>
                  <a:lnTo>
                    <a:pt x="213656" y="507023"/>
                  </a:lnTo>
                  <a:lnTo>
                    <a:pt x="216928" y="507674"/>
                  </a:lnTo>
                  <a:lnTo>
                    <a:pt x="220232" y="508000"/>
                  </a:lnTo>
                  <a:lnTo>
                    <a:pt x="223567" y="508000"/>
                  </a:lnTo>
                  <a:lnTo>
                    <a:pt x="234743" y="508000"/>
                  </a:lnTo>
                  <a:lnTo>
                    <a:pt x="238079" y="508000"/>
                  </a:lnTo>
                  <a:lnTo>
                    <a:pt x="241382" y="507674"/>
                  </a:lnTo>
                  <a:lnTo>
                    <a:pt x="244654" y="507023"/>
                  </a:lnTo>
                  <a:lnTo>
                    <a:pt x="247925" y="506373"/>
                  </a:lnTo>
                  <a:lnTo>
                    <a:pt x="251102" y="505409"/>
                  </a:lnTo>
                  <a:lnTo>
                    <a:pt x="254183" y="504133"/>
                  </a:lnTo>
                  <a:lnTo>
                    <a:pt x="257265" y="502856"/>
                  </a:lnTo>
                  <a:lnTo>
                    <a:pt x="276982" y="485423"/>
                  </a:lnTo>
                  <a:lnTo>
                    <a:pt x="278835" y="482649"/>
                  </a:lnTo>
                  <a:lnTo>
                    <a:pt x="284567" y="467110"/>
                  </a:lnTo>
                  <a:lnTo>
                    <a:pt x="285218" y="463839"/>
                  </a:lnTo>
                  <a:lnTo>
                    <a:pt x="285543" y="460535"/>
                  </a:lnTo>
                  <a:lnTo>
                    <a:pt x="285543" y="457200"/>
                  </a:lnTo>
                  <a:lnTo>
                    <a:pt x="285543" y="452628"/>
                  </a:lnTo>
                  <a:lnTo>
                    <a:pt x="300410" y="416728"/>
                  </a:lnTo>
                  <a:lnTo>
                    <a:pt x="334109" y="397231"/>
                  </a:lnTo>
                  <a:lnTo>
                    <a:pt x="347265" y="395530"/>
                  </a:lnTo>
                  <a:lnTo>
                    <a:pt x="353957" y="395955"/>
                  </a:lnTo>
                  <a:lnTo>
                    <a:pt x="379361" y="406032"/>
                  </a:lnTo>
                  <a:lnTo>
                    <a:pt x="382382" y="407400"/>
                  </a:lnTo>
                  <a:lnTo>
                    <a:pt x="385537" y="408471"/>
                  </a:lnTo>
                  <a:lnTo>
                    <a:pt x="388692" y="409541"/>
                  </a:lnTo>
                  <a:lnTo>
                    <a:pt x="391921" y="410294"/>
                  </a:lnTo>
                  <a:lnTo>
                    <a:pt x="395224" y="410729"/>
                  </a:lnTo>
                  <a:lnTo>
                    <a:pt x="398528" y="411164"/>
                  </a:lnTo>
                  <a:lnTo>
                    <a:pt x="401842" y="411273"/>
                  </a:lnTo>
                  <a:lnTo>
                    <a:pt x="405166" y="411056"/>
                  </a:lnTo>
                  <a:lnTo>
                    <a:pt x="408491" y="410839"/>
                  </a:lnTo>
                  <a:lnTo>
                    <a:pt x="424293" y="405942"/>
                  </a:lnTo>
                  <a:lnTo>
                    <a:pt x="427283" y="404470"/>
                  </a:lnTo>
                  <a:lnTo>
                    <a:pt x="451405" y="375920"/>
                  </a:lnTo>
                  <a:lnTo>
                    <a:pt x="453070" y="373034"/>
                  </a:lnTo>
                  <a:lnTo>
                    <a:pt x="458311" y="350553"/>
                  </a:lnTo>
                  <a:lnTo>
                    <a:pt x="458094" y="347228"/>
                  </a:lnTo>
                  <a:lnTo>
                    <a:pt x="457877" y="343904"/>
                  </a:lnTo>
                  <a:lnTo>
                    <a:pt x="457338" y="340632"/>
                  </a:lnTo>
                  <a:lnTo>
                    <a:pt x="456477" y="337413"/>
                  </a:lnTo>
                  <a:lnTo>
                    <a:pt x="455617" y="334195"/>
                  </a:lnTo>
                  <a:lnTo>
                    <a:pt x="454451" y="331091"/>
                  </a:lnTo>
                  <a:lnTo>
                    <a:pt x="452979" y="328101"/>
                  </a:lnTo>
                  <a:lnTo>
                    <a:pt x="451508" y="325112"/>
                  </a:lnTo>
                  <a:lnTo>
                    <a:pt x="429053" y="304546"/>
                  </a:lnTo>
                  <a:lnTo>
                    <a:pt x="423450" y="300816"/>
                  </a:lnTo>
                  <a:lnTo>
                    <a:pt x="404055" y="267069"/>
                  </a:lnTo>
                  <a:lnTo>
                    <a:pt x="403653" y="260350"/>
                  </a:lnTo>
                  <a:lnTo>
                    <a:pt x="403653" y="247650"/>
                  </a:lnTo>
                  <a:lnTo>
                    <a:pt x="418474" y="211540"/>
                  </a:lnTo>
                  <a:lnTo>
                    <a:pt x="435746" y="199498"/>
                  </a:lnTo>
                  <a:lnTo>
                    <a:pt x="438439" y="197563"/>
                  </a:lnTo>
                  <a:lnTo>
                    <a:pt x="440941" y="195363"/>
                  </a:lnTo>
                  <a:lnTo>
                    <a:pt x="443444" y="193163"/>
                  </a:lnTo>
                  <a:lnTo>
                    <a:pt x="445708" y="190741"/>
                  </a:lnTo>
                  <a:lnTo>
                    <a:pt x="447733" y="188096"/>
                  </a:lnTo>
                  <a:lnTo>
                    <a:pt x="449759" y="185450"/>
                  </a:lnTo>
                  <a:lnTo>
                    <a:pt x="451508" y="182633"/>
                  </a:lnTo>
                  <a:lnTo>
                    <a:pt x="452979" y="179644"/>
                  </a:lnTo>
                  <a:lnTo>
                    <a:pt x="454451" y="176655"/>
                  </a:lnTo>
                  <a:lnTo>
                    <a:pt x="455617" y="173551"/>
                  </a:lnTo>
                  <a:lnTo>
                    <a:pt x="456477" y="170332"/>
                  </a:lnTo>
                  <a:lnTo>
                    <a:pt x="457338" y="167113"/>
                  </a:lnTo>
                  <a:lnTo>
                    <a:pt x="457877" y="163842"/>
                  </a:lnTo>
                  <a:lnTo>
                    <a:pt x="458094" y="160517"/>
                  </a:lnTo>
                  <a:lnTo>
                    <a:pt x="458311" y="157192"/>
                  </a:lnTo>
                  <a:lnTo>
                    <a:pt x="444147" y="119290"/>
                  </a:lnTo>
                  <a:lnTo>
                    <a:pt x="432745" y="107303"/>
                  </a:lnTo>
                  <a:lnTo>
                    <a:pt x="430100" y="105277"/>
                  </a:lnTo>
                  <a:lnTo>
                    <a:pt x="427283" y="103529"/>
                  </a:lnTo>
                  <a:lnTo>
                    <a:pt x="424293" y="102058"/>
                  </a:lnTo>
                  <a:lnTo>
                    <a:pt x="421304" y="100586"/>
                  </a:lnTo>
                  <a:lnTo>
                    <a:pt x="418200" y="99420"/>
                  </a:lnTo>
                  <a:lnTo>
                    <a:pt x="414981" y="98559"/>
                  </a:lnTo>
                  <a:lnTo>
                    <a:pt x="411763" y="97699"/>
                  </a:lnTo>
                  <a:lnTo>
                    <a:pt x="408491" y="97160"/>
                  </a:lnTo>
                  <a:lnTo>
                    <a:pt x="405166" y="96943"/>
                  </a:lnTo>
                  <a:lnTo>
                    <a:pt x="401842" y="96726"/>
                  </a:lnTo>
                  <a:lnTo>
                    <a:pt x="398528" y="96835"/>
                  </a:lnTo>
                  <a:lnTo>
                    <a:pt x="395224" y="97270"/>
                  </a:lnTo>
                  <a:lnTo>
                    <a:pt x="391921" y="97705"/>
                  </a:lnTo>
                  <a:lnTo>
                    <a:pt x="388692" y="98458"/>
                  </a:lnTo>
                  <a:lnTo>
                    <a:pt x="385537" y="99529"/>
                  </a:lnTo>
                  <a:lnTo>
                    <a:pt x="382382" y="100599"/>
                  </a:lnTo>
                  <a:lnTo>
                    <a:pt x="379361" y="101967"/>
                  </a:lnTo>
                  <a:lnTo>
                    <a:pt x="376475" y="103632"/>
                  </a:lnTo>
                  <a:lnTo>
                    <a:pt x="372665" y="105664"/>
                  </a:lnTo>
                  <a:lnTo>
                    <a:pt x="366657" y="108641"/>
                  </a:lnTo>
                  <a:lnTo>
                    <a:pt x="360421" y="110768"/>
                  </a:lnTo>
                  <a:lnTo>
                    <a:pt x="353957" y="112044"/>
                  </a:lnTo>
                  <a:lnTo>
                    <a:pt x="347265" y="112469"/>
                  </a:lnTo>
                  <a:lnTo>
                    <a:pt x="340573" y="112044"/>
                  </a:lnTo>
                  <a:lnTo>
                    <a:pt x="305366" y="95603"/>
                  </a:lnTo>
                  <a:lnTo>
                    <a:pt x="285975" y="62056"/>
                  </a:lnTo>
                  <a:lnTo>
                    <a:pt x="285543" y="55372"/>
                  </a:lnTo>
                  <a:lnTo>
                    <a:pt x="285543" y="50800"/>
                  </a:lnTo>
                  <a:lnTo>
                    <a:pt x="285543" y="47464"/>
                  </a:lnTo>
                  <a:lnTo>
                    <a:pt x="285218" y="44160"/>
                  </a:lnTo>
                  <a:lnTo>
                    <a:pt x="284567" y="40889"/>
                  </a:lnTo>
                  <a:lnTo>
                    <a:pt x="283916" y="37617"/>
                  </a:lnTo>
                  <a:lnTo>
                    <a:pt x="270664" y="14878"/>
                  </a:lnTo>
                  <a:lnTo>
                    <a:pt x="268306" y="12520"/>
                  </a:lnTo>
                  <a:lnTo>
                    <a:pt x="244654" y="976"/>
                  </a:lnTo>
                  <a:lnTo>
                    <a:pt x="241382" y="325"/>
                  </a:lnTo>
                  <a:lnTo>
                    <a:pt x="238079" y="0"/>
                  </a:lnTo>
                  <a:lnTo>
                    <a:pt x="234743" y="0"/>
                  </a:lnTo>
                  <a:close/>
                </a:path>
              </a:pathLst>
            </a:custGeom>
            <a:ln w="508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6000" y="3403600"/>
              <a:ext cx="203200" cy="203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712998" y="3798887"/>
            <a:ext cx="4749165" cy="16770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3050" b="1" spc="-235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7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20" dirty="0">
                <a:solidFill>
                  <a:srgbClr val="FFFFFF"/>
                </a:solidFill>
                <a:latin typeface="Arial"/>
                <a:cs typeface="Arial"/>
              </a:rPr>
              <a:t>Tune</a:t>
            </a:r>
            <a:endParaRPr sz="3050">
              <a:latin typeface="Arial"/>
              <a:cs typeface="Arial"/>
            </a:endParaRPr>
          </a:p>
          <a:p>
            <a:pPr marL="12700" marR="5080" indent="50800" algn="just">
              <a:lnSpc>
                <a:spcPts val="2400"/>
              </a:lnSpc>
              <a:spcBef>
                <a:spcPts val="994"/>
              </a:spcBef>
            </a:pP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Compared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1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other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D0D5DA"/>
                </a:solidFill>
                <a:latin typeface="Microsoft Sans Serif"/>
                <a:cs typeface="Microsoft Sans Serif"/>
              </a:rPr>
              <a:t>RL</a:t>
            </a:r>
            <a:r>
              <a:rPr sz="2000" spc="1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algorithms</a:t>
            </a:r>
            <a:r>
              <a:rPr sz="20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35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2000" spc="10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has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fewer</a:t>
            </a: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hyperparameters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works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well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default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settings</a:t>
            </a:r>
            <a:r>
              <a:rPr sz="20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20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making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beginner</a:t>
            </a:r>
            <a:r>
              <a:rPr sz="20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friendly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200" y="7543800"/>
            <a:ext cx="17373600" cy="1905000"/>
            <a:chOff x="457200" y="7543800"/>
            <a:chExt cx="17373600" cy="1905000"/>
          </a:xfrm>
        </p:grpSpPr>
        <p:sp>
          <p:nvSpPr>
            <p:cNvPr id="25" name="object 25"/>
            <p:cNvSpPr/>
            <p:nvPr/>
          </p:nvSpPr>
          <p:spPr>
            <a:xfrm>
              <a:off x="476249" y="7543800"/>
              <a:ext cx="17354550" cy="1905000"/>
            </a:xfrm>
            <a:custGeom>
              <a:avLst/>
              <a:gdLst/>
              <a:ahLst/>
              <a:cxnLst/>
              <a:rect l="l" t="t" r="r" b="b"/>
              <a:pathLst>
                <a:path w="17354550" h="1905000">
                  <a:moveTo>
                    <a:pt x="17283352" y="1904999"/>
                  </a:moveTo>
                  <a:lnTo>
                    <a:pt x="53397" y="1904999"/>
                  </a:lnTo>
                  <a:lnTo>
                    <a:pt x="49680" y="1904511"/>
                  </a:lnTo>
                  <a:lnTo>
                    <a:pt x="14085" y="1879143"/>
                  </a:lnTo>
                  <a:lnTo>
                    <a:pt x="366" y="1838758"/>
                  </a:lnTo>
                  <a:lnTo>
                    <a:pt x="0" y="1833803"/>
                  </a:lnTo>
                  <a:lnTo>
                    <a:pt x="0" y="1828800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7283352" y="0"/>
                  </a:lnTo>
                  <a:lnTo>
                    <a:pt x="17324842" y="15620"/>
                  </a:lnTo>
                  <a:lnTo>
                    <a:pt x="17350662" y="51660"/>
                  </a:lnTo>
                  <a:lnTo>
                    <a:pt x="17354549" y="71196"/>
                  </a:lnTo>
                  <a:lnTo>
                    <a:pt x="17354549" y="1833803"/>
                  </a:lnTo>
                  <a:lnTo>
                    <a:pt x="17338927" y="1875293"/>
                  </a:lnTo>
                  <a:lnTo>
                    <a:pt x="17302886" y="1901112"/>
                  </a:lnTo>
                  <a:lnTo>
                    <a:pt x="17288306" y="1904511"/>
                  </a:lnTo>
                  <a:lnTo>
                    <a:pt x="17283352" y="19049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7544077"/>
              <a:ext cx="70485" cy="1905000"/>
            </a:xfrm>
            <a:custGeom>
              <a:avLst/>
              <a:gdLst/>
              <a:ahLst/>
              <a:cxnLst/>
              <a:rect l="l" t="t" r="r" b="b"/>
              <a:pathLst>
                <a:path w="70484" h="1905000">
                  <a:moveTo>
                    <a:pt x="70450" y="1904444"/>
                  </a:moveTo>
                  <a:lnTo>
                    <a:pt x="33857" y="1891891"/>
                  </a:lnTo>
                  <a:lnTo>
                    <a:pt x="5800" y="1857682"/>
                  </a:lnTo>
                  <a:lnTo>
                    <a:pt x="0" y="18285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1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1828522"/>
                  </a:lnTo>
                  <a:lnTo>
                    <a:pt x="44514" y="1870864"/>
                  </a:lnTo>
                  <a:lnTo>
                    <a:pt x="66287" y="1902788"/>
                  </a:lnTo>
                  <a:lnTo>
                    <a:pt x="70450" y="19044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9258" y="783576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1513" y="101731"/>
                  </a:moveTo>
                  <a:lnTo>
                    <a:pt x="252472" y="106435"/>
                  </a:lnTo>
                  <a:lnTo>
                    <a:pt x="253161" y="111177"/>
                  </a:lnTo>
                  <a:lnTo>
                    <a:pt x="253582" y="115959"/>
                  </a:lnTo>
                  <a:lnTo>
                    <a:pt x="254003" y="120740"/>
                  </a:lnTo>
                  <a:lnTo>
                    <a:pt x="254152" y="125530"/>
                  </a:lnTo>
                  <a:lnTo>
                    <a:pt x="254029" y="130329"/>
                  </a:lnTo>
                  <a:lnTo>
                    <a:pt x="253907" y="135127"/>
                  </a:lnTo>
                  <a:lnTo>
                    <a:pt x="253514" y="139904"/>
                  </a:lnTo>
                  <a:lnTo>
                    <a:pt x="252849" y="144657"/>
                  </a:lnTo>
                  <a:lnTo>
                    <a:pt x="252185" y="149411"/>
                  </a:lnTo>
                  <a:lnTo>
                    <a:pt x="251255" y="154112"/>
                  </a:lnTo>
                  <a:lnTo>
                    <a:pt x="250058" y="158761"/>
                  </a:lnTo>
                  <a:lnTo>
                    <a:pt x="248861" y="163409"/>
                  </a:lnTo>
                  <a:lnTo>
                    <a:pt x="232470" y="197941"/>
                  </a:lnTo>
                  <a:lnTo>
                    <a:pt x="229792" y="201924"/>
                  </a:lnTo>
                  <a:lnTo>
                    <a:pt x="202828" y="229019"/>
                  </a:lnTo>
                  <a:lnTo>
                    <a:pt x="198976" y="231882"/>
                  </a:lnTo>
                  <a:lnTo>
                    <a:pt x="178000" y="243429"/>
                  </a:lnTo>
                  <a:lnTo>
                    <a:pt x="173603" y="245354"/>
                  </a:lnTo>
                  <a:lnTo>
                    <a:pt x="169111" y="247025"/>
                  </a:lnTo>
                  <a:lnTo>
                    <a:pt x="164524" y="248440"/>
                  </a:lnTo>
                  <a:lnTo>
                    <a:pt x="159938" y="249856"/>
                  </a:lnTo>
                  <a:lnTo>
                    <a:pt x="136312" y="253752"/>
                  </a:lnTo>
                  <a:lnTo>
                    <a:pt x="131525" y="254101"/>
                  </a:lnTo>
                  <a:lnTo>
                    <a:pt x="126733" y="254179"/>
                  </a:lnTo>
                  <a:lnTo>
                    <a:pt x="121937" y="253985"/>
                  </a:lnTo>
                  <a:lnTo>
                    <a:pt x="117141" y="253791"/>
                  </a:lnTo>
                  <a:lnTo>
                    <a:pt x="79937" y="245018"/>
                  </a:lnTo>
                  <a:lnTo>
                    <a:pt x="75479" y="243237"/>
                  </a:lnTo>
                  <a:lnTo>
                    <a:pt x="54654" y="231419"/>
                  </a:lnTo>
                  <a:lnTo>
                    <a:pt x="50711" y="228682"/>
                  </a:lnTo>
                  <a:lnTo>
                    <a:pt x="46935" y="225731"/>
                  </a:lnTo>
                  <a:lnTo>
                    <a:pt x="43326" y="222566"/>
                  </a:lnTo>
                  <a:lnTo>
                    <a:pt x="39718" y="219401"/>
                  </a:lnTo>
                  <a:lnTo>
                    <a:pt x="36300" y="216042"/>
                  </a:lnTo>
                  <a:lnTo>
                    <a:pt x="33072" y="212489"/>
                  </a:lnTo>
                  <a:lnTo>
                    <a:pt x="29844" y="208936"/>
                  </a:lnTo>
                  <a:lnTo>
                    <a:pt x="26827" y="205212"/>
                  </a:lnTo>
                  <a:lnTo>
                    <a:pt x="24022" y="201318"/>
                  </a:lnTo>
                  <a:lnTo>
                    <a:pt x="21216" y="197423"/>
                  </a:lnTo>
                  <a:lnTo>
                    <a:pt x="18640" y="193382"/>
                  </a:lnTo>
                  <a:lnTo>
                    <a:pt x="16293" y="189195"/>
                  </a:lnTo>
                  <a:lnTo>
                    <a:pt x="13945" y="185008"/>
                  </a:lnTo>
                  <a:lnTo>
                    <a:pt x="11842" y="180702"/>
                  </a:lnTo>
                  <a:lnTo>
                    <a:pt x="9983" y="176277"/>
                  </a:lnTo>
                  <a:lnTo>
                    <a:pt x="8124" y="171851"/>
                  </a:lnTo>
                  <a:lnTo>
                    <a:pt x="6521" y="167335"/>
                  </a:lnTo>
                  <a:lnTo>
                    <a:pt x="5174" y="162728"/>
                  </a:lnTo>
                  <a:lnTo>
                    <a:pt x="3827" y="158121"/>
                  </a:lnTo>
                  <a:lnTo>
                    <a:pt x="2744" y="153452"/>
                  </a:lnTo>
                  <a:lnTo>
                    <a:pt x="1927" y="148722"/>
                  </a:lnTo>
                  <a:lnTo>
                    <a:pt x="1109" y="143992"/>
                  </a:lnTo>
                  <a:lnTo>
                    <a:pt x="561" y="139232"/>
                  </a:lnTo>
                  <a:lnTo>
                    <a:pt x="283" y="134440"/>
                  </a:lnTo>
                  <a:lnTo>
                    <a:pt x="6" y="129648"/>
                  </a:lnTo>
                  <a:lnTo>
                    <a:pt x="0" y="124855"/>
                  </a:lnTo>
                  <a:lnTo>
                    <a:pt x="265" y="120063"/>
                  </a:lnTo>
                  <a:lnTo>
                    <a:pt x="531" y="115270"/>
                  </a:lnTo>
                  <a:lnTo>
                    <a:pt x="1066" y="110508"/>
                  </a:lnTo>
                  <a:lnTo>
                    <a:pt x="1872" y="105776"/>
                  </a:lnTo>
                  <a:lnTo>
                    <a:pt x="2677" y="101044"/>
                  </a:lnTo>
                  <a:lnTo>
                    <a:pt x="9857" y="78201"/>
                  </a:lnTo>
                  <a:lnTo>
                    <a:pt x="11705" y="73771"/>
                  </a:lnTo>
                  <a:lnTo>
                    <a:pt x="32853" y="41929"/>
                  </a:lnTo>
                  <a:lnTo>
                    <a:pt x="43082" y="31826"/>
                  </a:lnTo>
                  <a:lnTo>
                    <a:pt x="46682" y="28652"/>
                  </a:lnTo>
                  <a:lnTo>
                    <a:pt x="66623" y="15396"/>
                  </a:lnTo>
                  <a:lnTo>
                    <a:pt x="70845" y="13112"/>
                  </a:lnTo>
                  <a:lnTo>
                    <a:pt x="93253" y="4674"/>
                  </a:lnTo>
                  <a:lnTo>
                    <a:pt x="97880" y="3395"/>
                  </a:lnTo>
                  <a:lnTo>
                    <a:pt x="126407" y="0"/>
                  </a:lnTo>
                  <a:lnTo>
                    <a:pt x="131199" y="65"/>
                  </a:lnTo>
                  <a:lnTo>
                    <a:pt x="135987" y="402"/>
                  </a:lnTo>
                  <a:lnTo>
                    <a:pt x="140775" y="739"/>
                  </a:lnTo>
                  <a:lnTo>
                    <a:pt x="145529" y="1345"/>
                  </a:lnTo>
                  <a:lnTo>
                    <a:pt x="150248" y="2221"/>
                  </a:lnTo>
                  <a:lnTo>
                    <a:pt x="154968" y="3097"/>
                  </a:lnTo>
                  <a:lnTo>
                    <a:pt x="159623" y="4237"/>
                  </a:lnTo>
                  <a:lnTo>
                    <a:pt x="164213" y="5641"/>
                  </a:lnTo>
                  <a:lnTo>
                    <a:pt x="168803" y="7045"/>
                  </a:lnTo>
                  <a:lnTo>
                    <a:pt x="173299" y="8704"/>
                  </a:lnTo>
                  <a:lnTo>
                    <a:pt x="177701" y="10617"/>
                  </a:lnTo>
                  <a:lnTo>
                    <a:pt x="182103" y="12531"/>
                  </a:lnTo>
                  <a:lnTo>
                    <a:pt x="186383" y="14687"/>
                  </a:lnTo>
                  <a:lnTo>
                    <a:pt x="190541" y="17086"/>
                  </a:lnTo>
                </a:path>
                <a:path w="254634" h="254634">
                  <a:moveTo>
                    <a:pt x="88941" y="114431"/>
                  </a:moveTo>
                  <a:lnTo>
                    <a:pt x="127041" y="152532"/>
                  </a:lnTo>
                  <a:lnTo>
                    <a:pt x="254041" y="25531"/>
                  </a:lnTo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11200" y="7585274"/>
            <a:ext cx="8214359" cy="164718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94"/>
              </a:spcBef>
            </a:pPr>
            <a:r>
              <a:rPr sz="3050" b="1" spc="-185" dirty="0">
                <a:solidFill>
                  <a:srgbClr val="38FF13"/>
                </a:solidFill>
                <a:latin typeface="Arial"/>
                <a:cs typeface="Arial"/>
              </a:rPr>
              <a:t>Why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200" dirty="0">
                <a:solidFill>
                  <a:srgbClr val="38FF13"/>
                </a:solidFill>
                <a:latin typeface="Arial"/>
                <a:cs typeface="Arial"/>
              </a:rPr>
              <a:t>We</a:t>
            </a:r>
            <a:r>
              <a:rPr sz="3050" b="1" spc="-14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204" dirty="0">
                <a:solidFill>
                  <a:srgbClr val="38FF13"/>
                </a:solidFill>
                <a:latin typeface="Arial"/>
                <a:cs typeface="Arial"/>
              </a:rPr>
              <a:t>Chose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310" dirty="0">
                <a:solidFill>
                  <a:srgbClr val="38FF13"/>
                </a:solidFill>
                <a:latin typeface="Arial"/>
                <a:cs typeface="Arial"/>
              </a:rPr>
              <a:t>PPO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135" dirty="0">
                <a:solidFill>
                  <a:srgbClr val="38FF13"/>
                </a:solidFill>
                <a:latin typeface="Arial"/>
                <a:cs typeface="Arial"/>
              </a:rPr>
              <a:t>for</a:t>
            </a:r>
            <a:r>
              <a:rPr sz="3050" b="1" spc="-14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35" dirty="0">
                <a:solidFill>
                  <a:srgbClr val="38FF13"/>
                </a:solidFill>
                <a:latin typeface="Arial"/>
                <a:cs typeface="Arial"/>
              </a:rPr>
              <a:t>Racing</a:t>
            </a:r>
            <a:endParaRPr sz="3050">
              <a:latin typeface="Arial"/>
              <a:cs typeface="Arial"/>
            </a:endParaRPr>
          </a:p>
          <a:p>
            <a:pPr marL="254000" indent="-241300">
              <a:lnSpc>
                <a:spcPct val="100000"/>
              </a:lnSpc>
              <a:spcBef>
                <a:spcPts val="69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Proven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success</a:t>
            </a:r>
            <a:r>
              <a:rPr sz="25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complex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control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tasks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600" spc="-35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robotics</a:t>
            </a:r>
            <a:r>
              <a:rPr sz="2600" spc="-35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600" spc="-1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games</a:t>
            </a:r>
            <a:r>
              <a:rPr sz="2600" spc="-45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600">
              <a:latin typeface="Century Gothic"/>
              <a:cs typeface="Century Gothic"/>
            </a:endParaRPr>
          </a:p>
          <a:p>
            <a:pPr marL="254000" indent="-241300">
              <a:lnSpc>
                <a:spcPct val="100000"/>
              </a:lnSpc>
              <a:spcBef>
                <a:spcPts val="148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Good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balance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exploration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exploitation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028269" y="9926637"/>
            <a:ext cx="81534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14</a:t>
            </a:fld>
            <a:r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64650" y="8079975"/>
            <a:ext cx="7035800" cy="115252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254000" indent="-241300">
              <a:lnSpc>
                <a:spcPct val="100000"/>
              </a:lnSpc>
              <a:spcBef>
                <a:spcPts val="145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Stable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reliable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process</a:t>
            </a:r>
            <a:endParaRPr sz="2500">
              <a:latin typeface="Microsoft Sans Serif"/>
              <a:cs typeface="Microsoft Sans Serif"/>
            </a:endParaRPr>
          </a:p>
          <a:p>
            <a:pPr marL="254000" indent="-241300">
              <a:lnSpc>
                <a:spcPct val="100000"/>
              </a:lnSpc>
              <a:spcBef>
                <a:spcPts val="150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Industry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standard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continuous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control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problems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8C73B-CB13-E273-36D4-91C7382C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D57E69-815C-22A2-8F24-69A79599D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7666355" cy="80264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0" spc="-265" dirty="0">
                <a:solidFill>
                  <a:srgbClr val="FF6A34"/>
                </a:solidFill>
              </a:rPr>
              <a:t>DQN Algorithm Introduction</a:t>
            </a:r>
            <a:endParaRPr lang="en-US" b="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3D241E3-A66D-8B0B-62F4-D15343B6E27A}"/>
              </a:ext>
            </a:extLst>
          </p:cNvPr>
          <p:cNvGrpSpPr/>
          <p:nvPr/>
        </p:nvGrpSpPr>
        <p:grpSpPr>
          <a:xfrm>
            <a:off x="5019675" y="1200150"/>
            <a:ext cx="419100" cy="419100"/>
            <a:chOff x="5019675" y="1200150"/>
            <a:chExt cx="419100" cy="4191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D90B638-D74B-0342-DFC5-B3B9BE54673B}"/>
                </a:ext>
              </a:extLst>
            </p:cNvPr>
            <p:cNvSpPr/>
            <p:nvPr/>
          </p:nvSpPr>
          <p:spPr>
            <a:xfrm>
              <a:off x="5076824" y="12573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0"/>
                  </a:moveTo>
                  <a:lnTo>
                    <a:pt x="266700" y="0"/>
                  </a:lnTo>
                  <a:lnTo>
                    <a:pt x="271752" y="0"/>
                  </a:lnTo>
                  <a:lnTo>
                    <a:pt x="276612" y="966"/>
                  </a:lnTo>
                  <a:lnTo>
                    <a:pt x="281280" y="2900"/>
                  </a:lnTo>
                  <a:lnTo>
                    <a:pt x="285948" y="4833"/>
                  </a:lnTo>
                  <a:lnTo>
                    <a:pt x="290068" y="7586"/>
                  </a:lnTo>
                  <a:lnTo>
                    <a:pt x="304800" y="38100"/>
                  </a:lnTo>
                  <a:lnTo>
                    <a:pt x="304800" y="266700"/>
                  </a:lnTo>
                  <a:lnTo>
                    <a:pt x="285948" y="299966"/>
                  </a:lnTo>
                  <a:lnTo>
                    <a:pt x="266700" y="304800"/>
                  </a:lnTo>
                  <a:lnTo>
                    <a:pt x="38100" y="304800"/>
                  </a:lnTo>
                  <a:lnTo>
                    <a:pt x="4833" y="285948"/>
                  </a:lnTo>
                  <a:lnTo>
                    <a:pt x="2900" y="281280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700"/>
                  </a:lnTo>
                  <a:lnTo>
                    <a:pt x="0" y="38100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11B7261-53C2-C7F5-4CEF-19314769A0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3024" y="1333500"/>
              <a:ext cx="152400" cy="15240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C10BC9A-C01D-4337-6CC1-798AA8CD87A5}"/>
                </a:ext>
              </a:extLst>
            </p:cNvPr>
            <p:cNvSpPr/>
            <p:nvPr/>
          </p:nvSpPr>
          <p:spPr>
            <a:xfrm>
              <a:off x="5038725" y="1219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47650" y="0"/>
                  </a:moveTo>
                  <a:lnTo>
                    <a:pt x="247650" y="38100"/>
                  </a:lnTo>
                </a:path>
                <a:path w="381000" h="381000">
                  <a:moveTo>
                    <a:pt x="247650" y="342900"/>
                  </a:moveTo>
                  <a:lnTo>
                    <a:pt x="247650" y="381000"/>
                  </a:lnTo>
                </a:path>
                <a:path w="381000" h="381000">
                  <a:moveTo>
                    <a:pt x="0" y="247650"/>
                  </a:moveTo>
                  <a:lnTo>
                    <a:pt x="38100" y="247650"/>
                  </a:lnTo>
                </a:path>
                <a:path w="381000" h="381000">
                  <a:moveTo>
                    <a:pt x="0" y="133350"/>
                  </a:moveTo>
                  <a:lnTo>
                    <a:pt x="38100" y="133350"/>
                  </a:lnTo>
                </a:path>
                <a:path w="381000" h="381000">
                  <a:moveTo>
                    <a:pt x="342900" y="247650"/>
                  </a:moveTo>
                  <a:lnTo>
                    <a:pt x="381000" y="247650"/>
                  </a:lnTo>
                </a:path>
                <a:path w="381000" h="381000">
                  <a:moveTo>
                    <a:pt x="342900" y="133350"/>
                  </a:moveTo>
                  <a:lnTo>
                    <a:pt x="381000" y="133350"/>
                  </a:lnTo>
                </a:path>
                <a:path w="381000" h="381000">
                  <a:moveTo>
                    <a:pt x="133350" y="0"/>
                  </a:moveTo>
                  <a:lnTo>
                    <a:pt x="133350" y="38100"/>
                  </a:lnTo>
                </a:path>
                <a:path w="381000" h="381000">
                  <a:moveTo>
                    <a:pt x="133350" y="342900"/>
                  </a:moveTo>
                  <a:lnTo>
                    <a:pt x="133350" y="381000"/>
                  </a:lnTo>
                </a:path>
              </a:pathLst>
            </a:custGeom>
            <a:ln w="381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96BD4553-D083-0A3A-2CB2-78B07B88E864}"/>
              </a:ext>
            </a:extLst>
          </p:cNvPr>
          <p:cNvSpPr txBox="1"/>
          <p:nvPr/>
        </p:nvSpPr>
        <p:spPr>
          <a:xfrm>
            <a:off x="959189" y="946449"/>
            <a:ext cx="16378472" cy="1652312"/>
          </a:xfrm>
          <a:prstGeom prst="rect">
            <a:avLst/>
          </a:prstGeom>
        </p:spPr>
        <p:txBody>
          <a:bodyPr vert="horz" wrap="square" lIns="0" tIns="132080" rIns="0" bIns="0" rtlCol="0" anchor="t">
            <a:spAutoFit/>
          </a:bodyPr>
          <a:lstStyle/>
          <a:p>
            <a:pPr marL="609600" algn="ctr">
              <a:spcBef>
                <a:spcPts val="1040"/>
              </a:spcBef>
            </a:pPr>
            <a:r>
              <a:rPr lang="en-US" sz="4050" spc="-270" dirty="0">
                <a:solidFill>
                  <a:srgbClr val="FFFFFF"/>
                </a:solidFill>
              </a:rPr>
              <a:t>Deep Q-Network (DQN)</a:t>
            </a:r>
            <a:endParaRPr lang="en-US" dirty="0"/>
          </a:p>
          <a:p>
            <a:pPr marL="471170" marR="5080" indent="-459105">
              <a:lnSpc>
                <a:spcPct val="106700"/>
              </a:lnSpc>
              <a:spcBef>
                <a:spcPts val="370"/>
              </a:spcBef>
            </a:pPr>
            <a:r>
              <a:rPr lang="en-US" sz="2500" spc="-10" dirty="0">
                <a:solidFill>
                  <a:srgbClr val="D0D5DA"/>
                </a:solidFill>
              </a:rPr>
              <a:t>DQN is a foundational deep reinforcement learning algorithm that combines Q-learning with deep neural networks.</a:t>
            </a:r>
            <a:endParaRPr lang="en-US" sz="2500" spc="-30" dirty="0">
              <a:solidFill>
                <a:srgbClr val="00BEFF"/>
              </a:solidFill>
              <a:latin typeface="Microsoft Sans Serif"/>
              <a:cs typeface="Microsoft Sans Serif"/>
            </a:endParaRPr>
          </a:p>
          <a:p>
            <a:pPr marL="471170" marR="5080" indent="-459105">
              <a:lnSpc>
                <a:spcPct val="106700"/>
              </a:lnSpc>
              <a:spcBef>
                <a:spcPts val="370"/>
              </a:spcBef>
            </a:pPr>
            <a:r>
              <a:rPr lang="en-US" sz="2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 </a:t>
            </a:r>
            <a:r>
              <a:rPr lang="en-US" sz="2500" spc="-90" dirty="0">
                <a:solidFill>
                  <a:srgbClr val="00BEFF"/>
                </a:solidFill>
              </a:rPr>
              <a:t>It’s one of the earliest and most influential algorithms for training agents directly from high-dimensional input such as images.</a:t>
            </a:r>
            <a:endParaRPr lang="en-US" sz="2500" spc="-30">
              <a:solidFill>
                <a:srgbClr val="00BEFF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0AC0E8E0-C5E3-32A1-F982-7F4FE9960918}"/>
              </a:ext>
            </a:extLst>
          </p:cNvPr>
          <p:cNvGrpSpPr/>
          <p:nvPr/>
        </p:nvGrpSpPr>
        <p:grpSpPr>
          <a:xfrm>
            <a:off x="457200" y="2857499"/>
            <a:ext cx="5486400" cy="4381500"/>
            <a:chOff x="457200" y="2857499"/>
            <a:chExt cx="5486400" cy="43815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20064F5-0C60-A967-B7AD-D11D8D98687F}"/>
                </a:ext>
              </a:extLst>
            </p:cNvPr>
            <p:cNvSpPr/>
            <p:nvPr/>
          </p:nvSpPr>
          <p:spPr>
            <a:xfrm>
              <a:off x="457200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3" y="4362449"/>
                  </a:moveTo>
                  <a:lnTo>
                    <a:pt x="71196" y="4362449"/>
                  </a:lnTo>
                  <a:lnTo>
                    <a:pt x="66241" y="4361961"/>
                  </a:lnTo>
                  <a:lnTo>
                    <a:pt x="29705" y="4346827"/>
                  </a:lnTo>
                  <a:lnTo>
                    <a:pt x="3885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3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7" y="4358563"/>
                  </a:lnTo>
                  <a:lnTo>
                    <a:pt x="5420158" y="4361961"/>
                  </a:lnTo>
                  <a:lnTo>
                    <a:pt x="5415203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1FAA6CF-802C-8AAA-F25B-26695A3FC1A7}"/>
                </a:ext>
              </a:extLst>
            </p:cNvPr>
            <p:cNvSpPr/>
            <p:nvPr/>
          </p:nvSpPr>
          <p:spPr>
            <a:xfrm>
              <a:off x="457477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4" y="12829"/>
                  </a:lnTo>
                  <a:lnTo>
                    <a:pt x="5475831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5486400" h="70485">
                  <a:moveTo>
                    <a:pt x="5485844" y="70449"/>
                  </a:moveTo>
                  <a:lnTo>
                    <a:pt x="5452264" y="44514"/>
                  </a:lnTo>
                  <a:lnTo>
                    <a:pt x="5409922" y="38100"/>
                  </a:lnTo>
                  <a:lnTo>
                    <a:pt x="5475831" y="38100"/>
                  </a:lnTo>
                  <a:lnTo>
                    <a:pt x="5485759" y="68693"/>
                  </a:lnTo>
                  <a:lnTo>
                    <a:pt x="5485844" y="70449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19C7AF9-087B-16F4-6CBD-F2F287A1F32D}"/>
                </a:ext>
              </a:extLst>
            </p:cNvPr>
            <p:cNvSpPr/>
            <p:nvPr/>
          </p:nvSpPr>
          <p:spPr>
            <a:xfrm>
              <a:off x="2997200" y="3251188"/>
              <a:ext cx="406400" cy="509270"/>
            </a:xfrm>
            <a:custGeom>
              <a:avLst/>
              <a:gdLst/>
              <a:ahLst/>
              <a:cxnLst/>
              <a:rect l="l" t="t" r="r" b="b"/>
              <a:pathLst>
                <a:path w="406400" h="509270">
                  <a:moveTo>
                    <a:pt x="406400" y="279411"/>
                  </a:moveTo>
                  <a:lnTo>
                    <a:pt x="401167" y="330059"/>
                  </a:lnTo>
                  <a:lnTo>
                    <a:pt x="386311" y="373576"/>
                  </a:lnTo>
                  <a:lnTo>
                    <a:pt x="363092" y="410606"/>
                  </a:lnTo>
                  <a:lnTo>
                    <a:pt x="332774" y="441793"/>
                  </a:lnTo>
                  <a:lnTo>
                    <a:pt x="296617" y="467782"/>
                  </a:lnTo>
                  <a:lnTo>
                    <a:pt x="255883" y="489216"/>
                  </a:lnTo>
                  <a:lnTo>
                    <a:pt x="211836" y="506741"/>
                  </a:lnTo>
                  <a:lnTo>
                    <a:pt x="206133" y="508673"/>
                  </a:lnTo>
                  <a:lnTo>
                    <a:pt x="200460" y="508589"/>
                  </a:lnTo>
                  <a:lnTo>
                    <a:pt x="150676" y="489056"/>
                  </a:lnTo>
                  <a:lnTo>
                    <a:pt x="109875" y="467689"/>
                  </a:lnTo>
                  <a:lnTo>
                    <a:pt x="73673" y="441746"/>
                  </a:lnTo>
                  <a:lnTo>
                    <a:pt x="43327" y="410586"/>
                  </a:lnTo>
                  <a:lnTo>
                    <a:pt x="20094" y="373570"/>
                  </a:lnTo>
                  <a:lnTo>
                    <a:pt x="5233" y="330058"/>
                  </a:lnTo>
                  <a:lnTo>
                    <a:pt x="0" y="279411"/>
                  </a:lnTo>
                  <a:lnTo>
                    <a:pt x="0" y="101611"/>
                  </a:lnTo>
                  <a:lnTo>
                    <a:pt x="0" y="98243"/>
                  </a:lnTo>
                  <a:lnTo>
                    <a:pt x="7439" y="83650"/>
                  </a:lnTo>
                  <a:lnTo>
                    <a:pt x="9821" y="81269"/>
                  </a:lnTo>
                  <a:lnTo>
                    <a:pt x="12567" y="79433"/>
                  </a:lnTo>
                  <a:lnTo>
                    <a:pt x="15679" y="78144"/>
                  </a:lnTo>
                  <a:lnTo>
                    <a:pt x="18791" y="76855"/>
                  </a:lnTo>
                  <a:lnTo>
                    <a:pt x="22031" y="76211"/>
                  </a:lnTo>
                  <a:lnTo>
                    <a:pt x="25400" y="76211"/>
                  </a:lnTo>
                  <a:lnTo>
                    <a:pt x="65381" y="70845"/>
                  </a:lnTo>
                  <a:lnTo>
                    <a:pt x="107124" y="56145"/>
                  </a:lnTo>
                  <a:lnTo>
                    <a:pt x="147629" y="34206"/>
                  </a:lnTo>
                  <a:lnTo>
                    <a:pt x="183896" y="7123"/>
                  </a:lnTo>
                  <a:lnTo>
                    <a:pt x="186586" y="4824"/>
                  </a:lnTo>
                  <a:lnTo>
                    <a:pt x="189591" y="3062"/>
                  </a:lnTo>
                  <a:lnTo>
                    <a:pt x="192911" y="1837"/>
                  </a:lnTo>
                  <a:lnTo>
                    <a:pt x="196231" y="612"/>
                  </a:lnTo>
                  <a:lnTo>
                    <a:pt x="199661" y="0"/>
                  </a:lnTo>
                  <a:lnTo>
                    <a:pt x="203200" y="0"/>
                  </a:lnTo>
                  <a:lnTo>
                    <a:pt x="206738" y="0"/>
                  </a:lnTo>
                  <a:lnTo>
                    <a:pt x="210168" y="612"/>
                  </a:lnTo>
                  <a:lnTo>
                    <a:pt x="213488" y="1837"/>
                  </a:lnTo>
                  <a:lnTo>
                    <a:pt x="216808" y="3062"/>
                  </a:lnTo>
                  <a:lnTo>
                    <a:pt x="219813" y="4824"/>
                  </a:lnTo>
                  <a:lnTo>
                    <a:pt x="258877" y="34313"/>
                  </a:lnTo>
                  <a:lnTo>
                    <a:pt x="299370" y="56240"/>
                  </a:lnTo>
                  <a:lnTo>
                    <a:pt x="341054" y="70881"/>
                  </a:lnTo>
                  <a:lnTo>
                    <a:pt x="381000" y="76211"/>
                  </a:lnTo>
                  <a:lnTo>
                    <a:pt x="384368" y="76211"/>
                  </a:lnTo>
                  <a:lnTo>
                    <a:pt x="387608" y="76855"/>
                  </a:lnTo>
                  <a:lnTo>
                    <a:pt x="390720" y="78144"/>
                  </a:lnTo>
                  <a:lnTo>
                    <a:pt x="393832" y="79433"/>
                  </a:lnTo>
                  <a:lnTo>
                    <a:pt x="396578" y="81269"/>
                  </a:lnTo>
                  <a:lnTo>
                    <a:pt x="406400" y="101611"/>
                  </a:lnTo>
                  <a:lnTo>
                    <a:pt x="406400" y="279411"/>
                  </a:lnTo>
                  <a:close/>
                </a:path>
              </a:pathLst>
            </a:custGeom>
            <a:ln w="508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C19B1B14-FE86-37DE-DA07-C7AEDA6093FD}"/>
              </a:ext>
            </a:extLst>
          </p:cNvPr>
          <p:cNvSpPr txBox="1"/>
          <p:nvPr/>
        </p:nvSpPr>
        <p:spPr>
          <a:xfrm>
            <a:off x="826392" y="3778449"/>
            <a:ext cx="4748530" cy="2324995"/>
          </a:xfrm>
          <a:prstGeom prst="rect">
            <a:avLst/>
          </a:prstGeom>
        </p:spPr>
        <p:txBody>
          <a:bodyPr vert="horz" wrap="square" lIns="0" tIns="18669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Stable</a:t>
            </a:r>
            <a:r>
              <a:rPr sz="30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55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3050">
              <a:latin typeface="Arial"/>
              <a:cs typeface="Arial"/>
            </a:endParaRPr>
          </a:p>
          <a:p>
            <a:pPr marL="12700" marR="5080" indent="-635" algn="ctr">
              <a:lnSpc>
                <a:spcPts val="2400"/>
              </a:lnSpc>
              <a:spcBef>
                <a:spcPts val="994"/>
              </a:spcBef>
            </a:pPr>
            <a:r>
              <a:rPr lang="en-US" sz="2000" spc="-10" dirty="0">
                <a:solidFill>
                  <a:srgbClr val="D0D5DA"/>
                </a:solidFill>
              </a:rPr>
              <a:t>DQN uses target networks and experience replay to stabilize learning, minimizing correlations between consecutive updates and preventing divergence.</a:t>
            </a:r>
            <a:endParaRPr dirty="0"/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334E6073-0C6A-2FAB-CF69-9988657D0E52}"/>
              </a:ext>
            </a:extLst>
          </p:cNvPr>
          <p:cNvGrpSpPr/>
          <p:nvPr/>
        </p:nvGrpSpPr>
        <p:grpSpPr>
          <a:xfrm>
            <a:off x="6400799" y="2857499"/>
            <a:ext cx="5486400" cy="4381500"/>
            <a:chOff x="6400799" y="2857499"/>
            <a:chExt cx="5486400" cy="43815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B2AD32E-424C-FA2E-8D6A-884B7C974A63}"/>
                </a:ext>
              </a:extLst>
            </p:cNvPr>
            <p:cNvSpPr/>
            <p:nvPr/>
          </p:nvSpPr>
          <p:spPr>
            <a:xfrm>
              <a:off x="6400799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3" y="4362449"/>
                  </a:moveTo>
                  <a:lnTo>
                    <a:pt x="71197" y="4362449"/>
                  </a:lnTo>
                  <a:lnTo>
                    <a:pt x="66241" y="4361961"/>
                  </a:lnTo>
                  <a:lnTo>
                    <a:pt x="29705" y="4346827"/>
                  </a:lnTo>
                  <a:lnTo>
                    <a:pt x="3885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30"/>
                  </a:lnTo>
                  <a:lnTo>
                    <a:pt x="71197" y="0"/>
                  </a:lnTo>
                  <a:lnTo>
                    <a:pt x="5415203" y="0"/>
                  </a:lnTo>
                  <a:lnTo>
                    <a:pt x="5456692" y="11716"/>
                  </a:lnTo>
                  <a:lnTo>
                    <a:pt x="5483959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6" y="4358563"/>
                  </a:lnTo>
                  <a:lnTo>
                    <a:pt x="5420157" y="4361961"/>
                  </a:lnTo>
                  <a:lnTo>
                    <a:pt x="5415203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AC1EE91-FA38-0AEF-AFC0-29B98A94F74F}"/>
                </a:ext>
              </a:extLst>
            </p:cNvPr>
            <p:cNvSpPr/>
            <p:nvPr/>
          </p:nvSpPr>
          <p:spPr>
            <a:xfrm>
              <a:off x="6401077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29"/>
                  </a:lnTo>
                  <a:lnTo>
                    <a:pt x="5475830" y="38100"/>
                  </a:lnTo>
                  <a:lnTo>
                    <a:pt x="75922" y="38100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30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9556C26-5D07-8140-6997-98DE330E6294}"/>
                </a:ext>
              </a:extLst>
            </p:cNvPr>
            <p:cNvSpPr/>
            <p:nvPr/>
          </p:nvSpPr>
          <p:spPr>
            <a:xfrm>
              <a:off x="8914913" y="3250806"/>
              <a:ext cx="458470" cy="509270"/>
            </a:xfrm>
            <a:custGeom>
              <a:avLst/>
              <a:gdLst/>
              <a:ahLst/>
              <a:cxnLst/>
              <a:rect l="l" t="t" r="r" b="b"/>
              <a:pathLst>
                <a:path w="458470" h="509270">
                  <a:moveTo>
                    <a:pt x="25886" y="305193"/>
                  </a:moveTo>
                  <a:lnTo>
                    <a:pt x="20981" y="305210"/>
                  </a:lnTo>
                  <a:lnTo>
                    <a:pt x="16451" y="303914"/>
                  </a:lnTo>
                  <a:lnTo>
                    <a:pt x="12296" y="301307"/>
                  </a:lnTo>
                  <a:lnTo>
                    <a:pt x="8141" y="298699"/>
                  </a:lnTo>
                  <a:lnTo>
                    <a:pt x="5005" y="295182"/>
                  </a:lnTo>
                  <a:lnTo>
                    <a:pt x="2888" y="290757"/>
                  </a:lnTo>
                  <a:lnTo>
                    <a:pt x="770" y="286333"/>
                  </a:lnTo>
                  <a:lnTo>
                    <a:pt x="0" y="281684"/>
                  </a:lnTo>
                  <a:lnTo>
                    <a:pt x="575" y="276813"/>
                  </a:lnTo>
                  <a:lnTo>
                    <a:pt x="1151" y="271941"/>
                  </a:lnTo>
                  <a:lnTo>
                    <a:pt x="2984" y="267601"/>
                  </a:lnTo>
                  <a:lnTo>
                    <a:pt x="6074" y="263791"/>
                  </a:lnTo>
                  <a:lnTo>
                    <a:pt x="257534" y="4711"/>
                  </a:lnTo>
                  <a:lnTo>
                    <a:pt x="259477" y="2469"/>
                  </a:lnTo>
                  <a:lnTo>
                    <a:pt x="261907" y="1078"/>
                  </a:lnTo>
                  <a:lnTo>
                    <a:pt x="264824" y="539"/>
                  </a:lnTo>
                  <a:lnTo>
                    <a:pt x="267741" y="0"/>
                  </a:lnTo>
                  <a:lnTo>
                    <a:pt x="270507" y="429"/>
                  </a:lnTo>
                  <a:lnTo>
                    <a:pt x="273123" y="1829"/>
                  </a:lnTo>
                  <a:lnTo>
                    <a:pt x="275739" y="3228"/>
                  </a:lnTo>
                  <a:lnTo>
                    <a:pt x="277632" y="5290"/>
                  </a:lnTo>
                  <a:lnTo>
                    <a:pt x="278803" y="8016"/>
                  </a:lnTo>
                  <a:lnTo>
                    <a:pt x="279973" y="10742"/>
                  </a:lnTo>
                  <a:lnTo>
                    <a:pt x="280165" y="13535"/>
                  </a:lnTo>
                  <a:lnTo>
                    <a:pt x="279378" y="16395"/>
                  </a:lnTo>
                  <a:lnTo>
                    <a:pt x="230610" y="169303"/>
                  </a:lnTo>
                  <a:lnTo>
                    <a:pt x="229891" y="171228"/>
                  </a:lnTo>
                  <a:lnTo>
                    <a:pt x="229413" y="173210"/>
                  </a:lnTo>
                  <a:lnTo>
                    <a:pt x="229175" y="175251"/>
                  </a:lnTo>
                  <a:lnTo>
                    <a:pt x="228937" y="177291"/>
                  </a:lnTo>
                  <a:lnTo>
                    <a:pt x="228946" y="179330"/>
                  </a:lnTo>
                  <a:lnTo>
                    <a:pt x="229203" y="181369"/>
                  </a:lnTo>
                  <a:lnTo>
                    <a:pt x="229460" y="183407"/>
                  </a:lnTo>
                  <a:lnTo>
                    <a:pt x="229956" y="185385"/>
                  </a:lnTo>
                  <a:lnTo>
                    <a:pt x="230693" y="187302"/>
                  </a:lnTo>
                  <a:lnTo>
                    <a:pt x="231430" y="189220"/>
                  </a:lnTo>
                  <a:lnTo>
                    <a:pt x="232385" y="191022"/>
                  </a:lnTo>
                  <a:lnTo>
                    <a:pt x="233559" y="192708"/>
                  </a:lnTo>
                  <a:lnTo>
                    <a:pt x="234733" y="194393"/>
                  </a:lnTo>
                  <a:lnTo>
                    <a:pt x="236091" y="195915"/>
                  </a:lnTo>
                  <a:lnTo>
                    <a:pt x="237634" y="197271"/>
                  </a:lnTo>
                  <a:lnTo>
                    <a:pt x="239177" y="198627"/>
                  </a:lnTo>
                  <a:lnTo>
                    <a:pt x="252432" y="203600"/>
                  </a:lnTo>
                  <a:lnTo>
                    <a:pt x="254486" y="203593"/>
                  </a:lnTo>
                  <a:lnTo>
                    <a:pt x="432286" y="203593"/>
                  </a:lnTo>
                  <a:lnTo>
                    <a:pt x="455285" y="218029"/>
                  </a:lnTo>
                  <a:lnTo>
                    <a:pt x="457402" y="222454"/>
                  </a:lnTo>
                  <a:lnTo>
                    <a:pt x="458173" y="227102"/>
                  </a:lnTo>
                  <a:lnTo>
                    <a:pt x="457597" y="231974"/>
                  </a:lnTo>
                  <a:lnTo>
                    <a:pt x="457022" y="236845"/>
                  </a:lnTo>
                  <a:lnTo>
                    <a:pt x="455189" y="241186"/>
                  </a:lnTo>
                  <a:lnTo>
                    <a:pt x="452098" y="244995"/>
                  </a:lnTo>
                  <a:lnTo>
                    <a:pt x="200638" y="504075"/>
                  </a:lnTo>
                  <a:lnTo>
                    <a:pt x="198696" y="506318"/>
                  </a:lnTo>
                  <a:lnTo>
                    <a:pt x="196266" y="507708"/>
                  </a:lnTo>
                  <a:lnTo>
                    <a:pt x="193349" y="508248"/>
                  </a:lnTo>
                  <a:lnTo>
                    <a:pt x="190432" y="508787"/>
                  </a:lnTo>
                  <a:lnTo>
                    <a:pt x="187665" y="508357"/>
                  </a:lnTo>
                  <a:lnTo>
                    <a:pt x="185050" y="506958"/>
                  </a:lnTo>
                  <a:lnTo>
                    <a:pt x="182434" y="505559"/>
                  </a:lnTo>
                  <a:lnTo>
                    <a:pt x="180541" y="503497"/>
                  </a:lnTo>
                  <a:lnTo>
                    <a:pt x="179370" y="500771"/>
                  </a:lnTo>
                  <a:lnTo>
                    <a:pt x="178199" y="498045"/>
                  </a:lnTo>
                  <a:lnTo>
                    <a:pt x="178008" y="495252"/>
                  </a:lnTo>
                  <a:lnTo>
                    <a:pt x="178794" y="492391"/>
                  </a:lnTo>
                  <a:lnTo>
                    <a:pt x="227562" y="339483"/>
                  </a:lnTo>
                  <a:lnTo>
                    <a:pt x="228281" y="337559"/>
                  </a:lnTo>
                  <a:lnTo>
                    <a:pt x="228760" y="335577"/>
                  </a:lnTo>
                  <a:lnTo>
                    <a:pt x="228998" y="333536"/>
                  </a:lnTo>
                  <a:lnTo>
                    <a:pt x="229236" y="331496"/>
                  </a:lnTo>
                  <a:lnTo>
                    <a:pt x="229227" y="329456"/>
                  </a:lnTo>
                  <a:lnTo>
                    <a:pt x="228970" y="327418"/>
                  </a:lnTo>
                  <a:lnTo>
                    <a:pt x="228713" y="325380"/>
                  </a:lnTo>
                  <a:lnTo>
                    <a:pt x="228216" y="323402"/>
                  </a:lnTo>
                  <a:lnTo>
                    <a:pt x="227480" y="321484"/>
                  </a:lnTo>
                  <a:lnTo>
                    <a:pt x="226743" y="319567"/>
                  </a:lnTo>
                  <a:lnTo>
                    <a:pt x="225788" y="317765"/>
                  </a:lnTo>
                  <a:lnTo>
                    <a:pt x="224614" y="316079"/>
                  </a:lnTo>
                  <a:lnTo>
                    <a:pt x="223440" y="314393"/>
                  </a:lnTo>
                  <a:lnTo>
                    <a:pt x="209762" y="305910"/>
                  </a:lnTo>
                  <a:lnTo>
                    <a:pt x="207766" y="305426"/>
                  </a:lnTo>
                  <a:lnTo>
                    <a:pt x="205741" y="305187"/>
                  </a:lnTo>
                  <a:lnTo>
                    <a:pt x="203686" y="305193"/>
                  </a:lnTo>
                  <a:lnTo>
                    <a:pt x="25886" y="305193"/>
                  </a:lnTo>
                  <a:close/>
                </a:path>
              </a:pathLst>
            </a:custGeom>
            <a:ln w="508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25E534E9-34A4-DF0F-C9DD-ECE3CDB68096}"/>
              </a:ext>
            </a:extLst>
          </p:cNvPr>
          <p:cNvSpPr txBox="1"/>
          <p:nvPr/>
        </p:nvSpPr>
        <p:spPr>
          <a:xfrm>
            <a:off x="6724451" y="3778449"/>
            <a:ext cx="4839335" cy="2017219"/>
          </a:xfrm>
          <a:prstGeom prst="rect">
            <a:avLst/>
          </a:prstGeom>
        </p:spPr>
        <p:txBody>
          <a:bodyPr vert="horz" wrap="square" lIns="0" tIns="18669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050" b="1" spc="-195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305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30" dirty="0">
                <a:solidFill>
                  <a:srgbClr val="FFFFFF"/>
                </a:solidFill>
                <a:latin typeface="Arial"/>
                <a:cs typeface="Arial"/>
              </a:rPr>
              <a:t>Efficient</a:t>
            </a:r>
            <a:endParaRPr sz="3050">
              <a:latin typeface="Arial"/>
              <a:cs typeface="Arial"/>
            </a:endParaRPr>
          </a:p>
          <a:p>
            <a:pPr marL="12700" marR="5080" algn="ctr">
              <a:lnSpc>
                <a:spcPts val="2400"/>
              </a:lnSpc>
              <a:spcBef>
                <a:spcPts val="994"/>
              </a:spcBef>
            </a:pPr>
            <a:r>
              <a:rPr lang="en-US" sz="2000" dirty="0">
                <a:solidFill>
                  <a:srgbClr val="D0D5DA"/>
                </a:solidFill>
              </a:rPr>
              <a:t>By storing and reusing past experiences from the replay buffer, DQN improves data efficiency and learns effectively from fewer environment interactions.</a:t>
            </a:r>
            <a:endParaRPr dirty="0"/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C9CC8A13-E3CE-ABD6-900E-552992907E52}"/>
              </a:ext>
            </a:extLst>
          </p:cNvPr>
          <p:cNvGrpSpPr/>
          <p:nvPr/>
        </p:nvGrpSpPr>
        <p:grpSpPr>
          <a:xfrm>
            <a:off x="12344400" y="2857499"/>
            <a:ext cx="5486400" cy="4381500"/>
            <a:chOff x="12344400" y="2857499"/>
            <a:chExt cx="5486400" cy="4381500"/>
          </a:xfrm>
        </p:grpSpPr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A115984C-8F4E-7037-5332-9ED6669E9332}"/>
                </a:ext>
              </a:extLst>
            </p:cNvPr>
            <p:cNvSpPr/>
            <p:nvPr/>
          </p:nvSpPr>
          <p:spPr>
            <a:xfrm>
              <a:off x="12344400" y="2876550"/>
              <a:ext cx="5486400" cy="4362450"/>
            </a:xfrm>
            <a:custGeom>
              <a:avLst/>
              <a:gdLst/>
              <a:ahLst/>
              <a:cxnLst/>
              <a:rect l="l" t="t" r="r" b="b"/>
              <a:pathLst>
                <a:path w="5486400" h="4362450">
                  <a:moveTo>
                    <a:pt x="5415202" y="4362449"/>
                  </a:moveTo>
                  <a:lnTo>
                    <a:pt x="71196" y="4362449"/>
                  </a:lnTo>
                  <a:lnTo>
                    <a:pt x="66241" y="4361961"/>
                  </a:lnTo>
                  <a:lnTo>
                    <a:pt x="29703" y="4346827"/>
                  </a:lnTo>
                  <a:lnTo>
                    <a:pt x="3883" y="4310787"/>
                  </a:lnTo>
                  <a:lnTo>
                    <a:pt x="0" y="4291253"/>
                  </a:lnTo>
                  <a:lnTo>
                    <a:pt x="0" y="4286250"/>
                  </a:lnTo>
                  <a:lnTo>
                    <a:pt x="0" y="53397"/>
                  </a:lnTo>
                  <a:lnTo>
                    <a:pt x="18779" y="19391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2" y="11716"/>
                  </a:lnTo>
                  <a:lnTo>
                    <a:pt x="5483958" y="42319"/>
                  </a:lnTo>
                  <a:lnTo>
                    <a:pt x="5486399" y="53397"/>
                  </a:lnTo>
                  <a:lnTo>
                    <a:pt x="5486399" y="4291253"/>
                  </a:lnTo>
                  <a:lnTo>
                    <a:pt x="5470777" y="4332743"/>
                  </a:lnTo>
                  <a:lnTo>
                    <a:pt x="5434736" y="4358563"/>
                  </a:lnTo>
                  <a:lnTo>
                    <a:pt x="5420156" y="4361961"/>
                  </a:lnTo>
                  <a:lnTo>
                    <a:pt x="5415202" y="4362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5175D89-BF31-BC9A-A55B-CE3209FCAED9}"/>
                </a:ext>
              </a:extLst>
            </p:cNvPr>
            <p:cNvSpPr/>
            <p:nvPr/>
          </p:nvSpPr>
          <p:spPr>
            <a:xfrm>
              <a:off x="12344678" y="2857499"/>
              <a:ext cx="5486400" cy="70485"/>
            </a:xfrm>
            <a:custGeom>
              <a:avLst/>
              <a:gdLst/>
              <a:ahLst/>
              <a:cxnLst/>
              <a:rect l="l" t="t" r="r" b="b"/>
              <a:pathLst>
                <a:path w="5486400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5409922" y="0"/>
                  </a:lnTo>
                  <a:lnTo>
                    <a:pt x="5452262" y="12829"/>
                  </a:lnTo>
                  <a:lnTo>
                    <a:pt x="5475828" y="38100"/>
                  </a:lnTo>
                  <a:lnTo>
                    <a:pt x="75922" y="38100"/>
                  </a:lnTo>
                  <a:lnTo>
                    <a:pt x="68414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5486400" h="70485">
                  <a:moveTo>
                    <a:pt x="5485844" y="70450"/>
                  </a:moveTo>
                  <a:lnTo>
                    <a:pt x="5452262" y="44514"/>
                  </a:lnTo>
                  <a:lnTo>
                    <a:pt x="5409922" y="38100"/>
                  </a:lnTo>
                  <a:lnTo>
                    <a:pt x="5475828" y="38100"/>
                  </a:lnTo>
                  <a:lnTo>
                    <a:pt x="5485759" y="68693"/>
                  </a:lnTo>
                  <a:lnTo>
                    <a:pt x="5485844" y="70450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DB8DAFD-4E76-AA5B-3EDA-095B75605A52}"/>
                </a:ext>
              </a:extLst>
            </p:cNvPr>
            <p:cNvSpPr/>
            <p:nvPr/>
          </p:nvSpPr>
          <p:spPr>
            <a:xfrm>
              <a:off x="14858444" y="3251200"/>
              <a:ext cx="458470" cy="508000"/>
            </a:xfrm>
            <a:custGeom>
              <a:avLst/>
              <a:gdLst/>
              <a:ahLst/>
              <a:cxnLst/>
              <a:rect l="l" t="t" r="r" b="b"/>
              <a:pathLst>
                <a:path w="458469" h="508000">
                  <a:moveTo>
                    <a:pt x="234743" y="0"/>
                  </a:moveTo>
                  <a:lnTo>
                    <a:pt x="223567" y="0"/>
                  </a:lnTo>
                  <a:lnTo>
                    <a:pt x="220232" y="0"/>
                  </a:lnTo>
                  <a:lnTo>
                    <a:pt x="216928" y="325"/>
                  </a:lnTo>
                  <a:lnTo>
                    <a:pt x="213656" y="976"/>
                  </a:lnTo>
                  <a:lnTo>
                    <a:pt x="210385" y="1626"/>
                  </a:lnTo>
                  <a:lnTo>
                    <a:pt x="207208" y="2590"/>
                  </a:lnTo>
                  <a:lnTo>
                    <a:pt x="204127" y="3866"/>
                  </a:lnTo>
                  <a:lnTo>
                    <a:pt x="201045" y="5143"/>
                  </a:lnTo>
                  <a:lnTo>
                    <a:pt x="198118" y="6708"/>
                  </a:lnTo>
                  <a:lnTo>
                    <a:pt x="195344" y="8561"/>
                  </a:lnTo>
                  <a:lnTo>
                    <a:pt x="192571" y="10414"/>
                  </a:lnTo>
                  <a:lnTo>
                    <a:pt x="190005" y="12520"/>
                  </a:lnTo>
                  <a:lnTo>
                    <a:pt x="187646" y="14878"/>
                  </a:lnTo>
                  <a:lnTo>
                    <a:pt x="185287" y="17237"/>
                  </a:lnTo>
                  <a:lnTo>
                    <a:pt x="183182" y="19803"/>
                  </a:lnTo>
                  <a:lnTo>
                    <a:pt x="181328" y="22577"/>
                  </a:lnTo>
                  <a:lnTo>
                    <a:pt x="179475" y="25350"/>
                  </a:lnTo>
                  <a:lnTo>
                    <a:pt x="177910" y="28278"/>
                  </a:lnTo>
                  <a:lnTo>
                    <a:pt x="176634" y="31359"/>
                  </a:lnTo>
                  <a:lnTo>
                    <a:pt x="175358" y="34441"/>
                  </a:lnTo>
                  <a:lnTo>
                    <a:pt x="174394" y="37617"/>
                  </a:lnTo>
                  <a:lnTo>
                    <a:pt x="173743" y="40889"/>
                  </a:lnTo>
                  <a:lnTo>
                    <a:pt x="173092" y="44160"/>
                  </a:lnTo>
                  <a:lnTo>
                    <a:pt x="172767" y="47464"/>
                  </a:lnTo>
                  <a:lnTo>
                    <a:pt x="172767" y="50800"/>
                  </a:lnTo>
                  <a:lnTo>
                    <a:pt x="172767" y="55372"/>
                  </a:lnTo>
                  <a:lnTo>
                    <a:pt x="157900" y="91271"/>
                  </a:lnTo>
                  <a:lnTo>
                    <a:pt x="124201" y="110768"/>
                  </a:lnTo>
                  <a:lnTo>
                    <a:pt x="111045" y="112469"/>
                  </a:lnTo>
                  <a:lnTo>
                    <a:pt x="104353" y="112044"/>
                  </a:lnTo>
                  <a:lnTo>
                    <a:pt x="78949" y="101967"/>
                  </a:lnTo>
                  <a:lnTo>
                    <a:pt x="75928" y="100599"/>
                  </a:lnTo>
                  <a:lnTo>
                    <a:pt x="72773" y="99529"/>
                  </a:lnTo>
                  <a:lnTo>
                    <a:pt x="69618" y="98458"/>
                  </a:lnTo>
                  <a:lnTo>
                    <a:pt x="66389" y="97705"/>
                  </a:lnTo>
                  <a:lnTo>
                    <a:pt x="63086" y="97270"/>
                  </a:lnTo>
                  <a:lnTo>
                    <a:pt x="59783" y="96835"/>
                  </a:lnTo>
                  <a:lnTo>
                    <a:pt x="56469" y="96726"/>
                  </a:lnTo>
                  <a:lnTo>
                    <a:pt x="53144" y="96943"/>
                  </a:lnTo>
                  <a:lnTo>
                    <a:pt x="49819" y="97160"/>
                  </a:lnTo>
                  <a:lnTo>
                    <a:pt x="46547" y="97699"/>
                  </a:lnTo>
                  <a:lnTo>
                    <a:pt x="43329" y="98559"/>
                  </a:lnTo>
                  <a:lnTo>
                    <a:pt x="40110" y="99420"/>
                  </a:lnTo>
                  <a:lnTo>
                    <a:pt x="25565" y="107303"/>
                  </a:lnTo>
                  <a:lnTo>
                    <a:pt x="22920" y="109329"/>
                  </a:lnTo>
                  <a:lnTo>
                    <a:pt x="20497" y="111593"/>
                  </a:lnTo>
                  <a:lnTo>
                    <a:pt x="18298" y="114095"/>
                  </a:lnTo>
                  <a:lnTo>
                    <a:pt x="16098" y="116598"/>
                  </a:lnTo>
                  <a:lnTo>
                    <a:pt x="544" y="150575"/>
                  </a:lnTo>
                  <a:lnTo>
                    <a:pt x="109" y="153878"/>
                  </a:lnTo>
                  <a:lnTo>
                    <a:pt x="0" y="157192"/>
                  </a:lnTo>
                  <a:lnTo>
                    <a:pt x="216" y="160517"/>
                  </a:lnTo>
                  <a:lnTo>
                    <a:pt x="433" y="163842"/>
                  </a:lnTo>
                  <a:lnTo>
                    <a:pt x="972" y="167113"/>
                  </a:lnTo>
                  <a:lnTo>
                    <a:pt x="1833" y="170332"/>
                  </a:lnTo>
                  <a:lnTo>
                    <a:pt x="2694" y="173551"/>
                  </a:lnTo>
                  <a:lnTo>
                    <a:pt x="10577" y="188096"/>
                  </a:lnTo>
                  <a:lnTo>
                    <a:pt x="12602" y="190741"/>
                  </a:lnTo>
                  <a:lnTo>
                    <a:pt x="14867" y="193163"/>
                  </a:lnTo>
                  <a:lnTo>
                    <a:pt x="17369" y="195363"/>
                  </a:lnTo>
                  <a:lnTo>
                    <a:pt x="19871" y="197563"/>
                  </a:lnTo>
                  <a:lnTo>
                    <a:pt x="22564" y="199498"/>
                  </a:lnTo>
                  <a:lnTo>
                    <a:pt x="25447" y="201168"/>
                  </a:lnTo>
                  <a:lnTo>
                    <a:pt x="29257" y="203708"/>
                  </a:lnTo>
                  <a:lnTo>
                    <a:pt x="52896" y="234324"/>
                  </a:lnTo>
                  <a:lnTo>
                    <a:pt x="54657" y="247396"/>
                  </a:lnTo>
                  <a:lnTo>
                    <a:pt x="54657" y="260350"/>
                  </a:lnTo>
                  <a:lnTo>
                    <a:pt x="39836" y="296459"/>
                  </a:lnTo>
                  <a:lnTo>
                    <a:pt x="22564" y="308501"/>
                  </a:lnTo>
                  <a:lnTo>
                    <a:pt x="19871" y="310436"/>
                  </a:lnTo>
                  <a:lnTo>
                    <a:pt x="17369" y="312636"/>
                  </a:lnTo>
                  <a:lnTo>
                    <a:pt x="14867" y="314836"/>
                  </a:lnTo>
                  <a:lnTo>
                    <a:pt x="12602" y="317258"/>
                  </a:lnTo>
                  <a:lnTo>
                    <a:pt x="1833" y="337667"/>
                  </a:lnTo>
                  <a:lnTo>
                    <a:pt x="972" y="340886"/>
                  </a:lnTo>
                  <a:lnTo>
                    <a:pt x="433" y="344158"/>
                  </a:lnTo>
                  <a:lnTo>
                    <a:pt x="216" y="347482"/>
                  </a:lnTo>
                  <a:lnTo>
                    <a:pt x="0" y="350807"/>
                  </a:lnTo>
                  <a:lnTo>
                    <a:pt x="109" y="354121"/>
                  </a:lnTo>
                  <a:lnTo>
                    <a:pt x="544" y="357424"/>
                  </a:lnTo>
                  <a:lnTo>
                    <a:pt x="979" y="360728"/>
                  </a:lnTo>
                  <a:lnTo>
                    <a:pt x="18298" y="393904"/>
                  </a:lnTo>
                  <a:lnTo>
                    <a:pt x="20497" y="396406"/>
                  </a:lnTo>
                  <a:lnTo>
                    <a:pt x="22920" y="398670"/>
                  </a:lnTo>
                  <a:lnTo>
                    <a:pt x="25565" y="400696"/>
                  </a:lnTo>
                  <a:lnTo>
                    <a:pt x="28210" y="402722"/>
                  </a:lnTo>
                  <a:lnTo>
                    <a:pt x="31027" y="404470"/>
                  </a:lnTo>
                  <a:lnTo>
                    <a:pt x="34017" y="405942"/>
                  </a:lnTo>
                  <a:lnTo>
                    <a:pt x="37006" y="407413"/>
                  </a:lnTo>
                  <a:lnTo>
                    <a:pt x="53144" y="411056"/>
                  </a:lnTo>
                  <a:lnTo>
                    <a:pt x="56469" y="411273"/>
                  </a:lnTo>
                  <a:lnTo>
                    <a:pt x="72773" y="408470"/>
                  </a:lnTo>
                  <a:lnTo>
                    <a:pt x="75928" y="407400"/>
                  </a:lnTo>
                  <a:lnTo>
                    <a:pt x="78949" y="406032"/>
                  </a:lnTo>
                  <a:lnTo>
                    <a:pt x="81835" y="404368"/>
                  </a:lnTo>
                  <a:lnTo>
                    <a:pt x="85645" y="402336"/>
                  </a:lnTo>
                  <a:lnTo>
                    <a:pt x="91653" y="399358"/>
                  </a:lnTo>
                  <a:lnTo>
                    <a:pt x="97889" y="397231"/>
                  </a:lnTo>
                  <a:lnTo>
                    <a:pt x="104353" y="395955"/>
                  </a:lnTo>
                  <a:lnTo>
                    <a:pt x="111045" y="395530"/>
                  </a:lnTo>
                  <a:lnTo>
                    <a:pt x="117737" y="395955"/>
                  </a:lnTo>
                  <a:lnTo>
                    <a:pt x="152944" y="412396"/>
                  </a:lnTo>
                  <a:lnTo>
                    <a:pt x="172336" y="445943"/>
                  </a:lnTo>
                  <a:lnTo>
                    <a:pt x="172767" y="452628"/>
                  </a:lnTo>
                  <a:lnTo>
                    <a:pt x="172767" y="457200"/>
                  </a:lnTo>
                  <a:lnTo>
                    <a:pt x="172767" y="460535"/>
                  </a:lnTo>
                  <a:lnTo>
                    <a:pt x="173092" y="463839"/>
                  </a:lnTo>
                  <a:lnTo>
                    <a:pt x="173743" y="467110"/>
                  </a:lnTo>
                  <a:lnTo>
                    <a:pt x="174394" y="470382"/>
                  </a:lnTo>
                  <a:lnTo>
                    <a:pt x="175357" y="473558"/>
                  </a:lnTo>
                  <a:lnTo>
                    <a:pt x="176634" y="476640"/>
                  </a:lnTo>
                  <a:lnTo>
                    <a:pt x="177910" y="479721"/>
                  </a:lnTo>
                  <a:lnTo>
                    <a:pt x="179475" y="482649"/>
                  </a:lnTo>
                  <a:lnTo>
                    <a:pt x="181328" y="485423"/>
                  </a:lnTo>
                  <a:lnTo>
                    <a:pt x="183182" y="488196"/>
                  </a:lnTo>
                  <a:lnTo>
                    <a:pt x="204127" y="504133"/>
                  </a:lnTo>
                  <a:lnTo>
                    <a:pt x="207208" y="505409"/>
                  </a:lnTo>
                  <a:lnTo>
                    <a:pt x="210385" y="506373"/>
                  </a:lnTo>
                  <a:lnTo>
                    <a:pt x="213656" y="507023"/>
                  </a:lnTo>
                  <a:lnTo>
                    <a:pt x="216928" y="507674"/>
                  </a:lnTo>
                  <a:lnTo>
                    <a:pt x="220232" y="508000"/>
                  </a:lnTo>
                  <a:lnTo>
                    <a:pt x="223567" y="508000"/>
                  </a:lnTo>
                  <a:lnTo>
                    <a:pt x="234743" y="508000"/>
                  </a:lnTo>
                  <a:lnTo>
                    <a:pt x="238079" y="508000"/>
                  </a:lnTo>
                  <a:lnTo>
                    <a:pt x="241382" y="507674"/>
                  </a:lnTo>
                  <a:lnTo>
                    <a:pt x="244654" y="507023"/>
                  </a:lnTo>
                  <a:lnTo>
                    <a:pt x="247925" y="506373"/>
                  </a:lnTo>
                  <a:lnTo>
                    <a:pt x="251102" y="505409"/>
                  </a:lnTo>
                  <a:lnTo>
                    <a:pt x="254183" y="504133"/>
                  </a:lnTo>
                  <a:lnTo>
                    <a:pt x="257265" y="502856"/>
                  </a:lnTo>
                  <a:lnTo>
                    <a:pt x="276982" y="485423"/>
                  </a:lnTo>
                  <a:lnTo>
                    <a:pt x="278835" y="482649"/>
                  </a:lnTo>
                  <a:lnTo>
                    <a:pt x="284567" y="467110"/>
                  </a:lnTo>
                  <a:lnTo>
                    <a:pt x="285218" y="463839"/>
                  </a:lnTo>
                  <a:lnTo>
                    <a:pt x="285543" y="460535"/>
                  </a:lnTo>
                  <a:lnTo>
                    <a:pt x="285543" y="457200"/>
                  </a:lnTo>
                  <a:lnTo>
                    <a:pt x="285543" y="452628"/>
                  </a:lnTo>
                  <a:lnTo>
                    <a:pt x="300410" y="416728"/>
                  </a:lnTo>
                  <a:lnTo>
                    <a:pt x="334109" y="397231"/>
                  </a:lnTo>
                  <a:lnTo>
                    <a:pt x="347265" y="395530"/>
                  </a:lnTo>
                  <a:lnTo>
                    <a:pt x="353957" y="395955"/>
                  </a:lnTo>
                  <a:lnTo>
                    <a:pt x="379361" y="406032"/>
                  </a:lnTo>
                  <a:lnTo>
                    <a:pt x="382382" y="407400"/>
                  </a:lnTo>
                  <a:lnTo>
                    <a:pt x="385537" y="408471"/>
                  </a:lnTo>
                  <a:lnTo>
                    <a:pt x="388692" y="409541"/>
                  </a:lnTo>
                  <a:lnTo>
                    <a:pt x="391921" y="410294"/>
                  </a:lnTo>
                  <a:lnTo>
                    <a:pt x="395224" y="410729"/>
                  </a:lnTo>
                  <a:lnTo>
                    <a:pt x="398528" y="411164"/>
                  </a:lnTo>
                  <a:lnTo>
                    <a:pt x="401842" y="411273"/>
                  </a:lnTo>
                  <a:lnTo>
                    <a:pt x="405166" y="411056"/>
                  </a:lnTo>
                  <a:lnTo>
                    <a:pt x="408491" y="410839"/>
                  </a:lnTo>
                  <a:lnTo>
                    <a:pt x="424293" y="405942"/>
                  </a:lnTo>
                  <a:lnTo>
                    <a:pt x="427283" y="404470"/>
                  </a:lnTo>
                  <a:lnTo>
                    <a:pt x="451405" y="375920"/>
                  </a:lnTo>
                  <a:lnTo>
                    <a:pt x="453070" y="373034"/>
                  </a:lnTo>
                  <a:lnTo>
                    <a:pt x="458311" y="350553"/>
                  </a:lnTo>
                  <a:lnTo>
                    <a:pt x="458094" y="347228"/>
                  </a:lnTo>
                  <a:lnTo>
                    <a:pt x="457877" y="343904"/>
                  </a:lnTo>
                  <a:lnTo>
                    <a:pt x="457338" y="340632"/>
                  </a:lnTo>
                  <a:lnTo>
                    <a:pt x="456477" y="337413"/>
                  </a:lnTo>
                  <a:lnTo>
                    <a:pt x="455617" y="334195"/>
                  </a:lnTo>
                  <a:lnTo>
                    <a:pt x="454451" y="331091"/>
                  </a:lnTo>
                  <a:lnTo>
                    <a:pt x="452979" y="328101"/>
                  </a:lnTo>
                  <a:lnTo>
                    <a:pt x="451508" y="325112"/>
                  </a:lnTo>
                  <a:lnTo>
                    <a:pt x="429053" y="304546"/>
                  </a:lnTo>
                  <a:lnTo>
                    <a:pt x="423450" y="300816"/>
                  </a:lnTo>
                  <a:lnTo>
                    <a:pt x="404055" y="267069"/>
                  </a:lnTo>
                  <a:lnTo>
                    <a:pt x="403653" y="260350"/>
                  </a:lnTo>
                  <a:lnTo>
                    <a:pt x="403653" y="247650"/>
                  </a:lnTo>
                  <a:lnTo>
                    <a:pt x="418474" y="211540"/>
                  </a:lnTo>
                  <a:lnTo>
                    <a:pt x="435746" y="199498"/>
                  </a:lnTo>
                  <a:lnTo>
                    <a:pt x="438439" y="197563"/>
                  </a:lnTo>
                  <a:lnTo>
                    <a:pt x="440941" y="195363"/>
                  </a:lnTo>
                  <a:lnTo>
                    <a:pt x="443444" y="193163"/>
                  </a:lnTo>
                  <a:lnTo>
                    <a:pt x="445708" y="190741"/>
                  </a:lnTo>
                  <a:lnTo>
                    <a:pt x="447733" y="188096"/>
                  </a:lnTo>
                  <a:lnTo>
                    <a:pt x="449759" y="185450"/>
                  </a:lnTo>
                  <a:lnTo>
                    <a:pt x="451508" y="182633"/>
                  </a:lnTo>
                  <a:lnTo>
                    <a:pt x="452979" y="179644"/>
                  </a:lnTo>
                  <a:lnTo>
                    <a:pt x="454451" y="176655"/>
                  </a:lnTo>
                  <a:lnTo>
                    <a:pt x="455617" y="173551"/>
                  </a:lnTo>
                  <a:lnTo>
                    <a:pt x="456477" y="170332"/>
                  </a:lnTo>
                  <a:lnTo>
                    <a:pt x="457338" y="167113"/>
                  </a:lnTo>
                  <a:lnTo>
                    <a:pt x="457877" y="163842"/>
                  </a:lnTo>
                  <a:lnTo>
                    <a:pt x="458094" y="160517"/>
                  </a:lnTo>
                  <a:lnTo>
                    <a:pt x="458311" y="157192"/>
                  </a:lnTo>
                  <a:lnTo>
                    <a:pt x="444147" y="119290"/>
                  </a:lnTo>
                  <a:lnTo>
                    <a:pt x="432745" y="107303"/>
                  </a:lnTo>
                  <a:lnTo>
                    <a:pt x="430100" y="105277"/>
                  </a:lnTo>
                  <a:lnTo>
                    <a:pt x="427283" y="103529"/>
                  </a:lnTo>
                  <a:lnTo>
                    <a:pt x="424293" y="102058"/>
                  </a:lnTo>
                  <a:lnTo>
                    <a:pt x="421304" y="100586"/>
                  </a:lnTo>
                  <a:lnTo>
                    <a:pt x="418200" y="99420"/>
                  </a:lnTo>
                  <a:lnTo>
                    <a:pt x="414981" y="98559"/>
                  </a:lnTo>
                  <a:lnTo>
                    <a:pt x="411763" y="97699"/>
                  </a:lnTo>
                  <a:lnTo>
                    <a:pt x="408491" y="97160"/>
                  </a:lnTo>
                  <a:lnTo>
                    <a:pt x="405166" y="96943"/>
                  </a:lnTo>
                  <a:lnTo>
                    <a:pt x="401842" y="96726"/>
                  </a:lnTo>
                  <a:lnTo>
                    <a:pt x="398528" y="96835"/>
                  </a:lnTo>
                  <a:lnTo>
                    <a:pt x="395224" y="97270"/>
                  </a:lnTo>
                  <a:lnTo>
                    <a:pt x="391921" y="97705"/>
                  </a:lnTo>
                  <a:lnTo>
                    <a:pt x="388692" y="98458"/>
                  </a:lnTo>
                  <a:lnTo>
                    <a:pt x="385537" y="99529"/>
                  </a:lnTo>
                  <a:lnTo>
                    <a:pt x="382382" y="100599"/>
                  </a:lnTo>
                  <a:lnTo>
                    <a:pt x="379361" y="101967"/>
                  </a:lnTo>
                  <a:lnTo>
                    <a:pt x="376475" y="103632"/>
                  </a:lnTo>
                  <a:lnTo>
                    <a:pt x="372665" y="105664"/>
                  </a:lnTo>
                  <a:lnTo>
                    <a:pt x="366657" y="108641"/>
                  </a:lnTo>
                  <a:lnTo>
                    <a:pt x="360421" y="110768"/>
                  </a:lnTo>
                  <a:lnTo>
                    <a:pt x="353957" y="112044"/>
                  </a:lnTo>
                  <a:lnTo>
                    <a:pt x="347265" y="112469"/>
                  </a:lnTo>
                  <a:lnTo>
                    <a:pt x="340573" y="112044"/>
                  </a:lnTo>
                  <a:lnTo>
                    <a:pt x="305366" y="95603"/>
                  </a:lnTo>
                  <a:lnTo>
                    <a:pt x="285975" y="62056"/>
                  </a:lnTo>
                  <a:lnTo>
                    <a:pt x="285543" y="55372"/>
                  </a:lnTo>
                  <a:lnTo>
                    <a:pt x="285543" y="50800"/>
                  </a:lnTo>
                  <a:lnTo>
                    <a:pt x="285543" y="47464"/>
                  </a:lnTo>
                  <a:lnTo>
                    <a:pt x="285218" y="44160"/>
                  </a:lnTo>
                  <a:lnTo>
                    <a:pt x="284567" y="40889"/>
                  </a:lnTo>
                  <a:lnTo>
                    <a:pt x="283916" y="37617"/>
                  </a:lnTo>
                  <a:lnTo>
                    <a:pt x="270664" y="14878"/>
                  </a:lnTo>
                  <a:lnTo>
                    <a:pt x="268306" y="12520"/>
                  </a:lnTo>
                  <a:lnTo>
                    <a:pt x="244654" y="976"/>
                  </a:lnTo>
                  <a:lnTo>
                    <a:pt x="241382" y="325"/>
                  </a:lnTo>
                  <a:lnTo>
                    <a:pt x="238079" y="0"/>
                  </a:lnTo>
                  <a:lnTo>
                    <a:pt x="234743" y="0"/>
                  </a:lnTo>
                  <a:close/>
                </a:path>
              </a:pathLst>
            </a:custGeom>
            <a:ln w="508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923618DE-9794-E21B-2A4D-51416220A7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6000" y="3403600"/>
              <a:ext cx="203200" cy="203200"/>
            </a:xfrm>
            <a:prstGeom prst="rect">
              <a:avLst/>
            </a:prstGeom>
          </p:spPr>
        </p:pic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670D9CB9-2C90-4EE8-5C39-AE56287360AF}"/>
              </a:ext>
            </a:extLst>
          </p:cNvPr>
          <p:cNvSpPr txBox="1"/>
          <p:nvPr/>
        </p:nvSpPr>
        <p:spPr>
          <a:xfrm>
            <a:off x="12712998" y="3798887"/>
            <a:ext cx="4749165" cy="1996700"/>
          </a:xfrm>
          <a:prstGeom prst="rect">
            <a:avLst/>
          </a:prstGeom>
        </p:spPr>
        <p:txBody>
          <a:bodyPr vert="horz" wrap="square" lIns="0" tIns="166370" rIns="0" bIns="0" rtlCol="0" anchor="t">
            <a:spAutoFit/>
          </a:bodyPr>
          <a:lstStyle/>
          <a:p>
            <a:pPr algn="ctr">
              <a:spcBef>
                <a:spcPts val="1310"/>
              </a:spcBef>
            </a:pPr>
            <a:r>
              <a:rPr sz="3050" b="1" spc="-235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7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lang="en-US" sz="3050" b="1" spc="-145" dirty="0">
                <a:solidFill>
                  <a:srgbClr val="FFFFFF"/>
                </a:solidFill>
                <a:latin typeface="Arial"/>
                <a:cs typeface="Arial"/>
              </a:rPr>
              <a:t> Implement</a:t>
            </a:r>
            <a:endParaRPr sz="3050" b="1" spc="-2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50800" algn="just">
              <a:lnSpc>
                <a:spcPts val="2400"/>
              </a:lnSpc>
              <a:spcBef>
                <a:spcPts val="994"/>
              </a:spcBef>
            </a:pPr>
            <a:r>
              <a:rPr lang="en-US" sz="2000" spc="-10" dirty="0">
                <a:solidFill>
                  <a:srgbClr val="D0D5DA"/>
                </a:solidFill>
              </a:rPr>
              <a:t>DQN has a straightforward architecture and training procedure, making it one of the most accessible entry points into deep reinforcement learning.</a:t>
            </a:r>
            <a:endParaRPr dirty="0"/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27A26B06-45B1-5D74-258E-197D91AA2D00}"/>
              </a:ext>
            </a:extLst>
          </p:cNvPr>
          <p:cNvGrpSpPr/>
          <p:nvPr/>
        </p:nvGrpSpPr>
        <p:grpSpPr>
          <a:xfrm>
            <a:off x="457200" y="7543800"/>
            <a:ext cx="17373600" cy="1905000"/>
            <a:chOff x="457200" y="7543800"/>
            <a:chExt cx="17373600" cy="1905000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4A2CCA3-C73D-6BF3-DF17-796C682D3BDE}"/>
                </a:ext>
              </a:extLst>
            </p:cNvPr>
            <p:cNvSpPr/>
            <p:nvPr/>
          </p:nvSpPr>
          <p:spPr>
            <a:xfrm>
              <a:off x="476249" y="7543800"/>
              <a:ext cx="17354550" cy="1905000"/>
            </a:xfrm>
            <a:custGeom>
              <a:avLst/>
              <a:gdLst/>
              <a:ahLst/>
              <a:cxnLst/>
              <a:rect l="l" t="t" r="r" b="b"/>
              <a:pathLst>
                <a:path w="17354550" h="1905000">
                  <a:moveTo>
                    <a:pt x="17283352" y="1904999"/>
                  </a:moveTo>
                  <a:lnTo>
                    <a:pt x="53397" y="1904999"/>
                  </a:lnTo>
                  <a:lnTo>
                    <a:pt x="49680" y="1904511"/>
                  </a:lnTo>
                  <a:lnTo>
                    <a:pt x="14085" y="1879143"/>
                  </a:lnTo>
                  <a:lnTo>
                    <a:pt x="366" y="1838758"/>
                  </a:lnTo>
                  <a:lnTo>
                    <a:pt x="0" y="1833803"/>
                  </a:lnTo>
                  <a:lnTo>
                    <a:pt x="0" y="1828800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7283352" y="0"/>
                  </a:lnTo>
                  <a:lnTo>
                    <a:pt x="17324842" y="15620"/>
                  </a:lnTo>
                  <a:lnTo>
                    <a:pt x="17350662" y="51660"/>
                  </a:lnTo>
                  <a:lnTo>
                    <a:pt x="17354549" y="71196"/>
                  </a:lnTo>
                  <a:lnTo>
                    <a:pt x="17354549" y="1833803"/>
                  </a:lnTo>
                  <a:lnTo>
                    <a:pt x="17338927" y="1875293"/>
                  </a:lnTo>
                  <a:lnTo>
                    <a:pt x="17302886" y="1901112"/>
                  </a:lnTo>
                  <a:lnTo>
                    <a:pt x="17288306" y="1904511"/>
                  </a:lnTo>
                  <a:lnTo>
                    <a:pt x="17283352" y="190499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14F0C3F-E33D-5560-EED5-2CB5085B7333}"/>
                </a:ext>
              </a:extLst>
            </p:cNvPr>
            <p:cNvSpPr/>
            <p:nvPr/>
          </p:nvSpPr>
          <p:spPr>
            <a:xfrm>
              <a:off x="457200" y="7544077"/>
              <a:ext cx="70485" cy="1905000"/>
            </a:xfrm>
            <a:custGeom>
              <a:avLst/>
              <a:gdLst/>
              <a:ahLst/>
              <a:cxnLst/>
              <a:rect l="l" t="t" r="r" b="b"/>
              <a:pathLst>
                <a:path w="70484" h="1905000">
                  <a:moveTo>
                    <a:pt x="70450" y="1904444"/>
                  </a:moveTo>
                  <a:lnTo>
                    <a:pt x="33857" y="1891891"/>
                  </a:lnTo>
                  <a:lnTo>
                    <a:pt x="5800" y="1857682"/>
                  </a:lnTo>
                  <a:lnTo>
                    <a:pt x="0" y="18285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1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1828522"/>
                  </a:lnTo>
                  <a:lnTo>
                    <a:pt x="44514" y="1870864"/>
                  </a:lnTo>
                  <a:lnTo>
                    <a:pt x="66287" y="1902788"/>
                  </a:lnTo>
                  <a:lnTo>
                    <a:pt x="70450" y="1904444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59A5BFB-CE91-DC59-DAB6-60AB59B1BF9F}"/>
                </a:ext>
              </a:extLst>
            </p:cNvPr>
            <p:cNvSpPr/>
            <p:nvPr/>
          </p:nvSpPr>
          <p:spPr>
            <a:xfrm>
              <a:off x="749258" y="783576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1513" y="101731"/>
                  </a:moveTo>
                  <a:lnTo>
                    <a:pt x="252472" y="106435"/>
                  </a:lnTo>
                  <a:lnTo>
                    <a:pt x="253161" y="111177"/>
                  </a:lnTo>
                  <a:lnTo>
                    <a:pt x="253582" y="115959"/>
                  </a:lnTo>
                  <a:lnTo>
                    <a:pt x="254003" y="120740"/>
                  </a:lnTo>
                  <a:lnTo>
                    <a:pt x="254152" y="125530"/>
                  </a:lnTo>
                  <a:lnTo>
                    <a:pt x="254029" y="130329"/>
                  </a:lnTo>
                  <a:lnTo>
                    <a:pt x="253907" y="135127"/>
                  </a:lnTo>
                  <a:lnTo>
                    <a:pt x="253514" y="139904"/>
                  </a:lnTo>
                  <a:lnTo>
                    <a:pt x="252849" y="144657"/>
                  </a:lnTo>
                  <a:lnTo>
                    <a:pt x="252185" y="149411"/>
                  </a:lnTo>
                  <a:lnTo>
                    <a:pt x="251255" y="154112"/>
                  </a:lnTo>
                  <a:lnTo>
                    <a:pt x="250058" y="158761"/>
                  </a:lnTo>
                  <a:lnTo>
                    <a:pt x="248861" y="163409"/>
                  </a:lnTo>
                  <a:lnTo>
                    <a:pt x="232470" y="197941"/>
                  </a:lnTo>
                  <a:lnTo>
                    <a:pt x="229792" y="201924"/>
                  </a:lnTo>
                  <a:lnTo>
                    <a:pt x="202828" y="229019"/>
                  </a:lnTo>
                  <a:lnTo>
                    <a:pt x="198976" y="231882"/>
                  </a:lnTo>
                  <a:lnTo>
                    <a:pt x="178000" y="243429"/>
                  </a:lnTo>
                  <a:lnTo>
                    <a:pt x="173603" y="245354"/>
                  </a:lnTo>
                  <a:lnTo>
                    <a:pt x="169111" y="247025"/>
                  </a:lnTo>
                  <a:lnTo>
                    <a:pt x="164524" y="248440"/>
                  </a:lnTo>
                  <a:lnTo>
                    <a:pt x="159938" y="249856"/>
                  </a:lnTo>
                  <a:lnTo>
                    <a:pt x="136312" y="253752"/>
                  </a:lnTo>
                  <a:lnTo>
                    <a:pt x="131525" y="254101"/>
                  </a:lnTo>
                  <a:lnTo>
                    <a:pt x="126733" y="254179"/>
                  </a:lnTo>
                  <a:lnTo>
                    <a:pt x="121937" y="253985"/>
                  </a:lnTo>
                  <a:lnTo>
                    <a:pt x="117141" y="253791"/>
                  </a:lnTo>
                  <a:lnTo>
                    <a:pt x="79937" y="245018"/>
                  </a:lnTo>
                  <a:lnTo>
                    <a:pt x="75479" y="243237"/>
                  </a:lnTo>
                  <a:lnTo>
                    <a:pt x="54654" y="231419"/>
                  </a:lnTo>
                  <a:lnTo>
                    <a:pt x="50711" y="228682"/>
                  </a:lnTo>
                  <a:lnTo>
                    <a:pt x="46935" y="225731"/>
                  </a:lnTo>
                  <a:lnTo>
                    <a:pt x="43326" y="222566"/>
                  </a:lnTo>
                  <a:lnTo>
                    <a:pt x="39718" y="219401"/>
                  </a:lnTo>
                  <a:lnTo>
                    <a:pt x="36300" y="216042"/>
                  </a:lnTo>
                  <a:lnTo>
                    <a:pt x="33072" y="212489"/>
                  </a:lnTo>
                  <a:lnTo>
                    <a:pt x="29844" y="208936"/>
                  </a:lnTo>
                  <a:lnTo>
                    <a:pt x="26827" y="205212"/>
                  </a:lnTo>
                  <a:lnTo>
                    <a:pt x="24022" y="201318"/>
                  </a:lnTo>
                  <a:lnTo>
                    <a:pt x="21216" y="197423"/>
                  </a:lnTo>
                  <a:lnTo>
                    <a:pt x="18640" y="193382"/>
                  </a:lnTo>
                  <a:lnTo>
                    <a:pt x="16293" y="189195"/>
                  </a:lnTo>
                  <a:lnTo>
                    <a:pt x="13945" y="185008"/>
                  </a:lnTo>
                  <a:lnTo>
                    <a:pt x="11842" y="180702"/>
                  </a:lnTo>
                  <a:lnTo>
                    <a:pt x="9983" y="176277"/>
                  </a:lnTo>
                  <a:lnTo>
                    <a:pt x="8124" y="171851"/>
                  </a:lnTo>
                  <a:lnTo>
                    <a:pt x="6521" y="167335"/>
                  </a:lnTo>
                  <a:lnTo>
                    <a:pt x="5174" y="162728"/>
                  </a:lnTo>
                  <a:lnTo>
                    <a:pt x="3827" y="158121"/>
                  </a:lnTo>
                  <a:lnTo>
                    <a:pt x="2744" y="153452"/>
                  </a:lnTo>
                  <a:lnTo>
                    <a:pt x="1927" y="148722"/>
                  </a:lnTo>
                  <a:lnTo>
                    <a:pt x="1109" y="143992"/>
                  </a:lnTo>
                  <a:lnTo>
                    <a:pt x="561" y="139232"/>
                  </a:lnTo>
                  <a:lnTo>
                    <a:pt x="283" y="134440"/>
                  </a:lnTo>
                  <a:lnTo>
                    <a:pt x="6" y="129648"/>
                  </a:lnTo>
                  <a:lnTo>
                    <a:pt x="0" y="124855"/>
                  </a:lnTo>
                  <a:lnTo>
                    <a:pt x="265" y="120063"/>
                  </a:lnTo>
                  <a:lnTo>
                    <a:pt x="531" y="115270"/>
                  </a:lnTo>
                  <a:lnTo>
                    <a:pt x="1066" y="110508"/>
                  </a:lnTo>
                  <a:lnTo>
                    <a:pt x="1872" y="105776"/>
                  </a:lnTo>
                  <a:lnTo>
                    <a:pt x="2677" y="101044"/>
                  </a:lnTo>
                  <a:lnTo>
                    <a:pt x="9857" y="78201"/>
                  </a:lnTo>
                  <a:lnTo>
                    <a:pt x="11705" y="73771"/>
                  </a:lnTo>
                  <a:lnTo>
                    <a:pt x="32853" y="41929"/>
                  </a:lnTo>
                  <a:lnTo>
                    <a:pt x="43082" y="31826"/>
                  </a:lnTo>
                  <a:lnTo>
                    <a:pt x="46682" y="28652"/>
                  </a:lnTo>
                  <a:lnTo>
                    <a:pt x="66623" y="15396"/>
                  </a:lnTo>
                  <a:lnTo>
                    <a:pt x="70845" y="13112"/>
                  </a:lnTo>
                  <a:lnTo>
                    <a:pt x="93253" y="4674"/>
                  </a:lnTo>
                  <a:lnTo>
                    <a:pt x="97880" y="3395"/>
                  </a:lnTo>
                  <a:lnTo>
                    <a:pt x="126407" y="0"/>
                  </a:lnTo>
                  <a:lnTo>
                    <a:pt x="131199" y="65"/>
                  </a:lnTo>
                  <a:lnTo>
                    <a:pt x="135987" y="402"/>
                  </a:lnTo>
                  <a:lnTo>
                    <a:pt x="140775" y="739"/>
                  </a:lnTo>
                  <a:lnTo>
                    <a:pt x="145529" y="1345"/>
                  </a:lnTo>
                  <a:lnTo>
                    <a:pt x="150248" y="2221"/>
                  </a:lnTo>
                  <a:lnTo>
                    <a:pt x="154968" y="3097"/>
                  </a:lnTo>
                  <a:lnTo>
                    <a:pt x="159623" y="4237"/>
                  </a:lnTo>
                  <a:lnTo>
                    <a:pt x="164213" y="5641"/>
                  </a:lnTo>
                  <a:lnTo>
                    <a:pt x="168803" y="7045"/>
                  </a:lnTo>
                  <a:lnTo>
                    <a:pt x="173299" y="8704"/>
                  </a:lnTo>
                  <a:lnTo>
                    <a:pt x="177701" y="10617"/>
                  </a:lnTo>
                  <a:lnTo>
                    <a:pt x="182103" y="12531"/>
                  </a:lnTo>
                  <a:lnTo>
                    <a:pt x="186383" y="14687"/>
                  </a:lnTo>
                  <a:lnTo>
                    <a:pt x="190541" y="17086"/>
                  </a:lnTo>
                </a:path>
                <a:path w="254634" h="254634">
                  <a:moveTo>
                    <a:pt x="88941" y="114431"/>
                  </a:moveTo>
                  <a:lnTo>
                    <a:pt x="127041" y="152532"/>
                  </a:lnTo>
                  <a:lnTo>
                    <a:pt x="254041" y="25531"/>
                  </a:lnTo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86BDE323-7A85-0BDE-CAE5-20C0958FF28B}"/>
              </a:ext>
            </a:extLst>
          </p:cNvPr>
          <p:cNvSpPr txBox="1"/>
          <p:nvPr/>
        </p:nvSpPr>
        <p:spPr>
          <a:xfrm>
            <a:off x="711200" y="7585274"/>
            <a:ext cx="8214359" cy="1647189"/>
          </a:xfrm>
          <a:prstGeom prst="rect">
            <a:avLst/>
          </a:prstGeom>
        </p:spPr>
        <p:txBody>
          <a:bodyPr vert="horz" wrap="square" lIns="0" tIns="113664" rIns="0" bIns="0" rtlCol="0" anchor="t">
            <a:spAutoFit/>
          </a:bodyPr>
          <a:lstStyle/>
          <a:p>
            <a:pPr marL="469900">
              <a:lnSpc>
                <a:spcPct val="100000"/>
              </a:lnSpc>
              <a:spcBef>
                <a:spcPts val="894"/>
              </a:spcBef>
            </a:pPr>
            <a:r>
              <a:rPr sz="3050" b="1" spc="-185" dirty="0">
                <a:solidFill>
                  <a:srgbClr val="38FF13"/>
                </a:solidFill>
                <a:latin typeface="Arial"/>
                <a:cs typeface="Arial"/>
              </a:rPr>
              <a:t>Why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200" dirty="0">
                <a:solidFill>
                  <a:srgbClr val="38FF13"/>
                </a:solidFill>
                <a:latin typeface="Arial"/>
                <a:cs typeface="Arial"/>
              </a:rPr>
              <a:t>We</a:t>
            </a:r>
            <a:r>
              <a:rPr sz="3050" b="1" spc="-14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204" dirty="0">
                <a:solidFill>
                  <a:srgbClr val="38FF13"/>
                </a:solidFill>
                <a:latin typeface="Arial"/>
                <a:cs typeface="Arial"/>
              </a:rPr>
              <a:t>Chose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310" dirty="0">
                <a:solidFill>
                  <a:srgbClr val="38FF13"/>
                </a:solidFill>
                <a:latin typeface="Arial"/>
                <a:cs typeface="Arial"/>
              </a:rPr>
              <a:t>PPO</a:t>
            </a:r>
            <a:r>
              <a:rPr sz="3050" b="1" spc="-15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135" dirty="0">
                <a:solidFill>
                  <a:srgbClr val="38FF13"/>
                </a:solidFill>
                <a:latin typeface="Arial"/>
                <a:cs typeface="Arial"/>
              </a:rPr>
              <a:t>for</a:t>
            </a:r>
            <a:r>
              <a:rPr sz="3050" b="1" spc="-14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050" b="1" spc="-35" dirty="0">
                <a:solidFill>
                  <a:srgbClr val="38FF13"/>
                </a:solidFill>
                <a:latin typeface="Arial"/>
                <a:cs typeface="Arial"/>
              </a:rPr>
              <a:t>Racing</a:t>
            </a:r>
            <a:endParaRPr sz="3050">
              <a:latin typeface="Arial"/>
              <a:cs typeface="Arial"/>
            </a:endParaRPr>
          </a:p>
          <a:p>
            <a:pPr marL="254000" indent="-241300">
              <a:spcBef>
                <a:spcPts val="69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lang="en-US" sz="2500" spc="-85" dirty="0">
                <a:solidFill>
                  <a:srgbClr val="FFFFFF"/>
                </a:solidFill>
              </a:rPr>
              <a:t>Proven success in visual and discrete control tasks</a:t>
            </a:r>
            <a:endParaRPr sz="2500" spc="-85" dirty="0">
              <a:solidFill>
                <a:srgbClr val="FFFFFF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54000" indent="-241300">
              <a:spcBef>
                <a:spcPts val="148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lang="en-US" sz="2500" spc="-80" dirty="0">
                <a:solidFill>
                  <a:srgbClr val="FFFFFF"/>
                </a:solidFill>
              </a:rPr>
              <a:t>Good balance between performance and simplicity</a:t>
            </a:r>
            <a:endParaRPr sz="2500" spc="-80" dirty="0">
              <a:solidFill>
                <a:srgbClr val="FFFFFF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822B9C4-43A8-3D7B-83EE-3B46A7B3BCF9}"/>
              </a:ext>
            </a:extLst>
          </p:cNvPr>
          <p:cNvSpPr txBox="1"/>
          <p:nvPr/>
        </p:nvSpPr>
        <p:spPr>
          <a:xfrm>
            <a:off x="17028269" y="9926637"/>
            <a:ext cx="81534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15</a:t>
            </a:fld>
            <a:r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80E4592-D923-13D1-DF92-DB64DC0A7C0E}"/>
              </a:ext>
            </a:extLst>
          </p:cNvPr>
          <p:cNvSpPr txBox="1"/>
          <p:nvPr/>
        </p:nvSpPr>
        <p:spPr>
          <a:xfrm>
            <a:off x="9213087" y="8079975"/>
            <a:ext cx="8385054" cy="1532471"/>
          </a:xfrm>
          <a:prstGeom prst="rect">
            <a:avLst/>
          </a:prstGeom>
        </p:spPr>
        <p:txBody>
          <a:bodyPr vert="horz" wrap="square" lIns="0" tIns="184150" rIns="0" bIns="0" rtlCol="0" anchor="t">
            <a:spAutoFit/>
          </a:bodyPr>
          <a:lstStyle/>
          <a:p>
            <a:pPr marL="254000" indent="-241300">
              <a:spcBef>
                <a:spcPts val="145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lang="en-US" sz="2500" spc="-70" dirty="0">
                <a:solidFill>
                  <a:srgbClr val="FFFFFF"/>
                </a:solidFill>
              </a:rPr>
              <a:t>Stable training through target networks and replay buffers</a:t>
            </a:r>
            <a:endParaRPr lang="en-US" sz="2500" spc="-70" dirty="0">
              <a:solidFill>
                <a:srgbClr val="FFFFFF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54000" indent="-241300">
              <a:spcBef>
                <a:spcPts val="1500"/>
              </a:spcBef>
              <a:buSzPct val="104000"/>
              <a:buFont typeface="Century Gothic"/>
              <a:buChar char="•"/>
              <a:tabLst>
                <a:tab pos="254000" algn="l"/>
              </a:tabLst>
            </a:pPr>
            <a:r>
              <a:rPr lang="en-US" sz="2500" spc="-20" dirty="0">
                <a:solidFill>
                  <a:srgbClr val="FFFFFF"/>
                </a:solidFill>
              </a:rPr>
              <a:t>Widely used baseline in deep reinforcement learning research</a:t>
            </a:r>
            <a:endParaRPr sz="2500" spc="-20" dirty="0">
              <a:solidFill>
                <a:srgbClr val="FFFFFF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211637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90168"/>
            <a:ext cx="5615940" cy="1065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5690"/>
              </a:lnSpc>
              <a:spcBef>
                <a:spcPts val="90"/>
              </a:spcBef>
            </a:pPr>
            <a:r>
              <a:rPr sz="4900" spc="-95" dirty="0"/>
              <a:t>The</a:t>
            </a:r>
            <a:r>
              <a:rPr sz="4900" spc="-290" dirty="0"/>
              <a:t> </a:t>
            </a:r>
            <a:r>
              <a:rPr sz="4900" spc="-140" dirty="0"/>
              <a:t>Neural</a:t>
            </a:r>
            <a:r>
              <a:rPr sz="4900" spc="-285" dirty="0"/>
              <a:t> </a:t>
            </a:r>
            <a:r>
              <a:rPr sz="4900" spc="-45" dirty="0"/>
              <a:t>Network</a:t>
            </a:r>
            <a:endParaRPr sz="4900"/>
          </a:p>
          <a:p>
            <a:pPr marL="12700">
              <a:lnSpc>
                <a:spcPts val="2510"/>
              </a:lnSpc>
            </a:pPr>
            <a:r>
              <a:rPr sz="2250" b="0" spc="-10" dirty="0">
                <a:solidFill>
                  <a:srgbClr val="D0D5DA"/>
                </a:solidFill>
                <a:latin typeface="Courier New"/>
                <a:cs typeface="Courier New"/>
              </a:rPr>
              <a:t>network.py</a:t>
            </a:r>
            <a:endParaRPr sz="225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721" y="6499014"/>
            <a:ext cx="280035" cy="280035"/>
            <a:chOff x="469721" y="6499014"/>
            <a:chExt cx="280035" cy="280035"/>
          </a:xfrm>
        </p:grpSpPr>
        <p:sp>
          <p:nvSpPr>
            <p:cNvPr id="5" name="object 5"/>
            <p:cNvSpPr/>
            <p:nvPr/>
          </p:nvSpPr>
          <p:spPr>
            <a:xfrm>
              <a:off x="482421" y="6511714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127178" y="38310"/>
                  </a:moveTo>
                  <a:lnTo>
                    <a:pt x="127193" y="33179"/>
                  </a:lnTo>
                  <a:lnTo>
                    <a:pt x="126212" y="28247"/>
                  </a:lnTo>
                  <a:lnTo>
                    <a:pt x="124234" y="23512"/>
                  </a:lnTo>
                  <a:lnTo>
                    <a:pt x="122256" y="18778"/>
                  </a:lnTo>
                  <a:lnTo>
                    <a:pt x="119437" y="14613"/>
                  </a:lnTo>
                  <a:lnTo>
                    <a:pt x="115777" y="11017"/>
                  </a:lnTo>
                  <a:lnTo>
                    <a:pt x="112116" y="7422"/>
                  </a:lnTo>
                  <a:lnTo>
                    <a:pt x="107901" y="4678"/>
                  </a:lnTo>
                  <a:lnTo>
                    <a:pt x="103132" y="2785"/>
                  </a:lnTo>
                  <a:lnTo>
                    <a:pt x="98363" y="892"/>
                  </a:lnTo>
                  <a:lnTo>
                    <a:pt x="93414" y="0"/>
                  </a:lnTo>
                  <a:lnTo>
                    <a:pt x="88284" y="106"/>
                  </a:lnTo>
                  <a:lnTo>
                    <a:pt x="83154" y="213"/>
                  </a:lnTo>
                  <a:lnTo>
                    <a:pt x="78246" y="1312"/>
                  </a:lnTo>
                  <a:lnTo>
                    <a:pt x="73560" y="3401"/>
                  </a:lnTo>
                  <a:lnTo>
                    <a:pt x="68874" y="5491"/>
                  </a:lnTo>
                  <a:lnTo>
                    <a:pt x="53341" y="24990"/>
                  </a:lnTo>
                  <a:lnTo>
                    <a:pt x="51562" y="29803"/>
                  </a:lnTo>
                  <a:lnTo>
                    <a:pt x="50787" y="34772"/>
                  </a:lnTo>
                  <a:lnTo>
                    <a:pt x="51016" y="39898"/>
                  </a:lnTo>
                  <a:lnTo>
                    <a:pt x="47283" y="40858"/>
                  </a:lnTo>
                  <a:lnTo>
                    <a:pt x="43706" y="42224"/>
                  </a:lnTo>
                  <a:lnTo>
                    <a:pt x="40285" y="43998"/>
                  </a:lnTo>
                  <a:lnTo>
                    <a:pt x="36863" y="45772"/>
                  </a:lnTo>
                  <a:lnTo>
                    <a:pt x="22898" y="58790"/>
                  </a:lnTo>
                  <a:lnTo>
                    <a:pt x="20598" y="61883"/>
                  </a:lnTo>
                  <a:lnTo>
                    <a:pt x="12752" y="87308"/>
                  </a:lnTo>
                  <a:lnTo>
                    <a:pt x="12908" y="91159"/>
                  </a:lnTo>
                  <a:lnTo>
                    <a:pt x="13065" y="95010"/>
                  </a:lnTo>
                  <a:lnTo>
                    <a:pt x="13652" y="98794"/>
                  </a:lnTo>
                  <a:lnTo>
                    <a:pt x="14669" y="102511"/>
                  </a:lnTo>
                  <a:lnTo>
                    <a:pt x="15687" y="106228"/>
                  </a:lnTo>
                  <a:lnTo>
                    <a:pt x="17109" y="109783"/>
                  </a:lnTo>
                  <a:lnTo>
                    <a:pt x="18936" y="113177"/>
                  </a:lnTo>
                  <a:lnTo>
                    <a:pt x="15724" y="115786"/>
                  </a:lnTo>
                  <a:lnTo>
                    <a:pt x="12873" y="118744"/>
                  </a:lnTo>
                  <a:lnTo>
                    <a:pt x="10384" y="122050"/>
                  </a:lnTo>
                  <a:lnTo>
                    <a:pt x="7895" y="125356"/>
                  </a:lnTo>
                  <a:lnTo>
                    <a:pt x="0" y="152754"/>
                  </a:lnTo>
                  <a:lnTo>
                    <a:pt x="348" y="156877"/>
                  </a:lnTo>
                  <a:lnTo>
                    <a:pt x="696" y="161001"/>
                  </a:lnTo>
                  <a:lnTo>
                    <a:pt x="22393" y="194810"/>
                  </a:lnTo>
                  <a:lnTo>
                    <a:pt x="25997" y="196845"/>
                  </a:lnTo>
                  <a:lnTo>
                    <a:pt x="25552" y="200288"/>
                  </a:lnTo>
                  <a:lnTo>
                    <a:pt x="25461" y="203740"/>
                  </a:lnTo>
                  <a:lnTo>
                    <a:pt x="25724" y="207202"/>
                  </a:lnTo>
                  <a:lnTo>
                    <a:pt x="25986" y="210664"/>
                  </a:lnTo>
                  <a:lnTo>
                    <a:pt x="31422" y="227013"/>
                  </a:lnTo>
                  <a:lnTo>
                    <a:pt x="33039" y="230086"/>
                  </a:lnTo>
                  <a:lnTo>
                    <a:pt x="34951" y="232962"/>
                  </a:lnTo>
                  <a:lnTo>
                    <a:pt x="37157" y="235643"/>
                  </a:lnTo>
                  <a:lnTo>
                    <a:pt x="39364" y="238323"/>
                  </a:lnTo>
                  <a:lnTo>
                    <a:pt x="62871" y="252328"/>
                  </a:lnTo>
                  <a:lnTo>
                    <a:pt x="66218" y="253251"/>
                  </a:lnTo>
                  <a:lnTo>
                    <a:pt x="69624" y="253825"/>
                  </a:lnTo>
                  <a:lnTo>
                    <a:pt x="73088" y="254050"/>
                  </a:lnTo>
                  <a:lnTo>
                    <a:pt x="76553" y="254274"/>
                  </a:lnTo>
                  <a:lnTo>
                    <a:pt x="80004" y="254145"/>
                  </a:lnTo>
                  <a:lnTo>
                    <a:pt x="83442" y="253663"/>
                  </a:lnTo>
                  <a:lnTo>
                    <a:pt x="86880" y="253180"/>
                  </a:lnTo>
                  <a:lnTo>
                    <a:pt x="90234" y="252353"/>
                  </a:lnTo>
                  <a:lnTo>
                    <a:pt x="93502" y="251183"/>
                  </a:lnTo>
                  <a:lnTo>
                    <a:pt x="96771" y="250013"/>
                  </a:lnTo>
                  <a:lnTo>
                    <a:pt x="99887" y="248523"/>
                  </a:lnTo>
                  <a:lnTo>
                    <a:pt x="102850" y="246714"/>
                  </a:lnTo>
                  <a:lnTo>
                    <a:pt x="105813" y="244904"/>
                  </a:lnTo>
                  <a:lnTo>
                    <a:pt x="108562" y="242813"/>
                  </a:lnTo>
                  <a:lnTo>
                    <a:pt x="111097" y="240441"/>
                  </a:lnTo>
                  <a:lnTo>
                    <a:pt x="113631" y="238068"/>
                  </a:lnTo>
                  <a:lnTo>
                    <a:pt x="115898" y="235463"/>
                  </a:lnTo>
                  <a:lnTo>
                    <a:pt x="117899" y="232625"/>
                  </a:lnTo>
                  <a:lnTo>
                    <a:pt x="119899" y="229787"/>
                  </a:lnTo>
                  <a:lnTo>
                    <a:pt x="121591" y="226776"/>
                  </a:lnTo>
                  <a:lnTo>
                    <a:pt x="122974" y="223592"/>
                  </a:lnTo>
                  <a:lnTo>
                    <a:pt x="124357" y="220407"/>
                  </a:lnTo>
                  <a:lnTo>
                    <a:pt x="125402" y="217115"/>
                  </a:lnTo>
                  <a:lnTo>
                    <a:pt x="126110" y="213716"/>
                  </a:lnTo>
                  <a:lnTo>
                    <a:pt x="126818" y="210318"/>
                  </a:lnTo>
                  <a:lnTo>
                    <a:pt x="127174" y="206882"/>
                  </a:lnTo>
                  <a:lnTo>
                    <a:pt x="127178" y="203410"/>
                  </a:lnTo>
                  <a:lnTo>
                    <a:pt x="127178" y="38310"/>
                  </a:lnTo>
                  <a:close/>
                </a:path>
                <a:path w="254634" h="254634">
                  <a:moveTo>
                    <a:pt x="127178" y="38310"/>
                  </a:moveTo>
                  <a:lnTo>
                    <a:pt x="127163" y="33179"/>
                  </a:lnTo>
                  <a:lnTo>
                    <a:pt x="128144" y="28247"/>
                  </a:lnTo>
                  <a:lnTo>
                    <a:pt x="130122" y="23512"/>
                  </a:lnTo>
                  <a:lnTo>
                    <a:pt x="132100" y="18778"/>
                  </a:lnTo>
                  <a:lnTo>
                    <a:pt x="160942" y="0"/>
                  </a:lnTo>
                  <a:lnTo>
                    <a:pt x="166072" y="106"/>
                  </a:lnTo>
                  <a:lnTo>
                    <a:pt x="193086" y="12154"/>
                  </a:lnTo>
                  <a:lnTo>
                    <a:pt x="196593" y="15898"/>
                  </a:lnTo>
                  <a:lnTo>
                    <a:pt x="199236" y="20177"/>
                  </a:lnTo>
                  <a:lnTo>
                    <a:pt x="201015" y="24990"/>
                  </a:lnTo>
                  <a:lnTo>
                    <a:pt x="202794" y="29803"/>
                  </a:lnTo>
                  <a:lnTo>
                    <a:pt x="203569" y="34772"/>
                  </a:lnTo>
                  <a:lnTo>
                    <a:pt x="203340" y="39898"/>
                  </a:lnTo>
                  <a:lnTo>
                    <a:pt x="207072" y="40858"/>
                  </a:lnTo>
                  <a:lnTo>
                    <a:pt x="231458" y="58790"/>
                  </a:lnTo>
                  <a:lnTo>
                    <a:pt x="233757" y="61883"/>
                  </a:lnTo>
                  <a:lnTo>
                    <a:pt x="241604" y="87308"/>
                  </a:lnTo>
                  <a:lnTo>
                    <a:pt x="241447" y="91159"/>
                  </a:lnTo>
                  <a:lnTo>
                    <a:pt x="241291" y="95010"/>
                  </a:lnTo>
                  <a:lnTo>
                    <a:pt x="240704" y="98794"/>
                  </a:lnTo>
                  <a:lnTo>
                    <a:pt x="239686" y="102511"/>
                  </a:lnTo>
                  <a:lnTo>
                    <a:pt x="238669" y="106228"/>
                  </a:lnTo>
                  <a:lnTo>
                    <a:pt x="237247" y="109783"/>
                  </a:lnTo>
                  <a:lnTo>
                    <a:pt x="235420" y="113177"/>
                  </a:lnTo>
                  <a:lnTo>
                    <a:pt x="238632" y="115786"/>
                  </a:lnTo>
                  <a:lnTo>
                    <a:pt x="241482" y="118744"/>
                  </a:lnTo>
                  <a:lnTo>
                    <a:pt x="243972" y="122050"/>
                  </a:lnTo>
                  <a:lnTo>
                    <a:pt x="246461" y="125356"/>
                  </a:lnTo>
                  <a:lnTo>
                    <a:pt x="248515" y="128913"/>
                  </a:lnTo>
                  <a:lnTo>
                    <a:pt x="250135" y="132721"/>
                  </a:lnTo>
                  <a:lnTo>
                    <a:pt x="251755" y="136530"/>
                  </a:lnTo>
                  <a:lnTo>
                    <a:pt x="252892" y="140477"/>
                  </a:lnTo>
                  <a:lnTo>
                    <a:pt x="253547" y="144563"/>
                  </a:lnTo>
                  <a:lnTo>
                    <a:pt x="254203" y="148649"/>
                  </a:lnTo>
                  <a:lnTo>
                    <a:pt x="254356" y="152754"/>
                  </a:lnTo>
                  <a:lnTo>
                    <a:pt x="254008" y="156877"/>
                  </a:lnTo>
                  <a:lnTo>
                    <a:pt x="253660" y="161001"/>
                  </a:lnTo>
                  <a:lnTo>
                    <a:pt x="246141" y="180043"/>
                  </a:lnTo>
                  <a:lnTo>
                    <a:pt x="243906" y="183525"/>
                  </a:lnTo>
                  <a:lnTo>
                    <a:pt x="228359" y="196845"/>
                  </a:lnTo>
                  <a:lnTo>
                    <a:pt x="228804" y="200288"/>
                  </a:lnTo>
                  <a:lnTo>
                    <a:pt x="228895" y="203740"/>
                  </a:lnTo>
                  <a:lnTo>
                    <a:pt x="228632" y="207202"/>
                  </a:lnTo>
                  <a:lnTo>
                    <a:pt x="228369" y="210664"/>
                  </a:lnTo>
                  <a:lnTo>
                    <a:pt x="227758" y="214063"/>
                  </a:lnTo>
                  <a:lnTo>
                    <a:pt x="226798" y="217400"/>
                  </a:lnTo>
                  <a:lnTo>
                    <a:pt x="225838" y="220736"/>
                  </a:lnTo>
                  <a:lnTo>
                    <a:pt x="224550" y="223941"/>
                  </a:lnTo>
                  <a:lnTo>
                    <a:pt x="222933" y="227013"/>
                  </a:lnTo>
                  <a:lnTo>
                    <a:pt x="221316" y="230086"/>
                  </a:lnTo>
                  <a:lnTo>
                    <a:pt x="219405" y="232962"/>
                  </a:lnTo>
                  <a:lnTo>
                    <a:pt x="217198" y="235643"/>
                  </a:lnTo>
                  <a:lnTo>
                    <a:pt x="214992" y="238323"/>
                  </a:lnTo>
                  <a:lnTo>
                    <a:pt x="191485" y="252328"/>
                  </a:lnTo>
                  <a:lnTo>
                    <a:pt x="188138" y="253251"/>
                  </a:lnTo>
                  <a:lnTo>
                    <a:pt x="184732" y="253825"/>
                  </a:lnTo>
                  <a:lnTo>
                    <a:pt x="181267" y="254050"/>
                  </a:lnTo>
                  <a:lnTo>
                    <a:pt x="177803" y="254274"/>
                  </a:lnTo>
                  <a:lnTo>
                    <a:pt x="174352" y="254146"/>
                  </a:lnTo>
                  <a:lnTo>
                    <a:pt x="170913" y="253663"/>
                  </a:lnTo>
                  <a:lnTo>
                    <a:pt x="167475" y="253180"/>
                  </a:lnTo>
                  <a:lnTo>
                    <a:pt x="164122" y="252353"/>
                  </a:lnTo>
                  <a:lnTo>
                    <a:pt x="160853" y="251183"/>
                  </a:lnTo>
                  <a:lnTo>
                    <a:pt x="157585" y="250013"/>
                  </a:lnTo>
                  <a:lnTo>
                    <a:pt x="154469" y="248523"/>
                  </a:lnTo>
                  <a:lnTo>
                    <a:pt x="151506" y="246714"/>
                  </a:lnTo>
                  <a:lnTo>
                    <a:pt x="148542" y="244904"/>
                  </a:lnTo>
                  <a:lnTo>
                    <a:pt x="145794" y="242813"/>
                  </a:lnTo>
                  <a:lnTo>
                    <a:pt x="143259" y="240441"/>
                  </a:lnTo>
                  <a:lnTo>
                    <a:pt x="140725" y="238068"/>
                  </a:lnTo>
                  <a:lnTo>
                    <a:pt x="131382" y="223592"/>
                  </a:lnTo>
                  <a:lnTo>
                    <a:pt x="129999" y="220407"/>
                  </a:lnTo>
                  <a:lnTo>
                    <a:pt x="128953" y="217115"/>
                  </a:lnTo>
                  <a:lnTo>
                    <a:pt x="128245" y="213716"/>
                  </a:lnTo>
                  <a:lnTo>
                    <a:pt x="127537" y="210318"/>
                  </a:lnTo>
                  <a:lnTo>
                    <a:pt x="127182" y="206882"/>
                  </a:lnTo>
                  <a:lnTo>
                    <a:pt x="127178" y="203410"/>
                  </a:lnTo>
                  <a:lnTo>
                    <a:pt x="127178" y="38310"/>
                  </a:lnTo>
                  <a:close/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657" y="6538912"/>
              <a:ext cx="241884" cy="1254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8419" y="6708571"/>
              <a:ext cx="202565" cy="6985"/>
            </a:xfrm>
            <a:custGeom>
              <a:avLst/>
              <a:gdLst/>
              <a:ahLst/>
              <a:cxnLst/>
              <a:rect l="l" t="t" r="r" b="b"/>
              <a:pathLst>
                <a:path w="202565" h="6984">
                  <a:moveTo>
                    <a:pt x="24980" y="6553"/>
                  </a:moveTo>
                  <a:lnTo>
                    <a:pt x="18412" y="6145"/>
                  </a:lnTo>
                  <a:lnTo>
                    <a:pt x="12059" y="4918"/>
                  </a:lnTo>
                  <a:lnTo>
                    <a:pt x="5922" y="2869"/>
                  </a:lnTo>
                  <a:lnTo>
                    <a:pt x="0" y="0"/>
                  </a:lnTo>
                </a:path>
                <a:path w="202565" h="6984">
                  <a:moveTo>
                    <a:pt x="202361" y="0"/>
                  </a:moveTo>
                  <a:lnTo>
                    <a:pt x="196439" y="2869"/>
                  </a:lnTo>
                  <a:lnTo>
                    <a:pt x="190301" y="4918"/>
                  </a:lnTo>
                  <a:lnTo>
                    <a:pt x="183949" y="6145"/>
                  </a:lnTo>
                  <a:lnTo>
                    <a:pt x="177380" y="6553"/>
                  </a:lnTo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57200" y="6905625"/>
            <a:ext cx="6677025" cy="914400"/>
          </a:xfrm>
          <a:custGeom>
            <a:avLst/>
            <a:gdLst/>
            <a:ahLst/>
            <a:cxnLst/>
            <a:rect l="l" t="t" r="r" b="b"/>
            <a:pathLst>
              <a:path w="6677025" h="914400">
                <a:moveTo>
                  <a:pt x="6605827" y="914399"/>
                </a:moveTo>
                <a:lnTo>
                  <a:pt x="71196" y="914399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7"/>
                </a:lnTo>
                <a:lnTo>
                  <a:pt x="0" y="843203"/>
                </a:lnTo>
                <a:lnTo>
                  <a:pt x="0" y="838200"/>
                </a:lnTo>
                <a:lnTo>
                  <a:pt x="0" y="71196"/>
                </a:lnTo>
                <a:lnTo>
                  <a:pt x="15621" y="29703"/>
                </a:lnTo>
                <a:lnTo>
                  <a:pt x="51661" y="3885"/>
                </a:lnTo>
                <a:lnTo>
                  <a:pt x="71196" y="0"/>
                </a:lnTo>
                <a:lnTo>
                  <a:pt x="6605827" y="0"/>
                </a:lnTo>
                <a:lnTo>
                  <a:pt x="6647319" y="15621"/>
                </a:lnTo>
                <a:lnTo>
                  <a:pt x="6673139" y="51660"/>
                </a:lnTo>
                <a:lnTo>
                  <a:pt x="6677025" y="71196"/>
                </a:lnTo>
                <a:lnTo>
                  <a:pt x="6677025" y="843203"/>
                </a:lnTo>
                <a:lnTo>
                  <a:pt x="6661402" y="884693"/>
                </a:lnTo>
                <a:lnTo>
                  <a:pt x="6625362" y="910512"/>
                </a:lnTo>
                <a:lnTo>
                  <a:pt x="6610783" y="913911"/>
                </a:lnTo>
                <a:lnTo>
                  <a:pt x="6605827" y="9143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200" y="7896225"/>
            <a:ext cx="6677025" cy="914400"/>
          </a:xfrm>
          <a:custGeom>
            <a:avLst/>
            <a:gdLst/>
            <a:ahLst/>
            <a:cxnLst/>
            <a:rect l="l" t="t" r="r" b="b"/>
            <a:pathLst>
              <a:path w="6677025" h="914400">
                <a:moveTo>
                  <a:pt x="6605827" y="914399"/>
                </a:moveTo>
                <a:lnTo>
                  <a:pt x="71196" y="914399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7"/>
                </a:lnTo>
                <a:lnTo>
                  <a:pt x="0" y="843202"/>
                </a:lnTo>
                <a:lnTo>
                  <a:pt x="0" y="838200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6605827" y="0"/>
                </a:lnTo>
                <a:lnTo>
                  <a:pt x="6647319" y="15620"/>
                </a:lnTo>
                <a:lnTo>
                  <a:pt x="6673139" y="51660"/>
                </a:lnTo>
                <a:lnTo>
                  <a:pt x="6677025" y="71196"/>
                </a:lnTo>
                <a:lnTo>
                  <a:pt x="6677025" y="843202"/>
                </a:lnTo>
                <a:lnTo>
                  <a:pt x="6661402" y="884693"/>
                </a:lnTo>
                <a:lnTo>
                  <a:pt x="6625362" y="910513"/>
                </a:lnTo>
                <a:lnTo>
                  <a:pt x="6610783" y="913911"/>
                </a:lnTo>
                <a:lnTo>
                  <a:pt x="6605827" y="9143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00" y="8886825"/>
            <a:ext cx="6677025" cy="914400"/>
          </a:xfrm>
          <a:custGeom>
            <a:avLst/>
            <a:gdLst/>
            <a:ahLst/>
            <a:cxnLst/>
            <a:rect l="l" t="t" r="r" b="b"/>
            <a:pathLst>
              <a:path w="6677025" h="914400">
                <a:moveTo>
                  <a:pt x="6605827" y="914400"/>
                </a:moveTo>
                <a:lnTo>
                  <a:pt x="71196" y="914400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6"/>
                </a:lnTo>
                <a:lnTo>
                  <a:pt x="0" y="843202"/>
                </a:lnTo>
                <a:lnTo>
                  <a:pt x="0" y="838200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4"/>
                </a:lnTo>
                <a:lnTo>
                  <a:pt x="71196" y="0"/>
                </a:lnTo>
                <a:lnTo>
                  <a:pt x="6605827" y="0"/>
                </a:lnTo>
                <a:lnTo>
                  <a:pt x="6647319" y="15621"/>
                </a:lnTo>
                <a:lnTo>
                  <a:pt x="6673139" y="51660"/>
                </a:lnTo>
                <a:lnTo>
                  <a:pt x="6677025" y="71196"/>
                </a:lnTo>
                <a:lnTo>
                  <a:pt x="6677025" y="843202"/>
                </a:lnTo>
                <a:lnTo>
                  <a:pt x="6661402" y="884692"/>
                </a:lnTo>
                <a:lnTo>
                  <a:pt x="6625362" y="910512"/>
                </a:lnTo>
                <a:lnTo>
                  <a:pt x="6610783" y="913911"/>
                </a:lnTo>
                <a:lnTo>
                  <a:pt x="6605827" y="914400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3400" y="6199398"/>
            <a:ext cx="5539105" cy="1494155"/>
          </a:xfrm>
          <a:prstGeom prst="rect">
            <a:avLst/>
          </a:prstGeom>
        </p:spPr>
        <p:txBody>
          <a:bodyPr vert="horz" wrap="square" lIns="0" tIns="194945" rIns="0" bIns="0" rtlCol="0" anchor="t">
            <a:spAutoFit/>
          </a:bodyPr>
          <a:lstStyle/>
          <a:p>
            <a:pPr marL="381000">
              <a:lnSpc>
                <a:spcPct val="100000"/>
              </a:lnSpc>
              <a:spcBef>
                <a:spcPts val="1535"/>
              </a:spcBef>
            </a:pPr>
            <a:r>
              <a:rPr sz="2900" b="1" spc="-95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29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9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20" dirty="0">
                <a:solidFill>
                  <a:srgbClr val="FFFFFF"/>
                </a:solidFill>
                <a:latin typeface="Arial"/>
                <a:cs typeface="Arial"/>
              </a:rPr>
              <a:t>Works</a:t>
            </a:r>
            <a:endParaRPr sz="2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2450" b="1" spc="-95" dirty="0">
                <a:solidFill>
                  <a:srgbClr val="00BEFF"/>
                </a:solidFill>
                <a:latin typeface="Arial"/>
                <a:cs typeface="Arial"/>
              </a:rPr>
              <a:t>Input</a:t>
            </a:r>
            <a:r>
              <a:rPr sz="2450" b="1" spc="-9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450" b="1" spc="-120" dirty="0">
                <a:solidFill>
                  <a:srgbClr val="00BEFF"/>
                </a:solidFill>
                <a:latin typeface="Arial"/>
                <a:cs typeface="Arial"/>
              </a:rPr>
              <a:t>Layer</a:t>
            </a:r>
            <a:endParaRPr sz="2450" b="1" spc="-55" dirty="0">
              <a:solidFill>
                <a:srgbClr val="00BEFF"/>
              </a:solidFill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Receives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environment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state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g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.,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position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).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700" y="7869397"/>
            <a:ext cx="5238115" cy="1828706"/>
          </a:xfrm>
          <a:prstGeom prst="rect">
            <a:avLst/>
          </a:prstGeom>
        </p:spPr>
        <p:txBody>
          <a:bodyPr vert="horz" wrap="square" lIns="0" tIns="71120" rIns="0" bIns="0" rtlCol="0" anchor="t">
            <a:spAutoFit/>
          </a:bodyPr>
          <a:lstStyle/>
          <a:p>
            <a:pPr marL="50800">
              <a:lnSpc>
                <a:spcPct val="100000"/>
              </a:lnSpc>
              <a:spcBef>
                <a:spcPts val="560"/>
              </a:spcBef>
            </a:pPr>
            <a:r>
              <a:rPr sz="3750" b="1" spc="-202" baseline="-5555" dirty="0">
                <a:solidFill>
                  <a:srgbClr val="38FF13"/>
                </a:solidFill>
                <a:latin typeface="Arial"/>
                <a:cs typeface="Arial"/>
              </a:rPr>
              <a:t>Hidden</a:t>
            </a:r>
            <a:r>
              <a:rPr sz="3750" b="1" spc="-179" baseline="-555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3750" b="1" spc="-217" baseline="-5555" dirty="0">
                <a:solidFill>
                  <a:srgbClr val="38FF13"/>
                </a:solidFill>
                <a:latin typeface="Arial"/>
                <a:cs typeface="Arial"/>
              </a:rPr>
              <a:t>Layers</a:t>
            </a:r>
            <a:endParaRPr lang="en-US" sz="3750" b="1" spc="-127" baseline="-5555" dirty="0">
              <a:solidFill>
                <a:srgbClr val="38FF13"/>
              </a:solidFill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50"/>
              </a:spcBef>
            </a:pP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Processes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state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find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optimal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driving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patterns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450" b="1" spc="-105" dirty="0">
                <a:solidFill>
                  <a:srgbClr val="FF6A34"/>
                </a:solidFill>
                <a:latin typeface="Arial"/>
                <a:cs typeface="Arial"/>
              </a:rPr>
              <a:t>Output</a:t>
            </a:r>
            <a:r>
              <a:rPr sz="2450" b="1" spc="-8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450" b="1" spc="-120" dirty="0">
                <a:solidFill>
                  <a:srgbClr val="FF6A34"/>
                </a:solidFill>
                <a:latin typeface="Arial"/>
                <a:cs typeface="Arial"/>
              </a:rPr>
              <a:t>Layer</a:t>
            </a:r>
            <a:r>
              <a:rPr sz="2450" b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endParaRPr sz="3000" spc="-15" baseline="5555" dirty="0">
              <a:solidFill>
                <a:srgbClr val="D0D5DA"/>
              </a:solidFill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Outputs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steering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150" dirty="0">
                <a:solidFill>
                  <a:srgbClr val="D0D5DA"/>
                </a:solidFill>
                <a:latin typeface="Microsoft Sans Serif"/>
                <a:cs typeface="Microsoft Sans Serif"/>
              </a:rPr>
              <a:t>&amp;</a:t>
            </a:r>
            <a:r>
              <a:rPr sz="19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acceleration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commands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7200" y="1409700"/>
            <a:ext cx="17373600" cy="4886325"/>
          </a:xfrm>
          <a:custGeom>
            <a:avLst/>
            <a:gdLst/>
            <a:ahLst/>
            <a:cxnLst/>
            <a:rect l="l" t="t" r="r" b="b"/>
            <a:pathLst>
              <a:path w="17373600" h="4886325">
                <a:moveTo>
                  <a:pt x="17302402" y="4886325"/>
                </a:moveTo>
                <a:lnTo>
                  <a:pt x="71196" y="4886325"/>
                </a:lnTo>
                <a:lnTo>
                  <a:pt x="66241" y="4885836"/>
                </a:lnTo>
                <a:lnTo>
                  <a:pt x="29705" y="4870702"/>
                </a:lnTo>
                <a:lnTo>
                  <a:pt x="3885" y="4834662"/>
                </a:lnTo>
                <a:lnTo>
                  <a:pt x="0" y="4815128"/>
                </a:lnTo>
                <a:lnTo>
                  <a:pt x="0" y="4810125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7302402" y="0"/>
                </a:lnTo>
                <a:lnTo>
                  <a:pt x="17343892" y="15621"/>
                </a:lnTo>
                <a:lnTo>
                  <a:pt x="17369712" y="51661"/>
                </a:lnTo>
                <a:lnTo>
                  <a:pt x="17373599" y="71196"/>
                </a:lnTo>
                <a:lnTo>
                  <a:pt x="17373599" y="4815128"/>
                </a:lnTo>
                <a:lnTo>
                  <a:pt x="17357977" y="4856618"/>
                </a:lnTo>
                <a:lnTo>
                  <a:pt x="17321936" y="4882437"/>
                </a:lnTo>
                <a:lnTo>
                  <a:pt x="17307356" y="4885836"/>
                </a:lnTo>
                <a:lnTo>
                  <a:pt x="17302402" y="4886325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034966" y="9926637"/>
            <a:ext cx="808990" cy="2330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16</a:t>
            </a:fld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24" name="Picture 23" descr="A diagram of a network&#10;&#10;AI-generated content may be incorrect.">
            <a:extLst>
              <a:ext uri="{FF2B5EF4-FFF2-40B4-BE49-F238E27FC236}">
                <a16:creationId xmlns:a16="http://schemas.microsoft.com/office/drawing/2014/main" id="{9A7894D6-7A60-2536-6EBF-DF02C807B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325" y="1831193"/>
            <a:ext cx="8243349" cy="40464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5046980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>
                <a:solidFill>
                  <a:srgbClr val="FF6A34"/>
                </a:solidFill>
              </a:rPr>
              <a:t>The</a:t>
            </a:r>
            <a:r>
              <a:rPr spc="-340" dirty="0">
                <a:solidFill>
                  <a:srgbClr val="FF6A34"/>
                </a:solidFill>
              </a:rPr>
              <a:t> </a:t>
            </a:r>
            <a:r>
              <a:rPr spc="-275" dirty="0">
                <a:solidFill>
                  <a:srgbClr val="FF6A34"/>
                </a:solidFill>
              </a:rPr>
              <a:t>Training</a:t>
            </a:r>
            <a:r>
              <a:rPr spc="-340" dirty="0">
                <a:solidFill>
                  <a:srgbClr val="FF6A34"/>
                </a:solidFill>
              </a:rPr>
              <a:t> </a:t>
            </a:r>
            <a:r>
              <a:rPr spc="-425" dirty="0">
                <a:solidFill>
                  <a:srgbClr val="FF6A34"/>
                </a:solidFill>
              </a:rPr>
              <a:t>Loop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625600"/>
            <a:ext cx="8534400" cy="6070600"/>
            <a:chOff x="457200" y="1625600"/>
            <a:chExt cx="8534400" cy="6070600"/>
          </a:xfrm>
        </p:grpSpPr>
        <p:sp>
          <p:nvSpPr>
            <p:cNvPr id="4" name="object 4"/>
            <p:cNvSpPr/>
            <p:nvPr/>
          </p:nvSpPr>
          <p:spPr>
            <a:xfrm>
              <a:off x="495300" y="1638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0" y="106794"/>
                  </a:lnTo>
                  <a:lnTo>
                    <a:pt x="732" y="99362"/>
                  </a:lnTo>
                  <a:lnTo>
                    <a:pt x="2196" y="92001"/>
                  </a:lnTo>
                  <a:lnTo>
                    <a:pt x="3660" y="84640"/>
                  </a:lnTo>
                  <a:lnTo>
                    <a:pt x="5828" y="77493"/>
                  </a:lnTo>
                  <a:lnTo>
                    <a:pt x="8700" y="70559"/>
                  </a:lnTo>
                  <a:lnTo>
                    <a:pt x="11572" y="63625"/>
                  </a:lnTo>
                  <a:lnTo>
                    <a:pt x="15093" y="57038"/>
                  </a:lnTo>
                  <a:lnTo>
                    <a:pt x="19263" y="50798"/>
                  </a:lnTo>
                  <a:lnTo>
                    <a:pt x="23432" y="44558"/>
                  </a:lnTo>
                  <a:lnTo>
                    <a:pt x="57038" y="15093"/>
                  </a:lnTo>
                  <a:lnTo>
                    <a:pt x="70559" y="8700"/>
                  </a:lnTo>
                  <a:lnTo>
                    <a:pt x="77493" y="5828"/>
                  </a:lnTo>
                  <a:lnTo>
                    <a:pt x="84640" y="3660"/>
                  </a:lnTo>
                  <a:lnTo>
                    <a:pt x="92001" y="2196"/>
                  </a:lnTo>
                  <a:lnTo>
                    <a:pt x="99362" y="732"/>
                  </a:lnTo>
                  <a:lnTo>
                    <a:pt x="106794" y="0"/>
                  </a:lnTo>
                  <a:lnTo>
                    <a:pt x="114300" y="0"/>
                  </a:lnTo>
                  <a:lnTo>
                    <a:pt x="160466" y="9115"/>
                  </a:lnTo>
                  <a:lnTo>
                    <a:pt x="199898" y="34798"/>
                  </a:lnTo>
                  <a:lnTo>
                    <a:pt x="228600" y="63500"/>
                  </a:lnTo>
                </a:path>
                <a:path w="228600" h="228600">
                  <a:moveTo>
                    <a:pt x="228600" y="0"/>
                  </a:moveTo>
                  <a:lnTo>
                    <a:pt x="228600" y="63500"/>
                  </a:lnTo>
                  <a:lnTo>
                    <a:pt x="165100" y="63500"/>
                  </a:lnTo>
                </a:path>
                <a:path w="228600" h="228600">
                  <a:moveTo>
                    <a:pt x="228600" y="114300"/>
                  </a:moveTo>
                  <a:lnTo>
                    <a:pt x="228600" y="121805"/>
                  </a:lnTo>
                  <a:lnTo>
                    <a:pt x="227867" y="129237"/>
                  </a:lnTo>
                  <a:lnTo>
                    <a:pt x="226403" y="136598"/>
                  </a:lnTo>
                  <a:lnTo>
                    <a:pt x="224939" y="143959"/>
                  </a:lnTo>
                  <a:lnTo>
                    <a:pt x="209336" y="177801"/>
                  </a:lnTo>
                  <a:lnTo>
                    <a:pt x="205167" y="184041"/>
                  </a:lnTo>
                  <a:lnTo>
                    <a:pt x="171561" y="213506"/>
                  </a:lnTo>
                  <a:lnTo>
                    <a:pt x="136598" y="226403"/>
                  </a:lnTo>
                  <a:lnTo>
                    <a:pt x="129237" y="227867"/>
                  </a:lnTo>
                  <a:lnTo>
                    <a:pt x="121805" y="228600"/>
                  </a:lnTo>
                  <a:lnTo>
                    <a:pt x="114300" y="228600"/>
                  </a:lnTo>
                  <a:lnTo>
                    <a:pt x="102427" y="227996"/>
                  </a:lnTo>
                  <a:lnTo>
                    <a:pt x="57343" y="214494"/>
                  </a:lnTo>
                  <a:lnTo>
                    <a:pt x="28702" y="193802"/>
                  </a:lnTo>
                  <a:lnTo>
                    <a:pt x="0" y="165100"/>
                  </a:lnTo>
                </a:path>
                <a:path w="228600" h="228600">
                  <a:moveTo>
                    <a:pt x="63500" y="165100"/>
                  </a:moveTo>
                  <a:lnTo>
                    <a:pt x="0" y="165100"/>
                  </a:lnTo>
                  <a:lnTo>
                    <a:pt x="0" y="228600"/>
                  </a:lnTo>
                </a:path>
              </a:pathLst>
            </a:custGeom>
            <a:ln w="254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87" y="2095499"/>
              <a:ext cx="8535035" cy="5600700"/>
            </a:xfrm>
            <a:custGeom>
              <a:avLst/>
              <a:gdLst/>
              <a:ahLst/>
              <a:cxnLst/>
              <a:rect l="l" t="t" r="r" b="b"/>
              <a:pathLst>
                <a:path w="8535035" h="5600700">
                  <a:moveTo>
                    <a:pt x="8534413" y="4833709"/>
                  </a:moveTo>
                  <a:lnTo>
                    <a:pt x="8518779" y="4792205"/>
                  </a:lnTo>
                  <a:lnTo>
                    <a:pt x="8482749" y="4766386"/>
                  </a:lnTo>
                  <a:lnTo>
                    <a:pt x="8463204" y="4762500"/>
                  </a:lnTo>
                  <a:lnTo>
                    <a:pt x="71208" y="4762500"/>
                  </a:lnTo>
                  <a:lnTo>
                    <a:pt x="29718" y="4778121"/>
                  </a:lnTo>
                  <a:lnTo>
                    <a:pt x="3886" y="4814163"/>
                  </a:lnTo>
                  <a:lnTo>
                    <a:pt x="0" y="4833709"/>
                  </a:lnTo>
                  <a:lnTo>
                    <a:pt x="12" y="5524500"/>
                  </a:lnTo>
                  <a:lnTo>
                    <a:pt x="0" y="5529504"/>
                  </a:lnTo>
                  <a:lnTo>
                    <a:pt x="15633" y="5570994"/>
                  </a:lnTo>
                  <a:lnTo>
                    <a:pt x="51663" y="5596814"/>
                  </a:lnTo>
                  <a:lnTo>
                    <a:pt x="71208" y="5600700"/>
                  </a:lnTo>
                  <a:lnTo>
                    <a:pt x="8463204" y="5600700"/>
                  </a:lnTo>
                  <a:lnTo>
                    <a:pt x="8504695" y="5585079"/>
                  </a:lnTo>
                  <a:lnTo>
                    <a:pt x="8530514" y="5549049"/>
                  </a:lnTo>
                  <a:lnTo>
                    <a:pt x="8534413" y="5529504"/>
                  </a:lnTo>
                  <a:lnTo>
                    <a:pt x="8534413" y="4833709"/>
                  </a:lnTo>
                  <a:close/>
                </a:path>
                <a:path w="8535035" h="5600700">
                  <a:moveTo>
                    <a:pt x="8534413" y="3881209"/>
                  </a:moveTo>
                  <a:lnTo>
                    <a:pt x="8518779" y="3839718"/>
                  </a:lnTo>
                  <a:lnTo>
                    <a:pt x="8482749" y="3813886"/>
                  </a:lnTo>
                  <a:lnTo>
                    <a:pt x="8463204" y="3810000"/>
                  </a:lnTo>
                  <a:lnTo>
                    <a:pt x="71208" y="3810000"/>
                  </a:lnTo>
                  <a:lnTo>
                    <a:pt x="29718" y="3825621"/>
                  </a:lnTo>
                  <a:lnTo>
                    <a:pt x="3886" y="3861663"/>
                  </a:lnTo>
                  <a:lnTo>
                    <a:pt x="0" y="3881209"/>
                  </a:lnTo>
                  <a:lnTo>
                    <a:pt x="12" y="4572000"/>
                  </a:lnTo>
                  <a:lnTo>
                    <a:pt x="0" y="4577004"/>
                  </a:lnTo>
                  <a:lnTo>
                    <a:pt x="15633" y="4618494"/>
                  </a:lnTo>
                  <a:lnTo>
                    <a:pt x="51663" y="4644314"/>
                  </a:lnTo>
                  <a:lnTo>
                    <a:pt x="71208" y="4648200"/>
                  </a:lnTo>
                  <a:lnTo>
                    <a:pt x="8463204" y="4648200"/>
                  </a:lnTo>
                  <a:lnTo>
                    <a:pt x="8504695" y="4632579"/>
                  </a:lnTo>
                  <a:lnTo>
                    <a:pt x="8530514" y="4596549"/>
                  </a:lnTo>
                  <a:lnTo>
                    <a:pt x="8534413" y="4577004"/>
                  </a:lnTo>
                  <a:lnTo>
                    <a:pt x="8534413" y="3881209"/>
                  </a:lnTo>
                  <a:close/>
                </a:path>
                <a:path w="8535035" h="5600700">
                  <a:moveTo>
                    <a:pt x="8534413" y="2928709"/>
                  </a:moveTo>
                  <a:lnTo>
                    <a:pt x="8518779" y="2887218"/>
                  </a:lnTo>
                  <a:lnTo>
                    <a:pt x="8482749" y="2861386"/>
                  </a:lnTo>
                  <a:lnTo>
                    <a:pt x="8463204" y="2857500"/>
                  </a:lnTo>
                  <a:lnTo>
                    <a:pt x="71208" y="2857500"/>
                  </a:lnTo>
                  <a:lnTo>
                    <a:pt x="29718" y="2873133"/>
                  </a:lnTo>
                  <a:lnTo>
                    <a:pt x="3886" y="2909163"/>
                  </a:lnTo>
                  <a:lnTo>
                    <a:pt x="0" y="2928709"/>
                  </a:lnTo>
                  <a:lnTo>
                    <a:pt x="12" y="3619500"/>
                  </a:lnTo>
                  <a:lnTo>
                    <a:pt x="0" y="3624503"/>
                  </a:lnTo>
                  <a:lnTo>
                    <a:pt x="15633" y="3665994"/>
                  </a:lnTo>
                  <a:lnTo>
                    <a:pt x="51663" y="3691813"/>
                  </a:lnTo>
                  <a:lnTo>
                    <a:pt x="71208" y="3695700"/>
                  </a:lnTo>
                  <a:lnTo>
                    <a:pt x="8463204" y="3695700"/>
                  </a:lnTo>
                  <a:lnTo>
                    <a:pt x="8504695" y="3680079"/>
                  </a:lnTo>
                  <a:lnTo>
                    <a:pt x="8530514" y="3644049"/>
                  </a:lnTo>
                  <a:lnTo>
                    <a:pt x="8534413" y="3624503"/>
                  </a:lnTo>
                  <a:lnTo>
                    <a:pt x="8534413" y="2928709"/>
                  </a:lnTo>
                  <a:close/>
                </a:path>
                <a:path w="8535035" h="5600700">
                  <a:moveTo>
                    <a:pt x="8534413" y="1976208"/>
                  </a:moveTo>
                  <a:lnTo>
                    <a:pt x="8518779" y="1934718"/>
                  </a:lnTo>
                  <a:lnTo>
                    <a:pt x="8482749" y="1908886"/>
                  </a:lnTo>
                  <a:lnTo>
                    <a:pt x="8463204" y="1905000"/>
                  </a:lnTo>
                  <a:lnTo>
                    <a:pt x="71208" y="1905000"/>
                  </a:lnTo>
                  <a:lnTo>
                    <a:pt x="29718" y="1920633"/>
                  </a:lnTo>
                  <a:lnTo>
                    <a:pt x="3886" y="1956663"/>
                  </a:lnTo>
                  <a:lnTo>
                    <a:pt x="0" y="1976208"/>
                  </a:lnTo>
                  <a:lnTo>
                    <a:pt x="12" y="2667000"/>
                  </a:lnTo>
                  <a:lnTo>
                    <a:pt x="0" y="2672003"/>
                  </a:lnTo>
                  <a:lnTo>
                    <a:pt x="15633" y="2713494"/>
                  </a:lnTo>
                  <a:lnTo>
                    <a:pt x="51663" y="2739313"/>
                  </a:lnTo>
                  <a:lnTo>
                    <a:pt x="71208" y="2743200"/>
                  </a:lnTo>
                  <a:lnTo>
                    <a:pt x="8463204" y="2743200"/>
                  </a:lnTo>
                  <a:lnTo>
                    <a:pt x="8504695" y="2727579"/>
                  </a:lnTo>
                  <a:lnTo>
                    <a:pt x="8530514" y="2691549"/>
                  </a:lnTo>
                  <a:lnTo>
                    <a:pt x="8534413" y="2672003"/>
                  </a:lnTo>
                  <a:lnTo>
                    <a:pt x="8534413" y="1976208"/>
                  </a:lnTo>
                  <a:close/>
                </a:path>
                <a:path w="8535035" h="5600700">
                  <a:moveTo>
                    <a:pt x="8534413" y="1023708"/>
                  </a:moveTo>
                  <a:lnTo>
                    <a:pt x="8518779" y="982205"/>
                  </a:lnTo>
                  <a:lnTo>
                    <a:pt x="8482749" y="956386"/>
                  </a:lnTo>
                  <a:lnTo>
                    <a:pt x="8463204" y="952500"/>
                  </a:lnTo>
                  <a:lnTo>
                    <a:pt x="71208" y="952500"/>
                  </a:lnTo>
                  <a:lnTo>
                    <a:pt x="29718" y="968133"/>
                  </a:lnTo>
                  <a:lnTo>
                    <a:pt x="3886" y="1004163"/>
                  </a:lnTo>
                  <a:lnTo>
                    <a:pt x="0" y="1023708"/>
                  </a:lnTo>
                  <a:lnTo>
                    <a:pt x="12" y="1714500"/>
                  </a:lnTo>
                  <a:lnTo>
                    <a:pt x="0" y="1719503"/>
                  </a:lnTo>
                  <a:lnTo>
                    <a:pt x="15633" y="1760994"/>
                  </a:lnTo>
                  <a:lnTo>
                    <a:pt x="51663" y="1786826"/>
                  </a:lnTo>
                  <a:lnTo>
                    <a:pt x="71208" y="1790700"/>
                  </a:lnTo>
                  <a:lnTo>
                    <a:pt x="8463204" y="1790700"/>
                  </a:lnTo>
                  <a:lnTo>
                    <a:pt x="8504695" y="1775079"/>
                  </a:lnTo>
                  <a:lnTo>
                    <a:pt x="8530514" y="1739049"/>
                  </a:lnTo>
                  <a:lnTo>
                    <a:pt x="8534413" y="1719503"/>
                  </a:lnTo>
                  <a:lnTo>
                    <a:pt x="8534413" y="1023708"/>
                  </a:lnTo>
                  <a:close/>
                </a:path>
                <a:path w="8535035" h="5600700">
                  <a:moveTo>
                    <a:pt x="8534413" y="71208"/>
                  </a:moveTo>
                  <a:lnTo>
                    <a:pt x="8518779" y="29705"/>
                  </a:lnTo>
                  <a:lnTo>
                    <a:pt x="8482749" y="3886"/>
                  </a:lnTo>
                  <a:lnTo>
                    <a:pt x="8463204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762000"/>
                  </a:lnTo>
                  <a:lnTo>
                    <a:pt x="0" y="767003"/>
                  </a:lnTo>
                  <a:lnTo>
                    <a:pt x="15633" y="808494"/>
                  </a:lnTo>
                  <a:lnTo>
                    <a:pt x="51663" y="834313"/>
                  </a:lnTo>
                  <a:lnTo>
                    <a:pt x="71208" y="838200"/>
                  </a:lnTo>
                  <a:lnTo>
                    <a:pt x="8463204" y="838200"/>
                  </a:lnTo>
                  <a:lnTo>
                    <a:pt x="8504695" y="822579"/>
                  </a:lnTo>
                  <a:lnTo>
                    <a:pt x="8530514" y="786549"/>
                  </a:lnTo>
                  <a:lnTo>
                    <a:pt x="8534413" y="767003"/>
                  </a:lnTo>
                  <a:lnTo>
                    <a:pt x="8534413" y="71208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50" y="22764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50" y="3209925"/>
              <a:ext cx="190500" cy="2095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" y="4162425"/>
              <a:ext cx="190500" cy="2095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550" y="5124450"/>
              <a:ext cx="190500" cy="190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550" y="6076950"/>
              <a:ext cx="190500" cy="1905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9125" y="70580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75"/>
                  </a:moveTo>
                  <a:lnTo>
                    <a:pt x="133350" y="66675"/>
                  </a:lnTo>
                </a:path>
                <a:path w="133350" h="133350">
                  <a:moveTo>
                    <a:pt x="66675" y="0"/>
                  </a:moveTo>
                  <a:lnTo>
                    <a:pt x="133350" y="66675"/>
                  </a:lnTo>
                  <a:lnTo>
                    <a:pt x="66675" y="133350"/>
                  </a:lnTo>
                </a:path>
              </a:pathLst>
            </a:custGeom>
            <a:ln w="1905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4500" y="901700"/>
            <a:ext cx="6258560" cy="6670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D0D5DA"/>
                </a:solidFill>
                <a:latin typeface="Courier New"/>
                <a:cs typeface="Courier New"/>
              </a:rPr>
              <a:t>train.py</a:t>
            </a:r>
            <a:endParaRPr sz="22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50"/>
              </a:spcBef>
            </a:pP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0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20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script</a:t>
            </a:r>
            <a:r>
              <a:rPr sz="20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orchestrates</a:t>
            </a:r>
            <a:r>
              <a:rPr sz="20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0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process</a:t>
            </a:r>
            <a:r>
              <a:rPr sz="2050" spc="-10" dirty="0">
                <a:solidFill>
                  <a:srgbClr val="FFFFFF"/>
                </a:solidFill>
                <a:latin typeface="Britannic Bold"/>
                <a:cs typeface="Britannic Bold"/>
              </a:rPr>
              <a:t>:</a:t>
            </a:r>
            <a:endParaRPr sz="205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Britannic Bold"/>
              <a:cs typeface="Britannic Bold"/>
            </a:endParaRPr>
          </a:p>
          <a:p>
            <a:pPr marL="784225" indent="-276225">
              <a:lnSpc>
                <a:spcPts val="2950"/>
              </a:lnSpc>
              <a:buSzPct val="98000"/>
              <a:buAutoNum type="arabicPeriod"/>
              <a:tabLst>
                <a:tab pos="784225" algn="l"/>
              </a:tabLst>
            </a:pP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Initialize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Create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environment</a:t>
            </a:r>
            <a:r>
              <a:rPr sz="1700" spc="-3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1700" spc="-95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network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1700" spc="-10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50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optimizer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Britannic Bold"/>
              <a:cs typeface="Britannic Bold"/>
            </a:endParaRPr>
          </a:p>
          <a:p>
            <a:pPr marL="841375" indent="-333375">
              <a:lnSpc>
                <a:spcPts val="2950"/>
              </a:lnSpc>
              <a:buSzPct val="98000"/>
              <a:buAutoNum type="arabicPeriod" startAt="2"/>
              <a:tabLst>
                <a:tab pos="841375" algn="l"/>
              </a:tabLst>
            </a:pPr>
            <a:r>
              <a:rPr sz="2500" b="1" spc="-225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sz="25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Arial"/>
                <a:cs typeface="Arial"/>
              </a:rPr>
              <a:t>Episodes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Reset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environment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collect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experience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500">
              <a:latin typeface="Britannic Bold"/>
              <a:cs typeface="Britannic Bold"/>
            </a:endParaRPr>
          </a:p>
          <a:p>
            <a:pPr marL="838835" indent="-330835">
              <a:lnSpc>
                <a:spcPts val="2950"/>
              </a:lnSpc>
              <a:buSzPct val="98000"/>
              <a:buAutoNum type="arabicPeriod" startAt="3"/>
              <a:tabLst>
                <a:tab pos="838835" algn="l"/>
              </a:tabLst>
            </a:pP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Collect </a:t>
            </a:r>
            <a:r>
              <a:rPr sz="2500" b="1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Store</a:t>
            </a:r>
            <a:r>
              <a:rPr sz="165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observations</a:t>
            </a:r>
            <a:r>
              <a:rPr sz="1700" spc="-30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1700" spc="-10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actions</a:t>
            </a:r>
            <a:r>
              <a:rPr sz="1700" spc="-2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1700" spc="-105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rewards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in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a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buffer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500">
              <a:latin typeface="Britannic Bold"/>
              <a:cs typeface="Britannic Bold"/>
            </a:endParaRPr>
          </a:p>
          <a:p>
            <a:pPr marL="843915" indent="-335915">
              <a:lnSpc>
                <a:spcPts val="2950"/>
              </a:lnSpc>
              <a:buSzPct val="98000"/>
              <a:buAutoNum type="arabicPeriod" startAt="4"/>
              <a:tabLst>
                <a:tab pos="843915" algn="l"/>
              </a:tabLst>
            </a:pPr>
            <a:r>
              <a:rPr sz="2500" b="1" spc="-120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sz="25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Use</a:t>
            </a:r>
            <a:r>
              <a:rPr sz="16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50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update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network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weights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collected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Britannic Bold"/>
              <a:cs typeface="Britannic Bold"/>
            </a:endParaRPr>
          </a:p>
          <a:p>
            <a:pPr marL="831850" indent="-323850">
              <a:lnSpc>
                <a:spcPts val="2950"/>
              </a:lnSpc>
              <a:buSzPct val="98000"/>
              <a:buAutoNum type="arabicPeriod" startAt="5"/>
              <a:tabLst>
                <a:tab pos="831850" algn="l"/>
              </a:tabLst>
            </a:pPr>
            <a:r>
              <a:rPr sz="2500" b="1" spc="-140" dirty="0">
                <a:solidFill>
                  <a:srgbClr val="FFFFFF"/>
                </a:solidFill>
                <a:latin typeface="Arial"/>
                <a:cs typeface="Arial"/>
              </a:rPr>
              <a:t>Save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Arial"/>
                <a:cs typeface="Arial"/>
              </a:rPr>
              <a:t>Checkpoints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Periodically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save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trained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model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disk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500">
              <a:latin typeface="Britannic Bold"/>
              <a:cs typeface="Britannic Bold"/>
            </a:endParaRPr>
          </a:p>
          <a:p>
            <a:pPr marL="836930" indent="-328930">
              <a:lnSpc>
                <a:spcPts val="2950"/>
              </a:lnSpc>
              <a:buSzPct val="98000"/>
              <a:buAutoNum type="arabicPeriod" startAt="6"/>
              <a:tabLst>
                <a:tab pos="836930" algn="l"/>
              </a:tabLst>
            </a:pP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1989"/>
              </a:lnSpc>
            </a:pP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Continue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thousands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episodes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until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performance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plateaus</a:t>
            </a:r>
            <a:r>
              <a:rPr sz="1700" spc="-10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1700">
              <a:latin typeface="Britannic Bold"/>
              <a:cs typeface="Britannic Bold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96400" y="1600200"/>
            <a:ext cx="8534400" cy="6267450"/>
            <a:chOff x="9296400" y="1600200"/>
            <a:chExt cx="8534400" cy="6267450"/>
          </a:xfrm>
        </p:grpSpPr>
        <p:sp>
          <p:nvSpPr>
            <p:cNvPr id="14" name="object 14"/>
            <p:cNvSpPr/>
            <p:nvPr/>
          </p:nvSpPr>
          <p:spPr>
            <a:xfrm>
              <a:off x="9301162" y="1604962"/>
              <a:ext cx="8524875" cy="6257925"/>
            </a:xfrm>
            <a:custGeom>
              <a:avLst/>
              <a:gdLst/>
              <a:ahLst/>
              <a:cxnLst/>
              <a:rect l="l" t="t" r="r" b="b"/>
              <a:pathLst>
                <a:path w="8524875" h="6257925">
                  <a:moveTo>
                    <a:pt x="8458126" y="6257924"/>
                  </a:moveTo>
                  <a:lnTo>
                    <a:pt x="66746" y="6257924"/>
                  </a:lnTo>
                  <a:lnTo>
                    <a:pt x="62100" y="6257466"/>
                  </a:lnTo>
                  <a:lnTo>
                    <a:pt x="24240" y="6240317"/>
                  </a:lnTo>
                  <a:lnTo>
                    <a:pt x="2286" y="6205023"/>
                  </a:lnTo>
                  <a:lnTo>
                    <a:pt x="0" y="6191178"/>
                  </a:lnTo>
                  <a:lnTo>
                    <a:pt x="0" y="61864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58126" y="0"/>
                  </a:lnTo>
                  <a:lnTo>
                    <a:pt x="8497023" y="14645"/>
                  </a:lnTo>
                  <a:lnTo>
                    <a:pt x="8521230" y="48433"/>
                  </a:lnTo>
                  <a:lnTo>
                    <a:pt x="8524874" y="66746"/>
                  </a:lnTo>
                  <a:lnTo>
                    <a:pt x="8524874" y="6191178"/>
                  </a:lnTo>
                  <a:lnTo>
                    <a:pt x="8510228" y="6230074"/>
                  </a:lnTo>
                  <a:lnTo>
                    <a:pt x="8476439" y="6254281"/>
                  </a:lnTo>
                  <a:lnTo>
                    <a:pt x="8462772" y="6257466"/>
                  </a:lnTo>
                  <a:lnTo>
                    <a:pt x="8458126" y="6257924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01162" y="1604962"/>
              <a:ext cx="8524875" cy="6257925"/>
            </a:xfrm>
            <a:custGeom>
              <a:avLst/>
              <a:gdLst/>
              <a:ahLst/>
              <a:cxnLst/>
              <a:rect l="l" t="t" r="r" b="b"/>
              <a:pathLst>
                <a:path w="8524875" h="6257925">
                  <a:moveTo>
                    <a:pt x="0" y="61864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6" y="52899"/>
                  </a:lnTo>
                  <a:lnTo>
                    <a:pt x="3641" y="48433"/>
                  </a:lnTo>
                  <a:lnTo>
                    <a:pt x="5436" y="44099"/>
                  </a:lnTo>
                  <a:lnTo>
                    <a:pt x="7231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4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53437" y="0"/>
                  </a:lnTo>
                  <a:lnTo>
                    <a:pt x="8458126" y="0"/>
                  </a:lnTo>
                  <a:lnTo>
                    <a:pt x="8462772" y="457"/>
                  </a:lnTo>
                  <a:lnTo>
                    <a:pt x="8493123" y="12039"/>
                  </a:lnTo>
                  <a:lnTo>
                    <a:pt x="8497023" y="14645"/>
                  </a:lnTo>
                  <a:lnTo>
                    <a:pt x="8500633" y="17606"/>
                  </a:lnTo>
                  <a:lnTo>
                    <a:pt x="8503950" y="20923"/>
                  </a:lnTo>
                  <a:lnTo>
                    <a:pt x="8507267" y="24240"/>
                  </a:lnTo>
                  <a:lnTo>
                    <a:pt x="8523500" y="57500"/>
                  </a:lnTo>
                  <a:lnTo>
                    <a:pt x="8524415" y="62101"/>
                  </a:lnTo>
                  <a:lnTo>
                    <a:pt x="8524874" y="66746"/>
                  </a:lnTo>
                  <a:lnTo>
                    <a:pt x="8524875" y="71437"/>
                  </a:lnTo>
                  <a:lnTo>
                    <a:pt x="8524875" y="6186487"/>
                  </a:lnTo>
                  <a:lnTo>
                    <a:pt x="8524874" y="6191178"/>
                  </a:lnTo>
                  <a:lnTo>
                    <a:pt x="8524415" y="6195822"/>
                  </a:lnTo>
                  <a:lnTo>
                    <a:pt x="8523500" y="6200423"/>
                  </a:lnTo>
                  <a:lnTo>
                    <a:pt x="8522586" y="6205023"/>
                  </a:lnTo>
                  <a:lnTo>
                    <a:pt x="8500633" y="6240317"/>
                  </a:lnTo>
                  <a:lnTo>
                    <a:pt x="8493124" y="6245884"/>
                  </a:lnTo>
                  <a:lnTo>
                    <a:pt x="8489223" y="6248490"/>
                  </a:lnTo>
                  <a:lnTo>
                    <a:pt x="8485106" y="6250691"/>
                  </a:lnTo>
                  <a:lnTo>
                    <a:pt x="8480773" y="6252486"/>
                  </a:lnTo>
                  <a:lnTo>
                    <a:pt x="8476439" y="6254281"/>
                  </a:lnTo>
                  <a:lnTo>
                    <a:pt x="8453437" y="6257925"/>
                  </a:lnTo>
                  <a:lnTo>
                    <a:pt x="71437" y="6257925"/>
                  </a:lnTo>
                  <a:lnTo>
                    <a:pt x="44098" y="6252486"/>
                  </a:lnTo>
                  <a:lnTo>
                    <a:pt x="39764" y="6250691"/>
                  </a:lnTo>
                  <a:lnTo>
                    <a:pt x="35648" y="6248490"/>
                  </a:lnTo>
                  <a:lnTo>
                    <a:pt x="31747" y="6245884"/>
                  </a:lnTo>
                  <a:lnTo>
                    <a:pt x="27848" y="6243279"/>
                  </a:lnTo>
                  <a:lnTo>
                    <a:pt x="24240" y="6240317"/>
                  </a:lnTo>
                  <a:lnTo>
                    <a:pt x="20923" y="6237000"/>
                  </a:lnTo>
                  <a:lnTo>
                    <a:pt x="17606" y="6233683"/>
                  </a:lnTo>
                  <a:lnTo>
                    <a:pt x="5436" y="6213824"/>
                  </a:lnTo>
                  <a:lnTo>
                    <a:pt x="3641" y="6209490"/>
                  </a:lnTo>
                  <a:lnTo>
                    <a:pt x="2286" y="6205023"/>
                  </a:lnTo>
                  <a:lnTo>
                    <a:pt x="1371" y="6200423"/>
                  </a:lnTo>
                  <a:lnTo>
                    <a:pt x="457" y="6195822"/>
                  </a:lnTo>
                  <a:lnTo>
                    <a:pt x="0" y="6191178"/>
                  </a:lnTo>
                  <a:lnTo>
                    <a:pt x="0" y="6186487"/>
                  </a:lnTo>
                  <a:close/>
                </a:path>
              </a:pathLst>
            </a:custGeom>
            <a:ln w="9525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34524" y="3133725"/>
              <a:ext cx="8058150" cy="4495800"/>
            </a:xfrm>
            <a:custGeom>
              <a:avLst/>
              <a:gdLst/>
              <a:ahLst/>
              <a:cxnLst/>
              <a:rect l="l" t="t" r="r" b="b"/>
              <a:pathLst>
                <a:path w="8058150" h="4495800">
                  <a:moveTo>
                    <a:pt x="8025102" y="4495800"/>
                  </a:moveTo>
                  <a:lnTo>
                    <a:pt x="33048" y="4495800"/>
                  </a:lnTo>
                  <a:lnTo>
                    <a:pt x="28187" y="4494833"/>
                  </a:lnTo>
                  <a:lnTo>
                    <a:pt x="966" y="4467612"/>
                  </a:lnTo>
                  <a:lnTo>
                    <a:pt x="0" y="4462752"/>
                  </a:lnTo>
                  <a:lnTo>
                    <a:pt x="0" y="4457700"/>
                  </a:lnTo>
                  <a:lnTo>
                    <a:pt x="0" y="33046"/>
                  </a:lnTo>
                  <a:lnTo>
                    <a:pt x="28186" y="966"/>
                  </a:lnTo>
                  <a:lnTo>
                    <a:pt x="33048" y="0"/>
                  </a:lnTo>
                  <a:lnTo>
                    <a:pt x="8025102" y="0"/>
                  </a:lnTo>
                  <a:lnTo>
                    <a:pt x="8057182" y="28187"/>
                  </a:lnTo>
                  <a:lnTo>
                    <a:pt x="8058149" y="33046"/>
                  </a:lnTo>
                  <a:lnTo>
                    <a:pt x="8058149" y="4462752"/>
                  </a:lnTo>
                  <a:lnTo>
                    <a:pt x="8029961" y="4494833"/>
                  </a:lnTo>
                  <a:lnTo>
                    <a:pt x="8025102" y="449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600" spc="-175" dirty="0">
                <a:latin typeface="Cambria"/>
                <a:cs typeface="Cambria"/>
              </a:rPr>
              <a:t>[</a:t>
            </a:r>
            <a:r>
              <a:rPr spc="-175" dirty="0"/>
              <a:t>CODE</a:t>
            </a:r>
            <a:r>
              <a:rPr spc="-125" dirty="0"/>
              <a:t> </a:t>
            </a:r>
            <a:r>
              <a:rPr spc="-110" dirty="0"/>
              <a:t>PLACEHOLDER</a:t>
            </a:r>
            <a:r>
              <a:rPr sz="2600" spc="-110" dirty="0">
                <a:latin typeface="Cambria"/>
                <a:cs typeface="Cambria"/>
              </a:rPr>
              <a:t>]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0" spc="-10" dirty="0">
                <a:solidFill>
                  <a:srgbClr val="FFFFFF"/>
                </a:solidFill>
                <a:latin typeface="Courier New"/>
                <a:cs typeface="Courier New"/>
              </a:rPr>
              <a:t>train.py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650" b="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Main</a:t>
            </a:r>
            <a:r>
              <a:rPr sz="1650" b="0" spc="-8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training</a:t>
            </a:r>
            <a:r>
              <a:rPr sz="1650" b="0" spc="-8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b="0" dirty="0">
                <a:solidFill>
                  <a:srgbClr val="9CA2AF"/>
                </a:solidFill>
                <a:latin typeface="Microsoft Sans Serif"/>
                <a:cs typeface="Microsoft Sans Serif"/>
              </a:rPr>
              <a:t>loop</a:t>
            </a:r>
            <a:r>
              <a:rPr sz="1650" b="0" spc="-8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structure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500">
              <a:latin typeface="Microsoft Sans Serif"/>
              <a:cs typeface="Microsoft Sans Serif"/>
            </a:endParaRPr>
          </a:p>
          <a:p>
            <a:pPr marL="165100" marR="3860800">
              <a:lnSpc>
                <a:spcPct val="129600"/>
              </a:lnSpc>
            </a:pPr>
            <a:r>
              <a:rPr sz="1350" b="0" spc="-25" dirty="0">
                <a:solidFill>
                  <a:srgbClr val="60A5FA"/>
                </a:solidFill>
                <a:latin typeface="Courier New"/>
                <a:cs typeface="Courier New"/>
              </a:rPr>
              <a:t>def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train():</a:t>
            </a:r>
            <a:endParaRPr sz="1350">
              <a:latin typeface="Courier New"/>
              <a:cs typeface="Courier New"/>
            </a:endParaRPr>
          </a:p>
          <a:p>
            <a:pPr marL="317500" marR="5080">
              <a:lnSpc>
                <a:spcPct val="129600"/>
              </a:lnSpc>
            </a:pP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350" b="0" spc="-6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Initialize</a:t>
            </a:r>
            <a:r>
              <a:rPr sz="1350" b="0" spc="-6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environment,</a:t>
            </a:r>
            <a:r>
              <a:rPr sz="1350" b="0" spc="-6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network,</a:t>
            </a:r>
            <a:r>
              <a:rPr sz="1350" b="0" spc="-6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4ADE80"/>
                </a:solidFill>
                <a:latin typeface="Courier New"/>
                <a:cs typeface="Courier New"/>
              </a:rPr>
              <a:t>optimizer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env,</a:t>
            </a:r>
            <a:r>
              <a:rPr sz="1350" b="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network,</a:t>
            </a:r>
            <a:r>
              <a:rPr sz="1350" b="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ppo</a:t>
            </a:r>
            <a:r>
              <a:rPr sz="1350" b="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350" b="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setup()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1350" b="0" spc="-25" dirty="0">
                <a:solidFill>
                  <a:srgbClr val="60A5FA"/>
                </a:solidFill>
                <a:latin typeface="Courier New"/>
                <a:cs typeface="Courier New"/>
              </a:rPr>
              <a:t>for</a:t>
            </a:r>
            <a:endParaRPr sz="13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480"/>
              </a:spcBef>
            </a:pP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episode</a:t>
            </a:r>
            <a:r>
              <a:rPr sz="1350" b="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sz="1350" b="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range(NUM_EPISODES):</a:t>
            </a:r>
            <a:endParaRPr sz="1350">
              <a:latin typeface="Courier New"/>
              <a:cs typeface="Courier New"/>
            </a:endParaRPr>
          </a:p>
          <a:p>
            <a:pPr marL="469900" marR="58419">
              <a:lnSpc>
                <a:spcPct val="129600"/>
              </a:lnSpc>
            </a:pP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Collect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experience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by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running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an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4ADE80"/>
                </a:solidFill>
                <a:latin typeface="Courier New"/>
                <a:cs typeface="Courier New"/>
              </a:rPr>
              <a:t>episode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episode_data</a:t>
            </a:r>
            <a:r>
              <a:rPr sz="1350" b="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350" b="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run_episode(env,</a:t>
            </a:r>
            <a:r>
              <a:rPr sz="1350" b="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network)</a:t>
            </a:r>
            <a:endParaRPr sz="1350">
              <a:latin typeface="Courier New"/>
              <a:cs typeface="Courier New"/>
            </a:endParaRPr>
          </a:p>
          <a:p>
            <a:pPr marL="469900" marR="778510">
              <a:lnSpc>
                <a:spcPct val="129600"/>
              </a:lnSpc>
              <a:spcBef>
                <a:spcPts val="1200"/>
              </a:spcBef>
            </a:pP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350" b="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Update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policy</a:t>
            </a:r>
            <a:r>
              <a:rPr sz="1350" b="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with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collected</a:t>
            </a:r>
            <a:r>
              <a:rPr sz="1350" b="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spc="-20" dirty="0">
                <a:solidFill>
                  <a:srgbClr val="4ADE80"/>
                </a:solidFill>
                <a:latin typeface="Courier New"/>
                <a:cs typeface="Courier New"/>
              </a:rPr>
              <a:t>data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ppo.update(episode_data)</a:t>
            </a:r>
            <a:endParaRPr sz="1350">
              <a:latin typeface="Courier New"/>
              <a:cs typeface="Courier New"/>
            </a:endParaRPr>
          </a:p>
          <a:p>
            <a:pPr marL="469900" marR="1292860">
              <a:lnSpc>
                <a:spcPct val="129600"/>
              </a:lnSpc>
              <a:spcBef>
                <a:spcPts val="1205"/>
              </a:spcBef>
            </a:pP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350" b="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Save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4ADE80"/>
                </a:solidFill>
                <a:latin typeface="Courier New"/>
                <a:cs typeface="Courier New"/>
              </a:rPr>
              <a:t>checkpoint</a:t>
            </a:r>
            <a:r>
              <a:rPr sz="1350" b="0" spc="-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b="0" spc="-10" dirty="0">
                <a:solidFill>
                  <a:srgbClr val="4ADE80"/>
                </a:solidFill>
                <a:latin typeface="Courier New"/>
                <a:cs typeface="Courier New"/>
              </a:rPr>
              <a:t>periodically </a:t>
            </a:r>
            <a:r>
              <a:rPr sz="1350" b="0" spc="-25" dirty="0">
                <a:solidFill>
                  <a:srgbClr val="60A5FA"/>
                </a:solidFill>
                <a:latin typeface="Courier New"/>
                <a:cs typeface="Courier New"/>
              </a:rPr>
              <a:t>if</a:t>
            </a:r>
            <a:endParaRPr sz="1350">
              <a:latin typeface="Courier New"/>
              <a:cs typeface="Courier New"/>
            </a:endParaRPr>
          </a:p>
          <a:p>
            <a:pPr marL="622300" marR="522605" indent="-152400">
              <a:lnSpc>
                <a:spcPct val="129600"/>
              </a:lnSpc>
            </a:pP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episode</a:t>
            </a:r>
            <a:r>
              <a:rPr sz="1350" b="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%</a:t>
            </a:r>
            <a:r>
              <a:rPr sz="1350" b="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SAVE_INTERVAL</a:t>
            </a:r>
            <a:r>
              <a:rPr sz="1350" b="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dirty="0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sz="1350" b="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50" b="0" spc="-25" dirty="0">
                <a:solidFill>
                  <a:srgbClr val="FFFFFF"/>
                </a:solidFill>
                <a:latin typeface="Courier New"/>
                <a:cs typeface="Courier New"/>
              </a:rPr>
              <a:t>0: </a:t>
            </a:r>
            <a:r>
              <a:rPr sz="1350" b="0" spc="-10" dirty="0">
                <a:solidFill>
                  <a:srgbClr val="FFFFFF"/>
                </a:solidFill>
                <a:latin typeface="Courier New"/>
                <a:cs typeface="Courier New"/>
              </a:rPr>
              <a:t>network.save(f'model_{episode}.pth')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34966" y="9926637"/>
            <a:ext cx="808990" cy="2330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17</a:t>
            </a:fld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3873"/>
            <a:ext cx="6715125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15" dirty="0">
                <a:solidFill>
                  <a:srgbClr val="00BEFF"/>
                </a:solidFill>
              </a:rPr>
              <a:t>PPO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265" dirty="0">
                <a:solidFill>
                  <a:srgbClr val="00BEFF"/>
                </a:solidFill>
              </a:rPr>
              <a:t>Algorithm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275" dirty="0">
                <a:solidFill>
                  <a:srgbClr val="00BEFF"/>
                </a:solidFill>
              </a:rPr>
              <a:t>in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280" dirty="0">
                <a:solidFill>
                  <a:srgbClr val="00BEFF"/>
                </a:solidFill>
              </a:rPr>
              <a:t>Action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2777791"/>
            <a:ext cx="6829425" cy="4918710"/>
            <a:chOff x="457200" y="2777791"/>
            <a:chExt cx="6829425" cy="4918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328" y="2777791"/>
              <a:ext cx="192769" cy="2358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187" y="3390899"/>
              <a:ext cx="6830059" cy="4305300"/>
            </a:xfrm>
            <a:custGeom>
              <a:avLst/>
              <a:gdLst/>
              <a:ahLst/>
              <a:cxnLst/>
              <a:rect l="l" t="t" r="r" b="b"/>
              <a:pathLst>
                <a:path w="6830059" h="4305300">
                  <a:moveTo>
                    <a:pt x="6829438" y="3385909"/>
                  </a:moveTo>
                  <a:lnTo>
                    <a:pt x="6813804" y="3344418"/>
                  </a:lnTo>
                  <a:lnTo>
                    <a:pt x="6777774" y="3318586"/>
                  </a:lnTo>
                  <a:lnTo>
                    <a:pt x="6758229" y="3314700"/>
                  </a:lnTo>
                  <a:lnTo>
                    <a:pt x="71208" y="3314700"/>
                  </a:lnTo>
                  <a:lnTo>
                    <a:pt x="29718" y="3330321"/>
                  </a:lnTo>
                  <a:lnTo>
                    <a:pt x="3886" y="3366363"/>
                  </a:lnTo>
                  <a:lnTo>
                    <a:pt x="0" y="3385909"/>
                  </a:lnTo>
                  <a:lnTo>
                    <a:pt x="12" y="4229100"/>
                  </a:lnTo>
                  <a:lnTo>
                    <a:pt x="0" y="4234104"/>
                  </a:lnTo>
                  <a:lnTo>
                    <a:pt x="15633" y="4275594"/>
                  </a:lnTo>
                  <a:lnTo>
                    <a:pt x="51663" y="4301414"/>
                  </a:lnTo>
                  <a:lnTo>
                    <a:pt x="71208" y="4305300"/>
                  </a:lnTo>
                  <a:lnTo>
                    <a:pt x="6758229" y="4305300"/>
                  </a:lnTo>
                  <a:lnTo>
                    <a:pt x="6799732" y="4289679"/>
                  </a:lnTo>
                  <a:lnTo>
                    <a:pt x="6825551" y="4253649"/>
                  </a:lnTo>
                  <a:lnTo>
                    <a:pt x="6829438" y="4234104"/>
                  </a:lnTo>
                  <a:lnTo>
                    <a:pt x="6829438" y="3385909"/>
                  </a:lnTo>
                  <a:close/>
                </a:path>
                <a:path w="6830059" h="4305300">
                  <a:moveTo>
                    <a:pt x="6829438" y="2281009"/>
                  </a:moveTo>
                  <a:lnTo>
                    <a:pt x="6813804" y="2239518"/>
                  </a:lnTo>
                  <a:lnTo>
                    <a:pt x="6777774" y="2213686"/>
                  </a:lnTo>
                  <a:lnTo>
                    <a:pt x="6758229" y="2209800"/>
                  </a:lnTo>
                  <a:lnTo>
                    <a:pt x="71208" y="2209800"/>
                  </a:lnTo>
                  <a:lnTo>
                    <a:pt x="29718" y="2225421"/>
                  </a:lnTo>
                  <a:lnTo>
                    <a:pt x="3886" y="2261463"/>
                  </a:lnTo>
                  <a:lnTo>
                    <a:pt x="0" y="2281009"/>
                  </a:lnTo>
                  <a:lnTo>
                    <a:pt x="12" y="3124200"/>
                  </a:lnTo>
                  <a:lnTo>
                    <a:pt x="0" y="3129203"/>
                  </a:lnTo>
                  <a:lnTo>
                    <a:pt x="15633" y="3170694"/>
                  </a:lnTo>
                  <a:lnTo>
                    <a:pt x="51663" y="3196513"/>
                  </a:lnTo>
                  <a:lnTo>
                    <a:pt x="71208" y="3200400"/>
                  </a:lnTo>
                  <a:lnTo>
                    <a:pt x="6758229" y="3200400"/>
                  </a:lnTo>
                  <a:lnTo>
                    <a:pt x="6799732" y="3184779"/>
                  </a:lnTo>
                  <a:lnTo>
                    <a:pt x="6825551" y="3148749"/>
                  </a:lnTo>
                  <a:lnTo>
                    <a:pt x="6829438" y="3129203"/>
                  </a:lnTo>
                  <a:lnTo>
                    <a:pt x="6829438" y="2281009"/>
                  </a:lnTo>
                  <a:close/>
                </a:path>
                <a:path w="6830059" h="4305300">
                  <a:moveTo>
                    <a:pt x="6829438" y="1176108"/>
                  </a:moveTo>
                  <a:lnTo>
                    <a:pt x="6813804" y="1134605"/>
                  </a:lnTo>
                  <a:lnTo>
                    <a:pt x="6777774" y="1108786"/>
                  </a:lnTo>
                  <a:lnTo>
                    <a:pt x="6758229" y="1104900"/>
                  </a:lnTo>
                  <a:lnTo>
                    <a:pt x="71208" y="1104900"/>
                  </a:lnTo>
                  <a:lnTo>
                    <a:pt x="29718" y="1120533"/>
                  </a:lnTo>
                  <a:lnTo>
                    <a:pt x="3886" y="1156563"/>
                  </a:lnTo>
                  <a:lnTo>
                    <a:pt x="0" y="1176108"/>
                  </a:lnTo>
                  <a:lnTo>
                    <a:pt x="12" y="2019300"/>
                  </a:lnTo>
                  <a:lnTo>
                    <a:pt x="0" y="2024303"/>
                  </a:lnTo>
                  <a:lnTo>
                    <a:pt x="15633" y="2065794"/>
                  </a:lnTo>
                  <a:lnTo>
                    <a:pt x="51663" y="2091613"/>
                  </a:lnTo>
                  <a:lnTo>
                    <a:pt x="71208" y="2095500"/>
                  </a:lnTo>
                  <a:lnTo>
                    <a:pt x="6758229" y="2095500"/>
                  </a:lnTo>
                  <a:lnTo>
                    <a:pt x="6799732" y="2079879"/>
                  </a:lnTo>
                  <a:lnTo>
                    <a:pt x="6825551" y="2043849"/>
                  </a:lnTo>
                  <a:lnTo>
                    <a:pt x="6829438" y="2024303"/>
                  </a:lnTo>
                  <a:lnTo>
                    <a:pt x="6829438" y="1176108"/>
                  </a:lnTo>
                  <a:close/>
                </a:path>
                <a:path w="6830059" h="4305300">
                  <a:moveTo>
                    <a:pt x="6829438" y="71208"/>
                  </a:moveTo>
                  <a:lnTo>
                    <a:pt x="6813804" y="29705"/>
                  </a:lnTo>
                  <a:lnTo>
                    <a:pt x="6777774" y="3886"/>
                  </a:lnTo>
                  <a:lnTo>
                    <a:pt x="6758229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914400"/>
                  </a:lnTo>
                  <a:lnTo>
                    <a:pt x="0" y="919403"/>
                  </a:lnTo>
                  <a:lnTo>
                    <a:pt x="15633" y="960894"/>
                  </a:lnTo>
                  <a:lnTo>
                    <a:pt x="51663" y="986713"/>
                  </a:lnTo>
                  <a:lnTo>
                    <a:pt x="71208" y="990600"/>
                  </a:lnTo>
                  <a:lnTo>
                    <a:pt x="6758229" y="990600"/>
                  </a:lnTo>
                  <a:lnTo>
                    <a:pt x="6799732" y="974979"/>
                  </a:lnTo>
                  <a:lnTo>
                    <a:pt x="6825551" y="938949"/>
                  </a:lnTo>
                  <a:lnTo>
                    <a:pt x="6829438" y="919403"/>
                  </a:lnTo>
                  <a:lnTo>
                    <a:pt x="6829438" y="71208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825" y="3592512"/>
              <a:ext cx="222250" cy="2444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1825" y="4764087"/>
              <a:ext cx="222250" cy="111125"/>
            </a:xfrm>
            <a:custGeom>
              <a:avLst/>
              <a:gdLst/>
              <a:ahLst/>
              <a:cxnLst/>
              <a:rect l="l" t="t" r="r" b="b"/>
              <a:pathLst>
                <a:path w="222250" h="111125">
                  <a:moveTo>
                    <a:pt x="222250" y="0"/>
                  </a:moveTo>
                  <a:lnTo>
                    <a:pt x="127793" y="94456"/>
                  </a:lnTo>
                  <a:lnTo>
                    <a:pt x="72231" y="38893"/>
                  </a:lnTo>
                  <a:lnTo>
                    <a:pt x="0" y="111125"/>
                  </a:lnTo>
                </a:path>
                <a:path w="222250" h="111125">
                  <a:moveTo>
                    <a:pt x="155575" y="0"/>
                  </a:moveTo>
                  <a:lnTo>
                    <a:pt x="222250" y="0"/>
                  </a:lnTo>
                  <a:lnTo>
                    <a:pt x="222250" y="66675"/>
                  </a:lnTo>
                </a:path>
              </a:pathLst>
            </a:custGeom>
            <a:ln w="2222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825" y="5813425"/>
              <a:ext cx="211137" cy="22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825" y="6907212"/>
              <a:ext cx="222250" cy="2444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44500" y="2497846"/>
            <a:ext cx="6794500" cy="57232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21640" marR="5080">
              <a:lnSpc>
                <a:spcPts val="2700"/>
              </a:lnSpc>
              <a:spcBef>
                <a:spcPts val="445"/>
              </a:spcBef>
            </a:pPr>
            <a:r>
              <a:rPr sz="2500" spc="-240" dirty="0">
                <a:solidFill>
                  <a:srgbClr val="FFFFFF"/>
                </a:solidFill>
                <a:latin typeface="Microsoft Sans Serif"/>
                <a:cs typeface="Microsoft Sans Serif"/>
              </a:rPr>
              <a:t>PPO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ensures</a:t>
            </a:r>
            <a:r>
              <a:rPr sz="25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stable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careful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policy updates</a:t>
            </a:r>
            <a:r>
              <a:rPr sz="2600" spc="-10" dirty="0">
                <a:solidFill>
                  <a:srgbClr val="FFFFFF"/>
                </a:solidFill>
                <a:latin typeface="Britannic Bold"/>
                <a:cs typeface="Britannic Bold"/>
              </a:rPr>
              <a:t>.</a:t>
            </a:r>
            <a:endParaRPr sz="2600">
              <a:latin typeface="Britannic Bold"/>
              <a:cs typeface="Britannic Bold"/>
            </a:endParaRPr>
          </a:p>
          <a:p>
            <a:pPr marL="584200">
              <a:lnSpc>
                <a:spcPts val="3495"/>
              </a:lnSpc>
              <a:spcBef>
                <a:spcPts val="1810"/>
              </a:spcBef>
            </a:pP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Collect</a:t>
            </a: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70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endParaRPr sz="3050">
              <a:latin typeface="Arial"/>
              <a:cs typeface="Arial"/>
            </a:endParaRPr>
          </a:p>
          <a:p>
            <a:pPr marL="584200">
              <a:lnSpc>
                <a:spcPts val="2295"/>
              </a:lnSpc>
            </a:pP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Gather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runs</a:t>
            </a:r>
            <a:r>
              <a:rPr sz="2050" spc="-10" dirty="0">
                <a:solidFill>
                  <a:srgbClr val="D0D5DA"/>
                </a:solidFill>
                <a:latin typeface="Century Gothic"/>
                <a:cs typeface="Century Gothic"/>
              </a:rPr>
              <a:t>.</a:t>
            </a:r>
            <a:endParaRPr sz="20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800">
              <a:latin typeface="Century Gothic"/>
              <a:cs typeface="Century Gothic"/>
            </a:endParaRPr>
          </a:p>
          <a:p>
            <a:pPr marL="584200">
              <a:lnSpc>
                <a:spcPts val="3495"/>
              </a:lnSpc>
            </a:pPr>
            <a:r>
              <a:rPr sz="3050" b="1" spc="-155" dirty="0">
                <a:solidFill>
                  <a:srgbClr val="FFFFFF"/>
                </a:solidFill>
                <a:latin typeface="Arial"/>
                <a:cs typeface="Arial"/>
              </a:rPr>
              <a:t>Calculate </a:t>
            </a:r>
            <a:r>
              <a:rPr sz="3050" b="1" spc="-65" dirty="0">
                <a:solidFill>
                  <a:srgbClr val="FFFFFF"/>
                </a:solidFill>
                <a:latin typeface="Arial"/>
                <a:cs typeface="Arial"/>
              </a:rPr>
              <a:t>Advantages</a:t>
            </a:r>
            <a:endParaRPr sz="3050">
              <a:latin typeface="Arial"/>
              <a:cs typeface="Arial"/>
            </a:endParaRPr>
          </a:p>
          <a:p>
            <a:pPr marL="584200">
              <a:lnSpc>
                <a:spcPts val="2295"/>
              </a:lnSpc>
            </a:pP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Evaluate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actions</a:t>
            </a:r>
            <a:r>
              <a:rPr sz="20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see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which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were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better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than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2050" spc="-10" dirty="0">
                <a:solidFill>
                  <a:srgbClr val="D0D5DA"/>
                </a:solidFill>
                <a:latin typeface="Century Gothic"/>
                <a:cs typeface="Century Gothic"/>
              </a:rPr>
              <a:t>.</a:t>
            </a:r>
            <a:endParaRPr sz="20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800">
              <a:latin typeface="Century Gothic"/>
              <a:cs typeface="Century Gothic"/>
            </a:endParaRPr>
          </a:p>
          <a:p>
            <a:pPr marL="584200">
              <a:lnSpc>
                <a:spcPts val="3550"/>
              </a:lnSpc>
            </a:pPr>
            <a:r>
              <a:rPr sz="3050" b="1" spc="-160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20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r>
              <a:rPr sz="30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40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3050" b="1" spc="-40" dirty="0">
                <a:solidFill>
                  <a:srgbClr val="FFFFFF"/>
                </a:solidFill>
                <a:latin typeface="Arial"/>
                <a:cs typeface="Arial"/>
              </a:rPr>
              <a:t>Clipped</a:t>
            </a:r>
            <a:r>
              <a:rPr sz="3100" b="1" spc="-40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3100">
              <a:latin typeface="Trebuchet MS"/>
              <a:cs typeface="Trebuchet MS"/>
            </a:endParaRPr>
          </a:p>
          <a:p>
            <a:pPr marL="584200">
              <a:lnSpc>
                <a:spcPts val="2290"/>
              </a:lnSpc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r>
              <a:rPr sz="2050" spc="-30" dirty="0">
                <a:solidFill>
                  <a:srgbClr val="D0D5DA"/>
                </a:solidFill>
                <a:latin typeface="Century Gothic"/>
                <a:cs typeface="Century Gothic"/>
              </a:rPr>
              <a:t>,</a:t>
            </a:r>
            <a:r>
              <a:rPr sz="2050" spc="-110" dirty="0">
                <a:solidFill>
                  <a:srgbClr val="D0D5DA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clipping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changes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ensure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stability</a:t>
            </a:r>
            <a:r>
              <a:rPr sz="2050" spc="-10" dirty="0">
                <a:solidFill>
                  <a:srgbClr val="D0D5DA"/>
                </a:solidFill>
                <a:latin typeface="Century Gothic"/>
                <a:cs typeface="Century Gothic"/>
              </a:rPr>
              <a:t>.</a:t>
            </a:r>
            <a:endParaRPr sz="20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800">
              <a:latin typeface="Century Gothic"/>
              <a:cs typeface="Century Gothic"/>
            </a:endParaRPr>
          </a:p>
          <a:p>
            <a:pPr marL="584200">
              <a:lnSpc>
                <a:spcPts val="3495"/>
              </a:lnSpc>
            </a:pPr>
            <a:r>
              <a:rPr sz="3050" b="1" spc="-20" dirty="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endParaRPr sz="3050">
              <a:latin typeface="Arial"/>
              <a:cs typeface="Arial"/>
            </a:endParaRPr>
          </a:p>
          <a:p>
            <a:pPr marL="584200">
              <a:lnSpc>
                <a:spcPts val="2290"/>
              </a:lnSpc>
            </a:pPr>
            <a:r>
              <a:rPr sz="2000" spc="-114" dirty="0">
                <a:solidFill>
                  <a:srgbClr val="D0D5DA"/>
                </a:solidFill>
                <a:latin typeface="Microsoft Sans Serif"/>
                <a:cs typeface="Microsoft Sans Serif"/>
              </a:rPr>
              <a:t>Reuse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same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several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updates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D0D5DA"/>
                </a:solidFill>
                <a:latin typeface="Century Gothic"/>
                <a:cs typeface="Century Gothic"/>
              </a:rPr>
              <a:t>(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epochs</a:t>
            </a:r>
            <a:r>
              <a:rPr sz="2050" spc="-10" dirty="0">
                <a:solidFill>
                  <a:srgbClr val="D0D5DA"/>
                </a:solidFill>
                <a:latin typeface="Century Gothic"/>
                <a:cs typeface="Century Gothic"/>
              </a:rPr>
              <a:t>).</a:t>
            </a:r>
            <a:endParaRPr sz="20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50" i="1" spc="-130" dirty="0">
                <a:solidFill>
                  <a:srgbClr val="38FF13"/>
                </a:solidFill>
                <a:latin typeface="Arial"/>
                <a:cs typeface="Arial"/>
              </a:rPr>
              <a:t>Key</a:t>
            </a:r>
            <a:r>
              <a:rPr sz="2050" i="1" spc="-6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75" dirty="0">
                <a:solidFill>
                  <a:srgbClr val="38FF13"/>
                </a:solidFill>
                <a:latin typeface="Arial"/>
                <a:cs typeface="Arial"/>
              </a:rPr>
              <a:t>idea</a:t>
            </a:r>
            <a:r>
              <a:rPr sz="2150" i="1" spc="-75" dirty="0">
                <a:solidFill>
                  <a:srgbClr val="38FF13"/>
                </a:solidFill>
                <a:latin typeface="Arial"/>
                <a:cs typeface="Arial"/>
              </a:rPr>
              <a:t>:</a:t>
            </a:r>
            <a:r>
              <a:rPr sz="2150" i="1" spc="-9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120" dirty="0">
                <a:solidFill>
                  <a:srgbClr val="38FF13"/>
                </a:solidFill>
                <a:latin typeface="Arial"/>
                <a:cs typeface="Arial"/>
              </a:rPr>
              <a:t>Keep</a:t>
            </a:r>
            <a:r>
              <a:rPr sz="2050" i="1" spc="-6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38FF13"/>
                </a:solidFill>
                <a:latin typeface="Arial"/>
                <a:cs typeface="Arial"/>
              </a:rPr>
              <a:t>updates</a:t>
            </a:r>
            <a:r>
              <a:rPr sz="2050" i="1" spc="-7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150" i="1" spc="-30" dirty="0">
                <a:solidFill>
                  <a:srgbClr val="38FF13"/>
                </a:solidFill>
                <a:latin typeface="Arial"/>
                <a:cs typeface="Arial"/>
              </a:rPr>
              <a:t>'</a:t>
            </a:r>
            <a:r>
              <a:rPr sz="2050" i="1" spc="-30" dirty="0">
                <a:solidFill>
                  <a:srgbClr val="38FF13"/>
                </a:solidFill>
                <a:latin typeface="Arial"/>
                <a:cs typeface="Arial"/>
              </a:rPr>
              <a:t>proximal</a:t>
            </a:r>
            <a:r>
              <a:rPr sz="2150" i="1" spc="-30" dirty="0">
                <a:solidFill>
                  <a:srgbClr val="38FF13"/>
                </a:solidFill>
                <a:latin typeface="Arial"/>
                <a:cs typeface="Arial"/>
              </a:rPr>
              <a:t>'</a:t>
            </a:r>
            <a:r>
              <a:rPr sz="2150" i="1" spc="-10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150" i="1" spc="-60" dirty="0">
                <a:solidFill>
                  <a:srgbClr val="38FF13"/>
                </a:solidFill>
                <a:latin typeface="Arial"/>
                <a:cs typeface="Arial"/>
              </a:rPr>
              <a:t>(</a:t>
            </a:r>
            <a:r>
              <a:rPr sz="2050" i="1" spc="-60" dirty="0">
                <a:solidFill>
                  <a:srgbClr val="38FF13"/>
                </a:solidFill>
                <a:latin typeface="Arial"/>
                <a:cs typeface="Arial"/>
              </a:rPr>
              <a:t>close</a:t>
            </a:r>
            <a:r>
              <a:rPr sz="2150" i="1" spc="-60" dirty="0">
                <a:solidFill>
                  <a:srgbClr val="38FF13"/>
                </a:solidFill>
                <a:latin typeface="Arial"/>
                <a:cs typeface="Arial"/>
              </a:rPr>
              <a:t>)</a:t>
            </a:r>
            <a:r>
              <a:rPr sz="2150" i="1" spc="-9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dirty="0">
                <a:solidFill>
                  <a:srgbClr val="38FF13"/>
                </a:solidFill>
                <a:latin typeface="Arial"/>
                <a:cs typeface="Arial"/>
              </a:rPr>
              <a:t>to</a:t>
            </a:r>
            <a:r>
              <a:rPr sz="2050" i="1" spc="-7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38FF13"/>
                </a:solidFill>
                <a:latin typeface="Arial"/>
                <a:cs typeface="Arial"/>
              </a:rPr>
              <a:t>the</a:t>
            </a:r>
            <a:r>
              <a:rPr sz="2050" i="1" spc="-6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30" dirty="0">
                <a:solidFill>
                  <a:srgbClr val="38FF13"/>
                </a:solidFill>
                <a:latin typeface="Arial"/>
                <a:cs typeface="Arial"/>
              </a:rPr>
              <a:t>current</a:t>
            </a:r>
            <a:r>
              <a:rPr sz="2050" i="1" spc="-7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38FF13"/>
                </a:solidFill>
                <a:latin typeface="Arial"/>
                <a:cs typeface="Arial"/>
              </a:rPr>
              <a:t>policy</a:t>
            </a:r>
            <a:r>
              <a:rPr sz="2150" i="1" spc="-10" dirty="0">
                <a:solidFill>
                  <a:srgbClr val="38FF13"/>
                </a:solidFill>
                <a:latin typeface="Arial"/>
                <a:cs typeface="Arial"/>
              </a:rPr>
              <a:t>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34966" y="9926637"/>
            <a:ext cx="808990" cy="2330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fld id="{81D60167-4931-47E6-BA6A-407CBD079E47}" type="slidenum"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18</a:t>
            </a:fld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40073"/>
            <a:ext cx="6322060" cy="113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060"/>
              </a:lnSpc>
              <a:spcBef>
                <a:spcPts val="95"/>
              </a:spcBef>
            </a:pPr>
            <a:r>
              <a:rPr spc="-335" dirty="0"/>
              <a:t>Racing</a:t>
            </a:r>
            <a:r>
              <a:rPr spc="-340" dirty="0"/>
              <a:t> </a:t>
            </a:r>
            <a:r>
              <a:rPr spc="-265" dirty="0"/>
              <a:t>Trained</a:t>
            </a:r>
            <a:r>
              <a:rPr spc="-335" dirty="0"/>
              <a:t> </a:t>
            </a:r>
            <a:r>
              <a:rPr spc="-290" dirty="0"/>
              <a:t>Agents</a:t>
            </a:r>
          </a:p>
          <a:p>
            <a:pPr marL="12700">
              <a:lnSpc>
                <a:spcPts val="2640"/>
              </a:lnSpc>
            </a:pPr>
            <a:r>
              <a:rPr sz="2250" b="0" spc="-10" dirty="0">
                <a:solidFill>
                  <a:srgbClr val="D0D5DA"/>
                </a:solidFill>
                <a:latin typeface="Courier New"/>
                <a:cs typeface="Courier New"/>
              </a:rPr>
              <a:t>race.py</a:t>
            </a:r>
            <a:endParaRPr sz="225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263900"/>
            <a:ext cx="6762750" cy="4298950"/>
            <a:chOff x="457200" y="3263900"/>
            <a:chExt cx="6762750" cy="4298950"/>
          </a:xfrm>
        </p:grpSpPr>
        <p:sp>
          <p:nvSpPr>
            <p:cNvPr id="4" name="object 4"/>
            <p:cNvSpPr/>
            <p:nvPr/>
          </p:nvSpPr>
          <p:spPr>
            <a:xfrm>
              <a:off x="533400" y="3276600"/>
              <a:ext cx="177800" cy="228600"/>
            </a:xfrm>
            <a:custGeom>
              <a:avLst/>
              <a:gdLst/>
              <a:ahLst/>
              <a:cxnLst/>
              <a:rect l="l" t="t" r="r" b="b"/>
              <a:pathLst>
                <a:path w="177800" h="228600">
                  <a:moveTo>
                    <a:pt x="0" y="0"/>
                  </a:moveTo>
                  <a:lnTo>
                    <a:pt x="177800" y="1143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87" y="3714749"/>
              <a:ext cx="6762750" cy="3848100"/>
            </a:xfrm>
            <a:custGeom>
              <a:avLst/>
              <a:gdLst/>
              <a:ahLst/>
              <a:cxnLst/>
              <a:rect l="l" t="t" r="r" b="b"/>
              <a:pathLst>
                <a:path w="6762750" h="3848100">
                  <a:moveTo>
                    <a:pt x="6762750" y="3043009"/>
                  </a:moveTo>
                  <a:lnTo>
                    <a:pt x="6747129" y="3001505"/>
                  </a:lnTo>
                  <a:lnTo>
                    <a:pt x="6711099" y="2975686"/>
                  </a:lnTo>
                  <a:lnTo>
                    <a:pt x="6691554" y="2971800"/>
                  </a:lnTo>
                  <a:lnTo>
                    <a:pt x="71208" y="2971800"/>
                  </a:lnTo>
                  <a:lnTo>
                    <a:pt x="29718" y="2987421"/>
                  </a:lnTo>
                  <a:lnTo>
                    <a:pt x="3886" y="3023463"/>
                  </a:lnTo>
                  <a:lnTo>
                    <a:pt x="0" y="3043009"/>
                  </a:lnTo>
                  <a:lnTo>
                    <a:pt x="12" y="3771900"/>
                  </a:lnTo>
                  <a:lnTo>
                    <a:pt x="0" y="3776903"/>
                  </a:lnTo>
                  <a:lnTo>
                    <a:pt x="15633" y="3818394"/>
                  </a:lnTo>
                  <a:lnTo>
                    <a:pt x="51663" y="3844213"/>
                  </a:lnTo>
                  <a:lnTo>
                    <a:pt x="71208" y="3848100"/>
                  </a:lnTo>
                  <a:lnTo>
                    <a:pt x="6691554" y="3848100"/>
                  </a:lnTo>
                  <a:lnTo>
                    <a:pt x="6733045" y="3832479"/>
                  </a:lnTo>
                  <a:lnTo>
                    <a:pt x="6758876" y="3796449"/>
                  </a:lnTo>
                  <a:lnTo>
                    <a:pt x="6762750" y="3776903"/>
                  </a:lnTo>
                  <a:lnTo>
                    <a:pt x="6762750" y="3043009"/>
                  </a:lnTo>
                  <a:close/>
                </a:path>
                <a:path w="6762750" h="3848100">
                  <a:moveTo>
                    <a:pt x="6762750" y="2052408"/>
                  </a:moveTo>
                  <a:lnTo>
                    <a:pt x="6747129" y="2010918"/>
                  </a:lnTo>
                  <a:lnTo>
                    <a:pt x="6711099" y="1985086"/>
                  </a:lnTo>
                  <a:lnTo>
                    <a:pt x="6691554" y="1981200"/>
                  </a:lnTo>
                  <a:lnTo>
                    <a:pt x="71208" y="1981200"/>
                  </a:lnTo>
                  <a:lnTo>
                    <a:pt x="29718" y="1996821"/>
                  </a:lnTo>
                  <a:lnTo>
                    <a:pt x="3886" y="2032863"/>
                  </a:lnTo>
                  <a:lnTo>
                    <a:pt x="0" y="2052408"/>
                  </a:lnTo>
                  <a:lnTo>
                    <a:pt x="12" y="2781300"/>
                  </a:lnTo>
                  <a:lnTo>
                    <a:pt x="0" y="2786303"/>
                  </a:lnTo>
                  <a:lnTo>
                    <a:pt x="15633" y="2827794"/>
                  </a:lnTo>
                  <a:lnTo>
                    <a:pt x="51663" y="2853613"/>
                  </a:lnTo>
                  <a:lnTo>
                    <a:pt x="71208" y="2857500"/>
                  </a:lnTo>
                  <a:lnTo>
                    <a:pt x="6691554" y="2857500"/>
                  </a:lnTo>
                  <a:lnTo>
                    <a:pt x="6733045" y="2841879"/>
                  </a:lnTo>
                  <a:lnTo>
                    <a:pt x="6758876" y="2805849"/>
                  </a:lnTo>
                  <a:lnTo>
                    <a:pt x="6762750" y="2786303"/>
                  </a:lnTo>
                  <a:lnTo>
                    <a:pt x="6762750" y="2052408"/>
                  </a:lnTo>
                  <a:close/>
                </a:path>
                <a:path w="6762750" h="3848100">
                  <a:moveTo>
                    <a:pt x="6762750" y="1061808"/>
                  </a:moveTo>
                  <a:lnTo>
                    <a:pt x="6747129" y="1020305"/>
                  </a:lnTo>
                  <a:lnTo>
                    <a:pt x="6711099" y="994486"/>
                  </a:lnTo>
                  <a:lnTo>
                    <a:pt x="6691554" y="990600"/>
                  </a:lnTo>
                  <a:lnTo>
                    <a:pt x="71208" y="990600"/>
                  </a:lnTo>
                  <a:lnTo>
                    <a:pt x="29718" y="1006221"/>
                  </a:lnTo>
                  <a:lnTo>
                    <a:pt x="3886" y="1042263"/>
                  </a:lnTo>
                  <a:lnTo>
                    <a:pt x="0" y="1061808"/>
                  </a:lnTo>
                  <a:lnTo>
                    <a:pt x="12" y="1790700"/>
                  </a:lnTo>
                  <a:lnTo>
                    <a:pt x="0" y="1795703"/>
                  </a:lnTo>
                  <a:lnTo>
                    <a:pt x="15633" y="1837194"/>
                  </a:lnTo>
                  <a:lnTo>
                    <a:pt x="51663" y="1863013"/>
                  </a:lnTo>
                  <a:lnTo>
                    <a:pt x="71208" y="1866900"/>
                  </a:lnTo>
                  <a:lnTo>
                    <a:pt x="6691554" y="1866900"/>
                  </a:lnTo>
                  <a:lnTo>
                    <a:pt x="6733045" y="1851279"/>
                  </a:lnTo>
                  <a:lnTo>
                    <a:pt x="6758876" y="1815249"/>
                  </a:lnTo>
                  <a:lnTo>
                    <a:pt x="6762750" y="1795703"/>
                  </a:lnTo>
                  <a:lnTo>
                    <a:pt x="6762750" y="1061808"/>
                  </a:lnTo>
                  <a:close/>
                </a:path>
                <a:path w="6762750" h="3848100">
                  <a:moveTo>
                    <a:pt x="6762750" y="71208"/>
                  </a:moveTo>
                  <a:lnTo>
                    <a:pt x="6747129" y="29705"/>
                  </a:lnTo>
                  <a:lnTo>
                    <a:pt x="6711099" y="3886"/>
                  </a:lnTo>
                  <a:lnTo>
                    <a:pt x="6691554" y="0"/>
                  </a:lnTo>
                  <a:lnTo>
                    <a:pt x="71208" y="0"/>
                  </a:lnTo>
                  <a:lnTo>
                    <a:pt x="29718" y="15621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800100"/>
                  </a:lnTo>
                  <a:lnTo>
                    <a:pt x="0" y="805103"/>
                  </a:lnTo>
                  <a:lnTo>
                    <a:pt x="15633" y="846594"/>
                  </a:lnTo>
                  <a:lnTo>
                    <a:pt x="51663" y="872413"/>
                  </a:lnTo>
                  <a:lnTo>
                    <a:pt x="71208" y="876300"/>
                  </a:lnTo>
                  <a:lnTo>
                    <a:pt x="6691554" y="876300"/>
                  </a:lnTo>
                  <a:lnTo>
                    <a:pt x="6733045" y="860679"/>
                  </a:lnTo>
                  <a:lnTo>
                    <a:pt x="6758876" y="824649"/>
                  </a:lnTo>
                  <a:lnTo>
                    <a:pt x="6762750" y="805103"/>
                  </a:lnTo>
                  <a:lnTo>
                    <a:pt x="6762750" y="71208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612" y="3889295"/>
              <a:ext cx="244750" cy="2112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01700" y="3152576"/>
            <a:ext cx="56172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Watch </a:t>
            </a:r>
            <a:r>
              <a:rPr sz="2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trained</a:t>
            </a:r>
            <a:r>
              <a:rPr sz="25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agents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race</a:t>
            </a:r>
            <a:r>
              <a:rPr sz="25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sz="2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2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900" y="3741220"/>
            <a:ext cx="4832350" cy="7258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500" b="1" spc="-170" dirty="0">
                <a:solidFill>
                  <a:srgbClr val="FFFFFF"/>
                </a:solidFill>
                <a:latin typeface="Arial"/>
                <a:cs typeface="Arial"/>
              </a:rPr>
              <a:t>Load</a:t>
            </a:r>
            <a:r>
              <a:rPr sz="25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25" dirty="0">
                <a:solidFill>
                  <a:srgbClr val="FFFFFF"/>
                </a:solidFill>
                <a:latin typeface="Arial"/>
                <a:cs typeface="Arial"/>
              </a:rPr>
              <a:t>Trained</a:t>
            </a:r>
            <a:r>
              <a:rPr sz="25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Load</a:t>
            </a:r>
            <a:r>
              <a:rPr sz="16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saved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model</a:t>
            </a:r>
            <a:r>
              <a:rPr sz="16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weights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16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training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checkpoints</a:t>
            </a:r>
            <a:r>
              <a:rPr sz="17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2612" y="1600200"/>
            <a:ext cx="17248505" cy="7524750"/>
            <a:chOff x="582612" y="1600200"/>
            <a:chExt cx="17248505" cy="7524750"/>
          </a:xfrm>
        </p:grpSpPr>
        <p:sp>
          <p:nvSpPr>
            <p:cNvPr id="10" name="object 10"/>
            <p:cNvSpPr/>
            <p:nvPr/>
          </p:nvSpPr>
          <p:spPr>
            <a:xfrm>
              <a:off x="593725" y="4891087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155575" y="200025"/>
                  </a:moveTo>
                  <a:lnTo>
                    <a:pt x="155575" y="177800"/>
                  </a:lnTo>
                  <a:lnTo>
                    <a:pt x="155574" y="171905"/>
                  </a:lnTo>
                  <a:lnTo>
                    <a:pt x="133581" y="138989"/>
                  </a:lnTo>
                  <a:lnTo>
                    <a:pt x="117019" y="133350"/>
                  </a:lnTo>
                  <a:lnTo>
                    <a:pt x="111125" y="133350"/>
                  </a:lnTo>
                  <a:lnTo>
                    <a:pt x="44450" y="133350"/>
                  </a:lnTo>
                  <a:lnTo>
                    <a:pt x="38555" y="133350"/>
                  </a:lnTo>
                  <a:lnTo>
                    <a:pt x="32885" y="134477"/>
                  </a:lnTo>
                  <a:lnTo>
                    <a:pt x="27439" y="136733"/>
                  </a:lnTo>
                  <a:lnTo>
                    <a:pt x="21993" y="138989"/>
                  </a:lnTo>
                  <a:lnTo>
                    <a:pt x="17187" y="142201"/>
                  </a:lnTo>
                  <a:lnTo>
                    <a:pt x="13019" y="146369"/>
                  </a:lnTo>
                  <a:lnTo>
                    <a:pt x="8851" y="150537"/>
                  </a:lnTo>
                  <a:lnTo>
                    <a:pt x="5639" y="155343"/>
                  </a:lnTo>
                  <a:lnTo>
                    <a:pt x="3383" y="160789"/>
                  </a:lnTo>
                  <a:lnTo>
                    <a:pt x="1127" y="166235"/>
                  </a:lnTo>
                  <a:lnTo>
                    <a:pt x="0" y="171905"/>
                  </a:lnTo>
                  <a:lnTo>
                    <a:pt x="0" y="177800"/>
                  </a:lnTo>
                  <a:lnTo>
                    <a:pt x="0" y="200025"/>
                  </a:lnTo>
                </a:path>
                <a:path w="222250" h="200025">
                  <a:moveTo>
                    <a:pt x="122237" y="44450"/>
                  </a:moveTo>
                  <a:lnTo>
                    <a:pt x="105050" y="80048"/>
                  </a:lnTo>
                  <a:lnTo>
                    <a:pt x="77787" y="88900"/>
                  </a:lnTo>
                  <a:lnTo>
                    <a:pt x="71893" y="88899"/>
                  </a:lnTo>
                  <a:lnTo>
                    <a:pt x="38976" y="66906"/>
                  </a:lnTo>
                  <a:lnTo>
                    <a:pt x="33337" y="50344"/>
                  </a:lnTo>
                  <a:lnTo>
                    <a:pt x="33337" y="44450"/>
                  </a:lnTo>
                  <a:lnTo>
                    <a:pt x="33337" y="38555"/>
                  </a:lnTo>
                  <a:lnTo>
                    <a:pt x="46356" y="13019"/>
                  </a:lnTo>
                  <a:lnTo>
                    <a:pt x="50524" y="8851"/>
                  </a:lnTo>
                  <a:lnTo>
                    <a:pt x="55331" y="5639"/>
                  </a:lnTo>
                  <a:lnTo>
                    <a:pt x="60777" y="3383"/>
                  </a:lnTo>
                  <a:lnTo>
                    <a:pt x="66222" y="1127"/>
                  </a:lnTo>
                  <a:lnTo>
                    <a:pt x="71893" y="0"/>
                  </a:lnTo>
                  <a:lnTo>
                    <a:pt x="77787" y="0"/>
                  </a:lnTo>
                  <a:lnTo>
                    <a:pt x="83681" y="0"/>
                  </a:lnTo>
                  <a:lnTo>
                    <a:pt x="116598" y="21993"/>
                  </a:lnTo>
                  <a:lnTo>
                    <a:pt x="122237" y="38555"/>
                  </a:lnTo>
                  <a:lnTo>
                    <a:pt x="122237" y="44450"/>
                  </a:lnTo>
                  <a:close/>
                </a:path>
                <a:path w="222250" h="200025">
                  <a:moveTo>
                    <a:pt x="222250" y="200025"/>
                  </a:moveTo>
                  <a:lnTo>
                    <a:pt x="222250" y="177800"/>
                  </a:lnTo>
                  <a:lnTo>
                    <a:pt x="222246" y="172875"/>
                  </a:lnTo>
                  <a:lnTo>
                    <a:pt x="221446" y="168084"/>
                  </a:lnTo>
                  <a:lnTo>
                    <a:pt x="219850" y="163425"/>
                  </a:lnTo>
                  <a:lnTo>
                    <a:pt x="218254" y="158767"/>
                  </a:lnTo>
                  <a:lnTo>
                    <a:pt x="193680" y="136025"/>
                  </a:lnTo>
                  <a:lnTo>
                    <a:pt x="188912" y="134794"/>
                  </a:lnTo>
                </a:path>
                <a:path w="222250" h="200025">
                  <a:moveTo>
                    <a:pt x="155575" y="1444"/>
                  </a:moveTo>
                  <a:lnTo>
                    <a:pt x="160355" y="2668"/>
                  </a:lnTo>
                  <a:lnTo>
                    <a:pt x="164808" y="4634"/>
                  </a:lnTo>
                  <a:lnTo>
                    <a:pt x="168934" y="7341"/>
                  </a:lnTo>
                  <a:lnTo>
                    <a:pt x="173060" y="10048"/>
                  </a:lnTo>
                  <a:lnTo>
                    <a:pt x="176636" y="13351"/>
                  </a:lnTo>
                  <a:lnTo>
                    <a:pt x="179662" y="17250"/>
                  </a:lnTo>
                  <a:lnTo>
                    <a:pt x="182688" y="21148"/>
                  </a:lnTo>
                  <a:lnTo>
                    <a:pt x="188999" y="44505"/>
                  </a:lnTo>
                  <a:lnTo>
                    <a:pt x="188999" y="49440"/>
                  </a:lnTo>
                  <a:lnTo>
                    <a:pt x="179662" y="71761"/>
                  </a:lnTo>
                  <a:lnTo>
                    <a:pt x="176636" y="75659"/>
                  </a:lnTo>
                  <a:lnTo>
                    <a:pt x="173060" y="78962"/>
                  </a:lnTo>
                  <a:lnTo>
                    <a:pt x="168934" y="81669"/>
                  </a:lnTo>
                  <a:lnTo>
                    <a:pt x="164808" y="84376"/>
                  </a:lnTo>
                  <a:lnTo>
                    <a:pt x="160355" y="86342"/>
                  </a:lnTo>
                  <a:lnTo>
                    <a:pt x="155575" y="87566"/>
                  </a:lnTo>
                </a:path>
              </a:pathLst>
            </a:custGeom>
            <a:ln w="22225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612" y="5870575"/>
              <a:ext cx="244475" cy="222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8175" y="6883400"/>
              <a:ext cx="133350" cy="177800"/>
            </a:xfrm>
            <a:custGeom>
              <a:avLst/>
              <a:gdLst/>
              <a:ahLst/>
              <a:cxnLst/>
              <a:rect l="l" t="t" r="r" b="b"/>
              <a:pathLst>
                <a:path w="133350" h="177800">
                  <a:moveTo>
                    <a:pt x="66675" y="177800"/>
                  </a:moveTo>
                  <a:lnTo>
                    <a:pt x="66675" y="66675"/>
                  </a:lnTo>
                </a:path>
                <a:path w="133350" h="177800">
                  <a:moveTo>
                    <a:pt x="133350" y="177800"/>
                  </a:moveTo>
                  <a:lnTo>
                    <a:pt x="133350" y="0"/>
                  </a:lnTo>
                </a:path>
                <a:path w="133350" h="177800">
                  <a:moveTo>
                    <a:pt x="0" y="177800"/>
                  </a:moveTo>
                  <a:lnTo>
                    <a:pt x="0" y="133350"/>
                  </a:lnTo>
                </a:path>
              </a:pathLst>
            </a:custGeom>
            <a:ln w="22225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81912" y="1604962"/>
              <a:ext cx="10144125" cy="7515225"/>
            </a:xfrm>
            <a:custGeom>
              <a:avLst/>
              <a:gdLst/>
              <a:ahLst/>
              <a:cxnLst/>
              <a:rect l="l" t="t" r="r" b="b"/>
              <a:pathLst>
                <a:path w="10144125" h="7515225">
                  <a:moveTo>
                    <a:pt x="10077377" y="7515224"/>
                  </a:moveTo>
                  <a:lnTo>
                    <a:pt x="66746" y="7515224"/>
                  </a:lnTo>
                  <a:lnTo>
                    <a:pt x="62101" y="7514766"/>
                  </a:lnTo>
                  <a:lnTo>
                    <a:pt x="24240" y="7497617"/>
                  </a:lnTo>
                  <a:lnTo>
                    <a:pt x="2287" y="7462324"/>
                  </a:lnTo>
                  <a:lnTo>
                    <a:pt x="0" y="7448478"/>
                  </a:lnTo>
                  <a:lnTo>
                    <a:pt x="0" y="7443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077377" y="0"/>
                  </a:lnTo>
                  <a:lnTo>
                    <a:pt x="10116274" y="14645"/>
                  </a:lnTo>
                  <a:lnTo>
                    <a:pt x="10140481" y="48433"/>
                  </a:lnTo>
                  <a:lnTo>
                    <a:pt x="10144124" y="66746"/>
                  </a:lnTo>
                  <a:lnTo>
                    <a:pt x="10144124" y="7448478"/>
                  </a:lnTo>
                  <a:lnTo>
                    <a:pt x="10129478" y="7487374"/>
                  </a:lnTo>
                  <a:lnTo>
                    <a:pt x="10095689" y="7511580"/>
                  </a:lnTo>
                  <a:lnTo>
                    <a:pt x="10082022" y="7514766"/>
                  </a:lnTo>
                  <a:lnTo>
                    <a:pt x="10077377" y="7515224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81912" y="1604962"/>
              <a:ext cx="10144125" cy="7515225"/>
            </a:xfrm>
            <a:custGeom>
              <a:avLst/>
              <a:gdLst/>
              <a:ahLst/>
              <a:cxnLst/>
              <a:rect l="l" t="t" r="r" b="b"/>
              <a:pathLst>
                <a:path w="10144125" h="7515225">
                  <a:moveTo>
                    <a:pt x="0" y="7443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8" y="52899"/>
                  </a:lnTo>
                  <a:lnTo>
                    <a:pt x="3643" y="48433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072687" y="0"/>
                  </a:lnTo>
                  <a:lnTo>
                    <a:pt x="10077377" y="0"/>
                  </a:lnTo>
                  <a:lnTo>
                    <a:pt x="10082022" y="457"/>
                  </a:lnTo>
                  <a:lnTo>
                    <a:pt x="10112373" y="12039"/>
                  </a:lnTo>
                  <a:lnTo>
                    <a:pt x="10116274" y="14645"/>
                  </a:lnTo>
                  <a:lnTo>
                    <a:pt x="10119884" y="17606"/>
                  </a:lnTo>
                  <a:lnTo>
                    <a:pt x="10123200" y="20923"/>
                  </a:lnTo>
                  <a:lnTo>
                    <a:pt x="10126517" y="24240"/>
                  </a:lnTo>
                  <a:lnTo>
                    <a:pt x="10142750" y="57500"/>
                  </a:lnTo>
                  <a:lnTo>
                    <a:pt x="10143666" y="62101"/>
                  </a:lnTo>
                  <a:lnTo>
                    <a:pt x="10144124" y="66746"/>
                  </a:lnTo>
                  <a:lnTo>
                    <a:pt x="10144125" y="71437"/>
                  </a:lnTo>
                  <a:lnTo>
                    <a:pt x="10144125" y="7443787"/>
                  </a:lnTo>
                  <a:lnTo>
                    <a:pt x="10144124" y="7448478"/>
                  </a:lnTo>
                  <a:lnTo>
                    <a:pt x="10143666" y="7453123"/>
                  </a:lnTo>
                  <a:lnTo>
                    <a:pt x="10142750" y="7457724"/>
                  </a:lnTo>
                  <a:lnTo>
                    <a:pt x="10141836" y="7462324"/>
                  </a:lnTo>
                  <a:lnTo>
                    <a:pt x="10123200" y="7494300"/>
                  </a:lnTo>
                  <a:lnTo>
                    <a:pt x="10119884" y="7497617"/>
                  </a:lnTo>
                  <a:lnTo>
                    <a:pt x="10082022" y="7514766"/>
                  </a:lnTo>
                  <a:lnTo>
                    <a:pt x="10072687" y="7515225"/>
                  </a:lnTo>
                  <a:lnTo>
                    <a:pt x="71437" y="7515225"/>
                  </a:lnTo>
                  <a:lnTo>
                    <a:pt x="31749" y="7503184"/>
                  </a:lnTo>
                  <a:lnTo>
                    <a:pt x="27848" y="7500578"/>
                  </a:lnTo>
                  <a:lnTo>
                    <a:pt x="12038" y="7483474"/>
                  </a:lnTo>
                  <a:lnTo>
                    <a:pt x="9432" y="7479574"/>
                  </a:lnTo>
                  <a:lnTo>
                    <a:pt x="7231" y="7475458"/>
                  </a:lnTo>
                  <a:lnTo>
                    <a:pt x="5437" y="7471124"/>
                  </a:lnTo>
                  <a:lnTo>
                    <a:pt x="3642" y="7466790"/>
                  </a:lnTo>
                  <a:lnTo>
                    <a:pt x="2287" y="7462324"/>
                  </a:lnTo>
                  <a:lnTo>
                    <a:pt x="1372" y="7457724"/>
                  </a:lnTo>
                  <a:lnTo>
                    <a:pt x="457" y="7453123"/>
                  </a:lnTo>
                  <a:lnTo>
                    <a:pt x="0" y="7448478"/>
                  </a:lnTo>
                  <a:lnTo>
                    <a:pt x="0" y="7443787"/>
                  </a:lnTo>
                  <a:close/>
                </a:path>
              </a:pathLst>
            </a:custGeom>
            <a:ln w="9525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7900" y="4731820"/>
            <a:ext cx="5026660" cy="7258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500" b="1" spc="-95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5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Agents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65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Race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multiple</a:t>
            </a:r>
            <a:r>
              <a:rPr sz="165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agents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simultaneously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same</a:t>
            </a: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17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7900" y="5722420"/>
            <a:ext cx="3941445" cy="7258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500" b="1" spc="-155" dirty="0">
                <a:solidFill>
                  <a:srgbClr val="FFFFFF"/>
                </a:solidFill>
                <a:latin typeface="Arial"/>
                <a:cs typeface="Arial"/>
              </a:rPr>
              <a:t>PyGame</a:t>
            </a:r>
            <a:r>
              <a:rPr sz="25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30" dirty="0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6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Render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165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race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D0D5DA"/>
                </a:solidFill>
                <a:latin typeface="Microsoft Sans Serif"/>
                <a:cs typeface="Microsoft Sans Serif"/>
              </a:rPr>
              <a:t>in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real</a:t>
            </a:r>
            <a:r>
              <a:rPr sz="17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time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using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PyGame</a:t>
            </a:r>
            <a:r>
              <a:rPr sz="17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7900" y="6713020"/>
            <a:ext cx="3987800" cy="7258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500" b="1" spc="-114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25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16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lap</a:t>
            </a:r>
            <a:r>
              <a:rPr sz="16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times</a:t>
            </a:r>
            <a:r>
              <a:rPr sz="17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7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</a:t>
            </a:r>
            <a:r>
              <a:rPr sz="17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7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agent</a:t>
            </a:r>
            <a:r>
              <a:rPr sz="16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positions</a:t>
            </a:r>
            <a:r>
              <a:rPr sz="17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4500" y="7733074"/>
            <a:ext cx="579755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b="1" spc="-95" dirty="0">
                <a:solidFill>
                  <a:srgbClr val="FF6A34"/>
                </a:solidFill>
                <a:latin typeface="Arial"/>
                <a:cs typeface="Arial"/>
              </a:rPr>
              <a:t>The</a:t>
            </a:r>
            <a:r>
              <a:rPr sz="2500" b="1" spc="-114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500" b="1" spc="-70" dirty="0">
                <a:solidFill>
                  <a:srgbClr val="FF6A34"/>
                </a:solidFill>
                <a:latin typeface="Arial"/>
                <a:cs typeface="Arial"/>
              </a:rPr>
              <a:t>perfect</a:t>
            </a:r>
            <a:r>
              <a:rPr sz="2500" b="1" spc="-11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500" b="1" spc="-135" dirty="0">
                <a:solidFill>
                  <a:srgbClr val="FF6A34"/>
                </a:solidFill>
                <a:latin typeface="Arial"/>
                <a:cs typeface="Arial"/>
              </a:rPr>
              <a:t>tool</a:t>
            </a:r>
            <a:r>
              <a:rPr sz="2500" b="1" spc="-11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500" b="1" spc="-100" dirty="0">
                <a:solidFill>
                  <a:srgbClr val="FF6A34"/>
                </a:solidFill>
                <a:latin typeface="Arial"/>
                <a:cs typeface="Arial"/>
              </a:rPr>
              <a:t>for</a:t>
            </a:r>
            <a:r>
              <a:rPr sz="2500" b="1" spc="-11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500" b="1" spc="-135" dirty="0">
                <a:solidFill>
                  <a:srgbClr val="FF6A34"/>
                </a:solidFill>
                <a:latin typeface="Arial"/>
                <a:cs typeface="Arial"/>
              </a:rPr>
              <a:t>running</a:t>
            </a:r>
            <a:r>
              <a:rPr sz="2500" b="1" spc="-11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500" b="1" spc="-105" dirty="0">
                <a:solidFill>
                  <a:srgbClr val="FF6A34"/>
                </a:solidFill>
                <a:latin typeface="Arial"/>
                <a:cs typeface="Arial"/>
              </a:rPr>
              <a:t>competitions</a:t>
            </a:r>
            <a:r>
              <a:rPr sz="2450" b="1" spc="-105" dirty="0">
                <a:solidFill>
                  <a:srgbClr val="FF6A34"/>
                </a:solidFill>
                <a:latin typeface="Calibri"/>
                <a:cs typeface="Calibri"/>
              </a:rPr>
              <a:t>!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30095" y="1611791"/>
            <a:ext cx="3216275" cy="11918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600" b="1" spc="-175" dirty="0">
                <a:solidFill>
                  <a:srgbClr val="FF6A34"/>
                </a:solidFill>
                <a:latin typeface="Cambria"/>
                <a:cs typeface="Cambria"/>
              </a:rPr>
              <a:t>[</a:t>
            </a:r>
            <a:r>
              <a:rPr sz="2450" b="1" spc="-175" dirty="0">
                <a:solidFill>
                  <a:srgbClr val="FF6A34"/>
                </a:solidFill>
                <a:latin typeface="Arial"/>
                <a:cs typeface="Arial"/>
              </a:rPr>
              <a:t>CODE</a:t>
            </a:r>
            <a:r>
              <a:rPr sz="2450" b="1" spc="-12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450" b="1" spc="-190" dirty="0">
                <a:solidFill>
                  <a:srgbClr val="FF6A34"/>
                </a:solidFill>
                <a:latin typeface="Arial"/>
                <a:cs typeface="Arial"/>
              </a:rPr>
              <a:t>PLACEHOLDER</a:t>
            </a:r>
            <a:r>
              <a:rPr sz="2600" b="1" spc="-190" dirty="0">
                <a:solidFill>
                  <a:srgbClr val="FF6A34"/>
                </a:solidFill>
                <a:latin typeface="Cambria"/>
                <a:cs typeface="Cambria"/>
              </a:rPr>
              <a:t>]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race.py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5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Loading</a:t>
            </a:r>
            <a:r>
              <a:rPr sz="1500" spc="-5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50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50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racing</a:t>
            </a:r>
            <a:r>
              <a:rPr sz="150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trained</a:t>
            </a:r>
            <a:r>
              <a:rPr sz="1500" spc="-5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models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39075" y="2943225"/>
            <a:ext cx="9829800" cy="6019800"/>
          </a:xfrm>
          <a:custGeom>
            <a:avLst/>
            <a:gdLst/>
            <a:ahLst/>
            <a:cxnLst/>
            <a:rect l="l" t="t" r="r" b="b"/>
            <a:pathLst>
              <a:path w="9829800" h="6019800">
                <a:moveTo>
                  <a:pt x="9796752" y="6019799"/>
                </a:moveTo>
                <a:lnTo>
                  <a:pt x="33047" y="6019799"/>
                </a:lnTo>
                <a:lnTo>
                  <a:pt x="28186" y="6018832"/>
                </a:lnTo>
                <a:lnTo>
                  <a:pt x="966" y="5991611"/>
                </a:lnTo>
                <a:lnTo>
                  <a:pt x="0" y="5986751"/>
                </a:lnTo>
                <a:lnTo>
                  <a:pt x="0" y="5981700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9796752" y="0"/>
                </a:lnTo>
                <a:lnTo>
                  <a:pt x="9828831" y="28187"/>
                </a:lnTo>
                <a:lnTo>
                  <a:pt x="9829799" y="33047"/>
                </a:lnTo>
                <a:lnTo>
                  <a:pt x="9829799" y="5986751"/>
                </a:lnTo>
                <a:lnTo>
                  <a:pt x="9801611" y="6018832"/>
                </a:lnTo>
                <a:lnTo>
                  <a:pt x="9796752" y="601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982495" y="3037204"/>
            <a:ext cx="25863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16760" algn="just">
              <a:lnSpc>
                <a:spcPct val="125000"/>
              </a:lnSpc>
              <a:spcBef>
                <a:spcPts val="100"/>
              </a:spcBef>
            </a:pPr>
            <a:r>
              <a:rPr sz="1200" spc="-20" dirty="0">
                <a:solidFill>
                  <a:srgbClr val="60A5FA"/>
                </a:solidFill>
                <a:latin typeface="Courier New"/>
                <a:cs typeface="Courier New"/>
              </a:rPr>
              <a:t>import </a:t>
            </a:r>
            <a:r>
              <a:rPr sz="1200" spc="-20" dirty="0">
                <a:solidFill>
                  <a:srgbClr val="FFFFFF"/>
                </a:solidFill>
                <a:latin typeface="Courier New"/>
                <a:cs typeface="Courier New"/>
              </a:rPr>
              <a:t>pygame </a:t>
            </a:r>
            <a:r>
              <a:rPr sz="1200" spc="-20" dirty="0">
                <a:solidFill>
                  <a:srgbClr val="60A5FA"/>
                </a:solidFill>
                <a:latin typeface="Courier New"/>
                <a:cs typeface="Courier New"/>
              </a:rPr>
              <a:t>from</a:t>
            </a:r>
            <a:endParaRPr sz="12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network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import</a:t>
            </a:r>
            <a:r>
              <a:rPr sz="12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RacingNetwork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94038" y="10002837"/>
            <a:ext cx="84963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20/25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82495" y="4180204"/>
            <a:ext cx="319595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34920">
              <a:lnSpc>
                <a:spcPct val="125000"/>
              </a:lnSpc>
              <a:spcBef>
                <a:spcPts val="100"/>
              </a:spcBef>
            </a:pPr>
            <a:r>
              <a:rPr sz="1200" spc="-25" dirty="0">
                <a:solidFill>
                  <a:srgbClr val="60A5FA"/>
                </a:solidFill>
                <a:latin typeface="Courier New"/>
                <a:cs typeface="Courier New"/>
              </a:rPr>
              <a:t>def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race():</a:t>
            </a:r>
            <a:endParaRPr sz="1200">
              <a:latin typeface="Courier New"/>
              <a:cs typeface="Courier New"/>
            </a:endParaRPr>
          </a:p>
          <a:p>
            <a:pPr marL="165100" marR="5080">
              <a:lnSpc>
                <a:spcPct val="125000"/>
              </a:lnSpc>
            </a:pP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200" spc="-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Initialize</a:t>
            </a:r>
            <a:r>
              <a:rPr sz="1200" spc="-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PyGame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&amp;</a:t>
            </a:r>
            <a:r>
              <a:rPr sz="1200" spc="-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4ADE80"/>
                </a:solidFill>
                <a:latin typeface="Courier New"/>
                <a:cs typeface="Courier New"/>
              </a:rPr>
              <a:t>Environment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pygame.init()</a:t>
            </a:r>
            <a:endParaRPr sz="12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env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RacingEnvironment()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34895" y="5551804"/>
            <a:ext cx="3683635" cy="7112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Load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trained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4ADE80"/>
                </a:solidFill>
                <a:latin typeface="Courier New"/>
                <a:cs typeface="Courier New"/>
              </a:rPr>
              <a:t>models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agent1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RacingNetwork.load('team1.pth')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agent2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RacingNetwork.load('team2.pth')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34895" y="6466204"/>
            <a:ext cx="29216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94839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Race</a:t>
            </a:r>
            <a:r>
              <a:rPr sz="1200" spc="-20" dirty="0">
                <a:solidFill>
                  <a:srgbClr val="4ADE80"/>
                </a:solidFill>
                <a:latin typeface="Courier New"/>
                <a:cs typeface="Courier New"/>
              </a:rPr>
              <a:t> loop </a:t>
            </a:r>
            <a:r>
              <a:rPr sz="1200" spc="-10" dirty="0">
                <a:solidFill>
                  <a:srgbClr val="60A5FA"/>
                </a:solidFill>
                <a:latin typeface="Courier New"/>
                <a:cs typeface="Courier New"/>
              </a:rPr>
              <a:t>while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racing:</a:t>
            </a:r>
            <a:endParaRPr sz="1200">
              <a:latin typeface="Courier New"/>
              <a:cs typeface="Courier New"/>
            </a:endParaRPr>
          </a:p>
          <a:p>
            <a:pPr marL="165100" marR="5080">
              <a:lnSpc>
                <a:spcPct val="125000"/>
              </a:lnSpc>
            </a:pP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Get</a:t>
            </a:r>
            <a:r>
              <a:rPr sz="1200" spc="-2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actions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from</a:t>
            </a:r>
            <a:r>
              <a:rPr sz="1200" spc="-2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4ADE80"/>
                </a:solidFill>
                <a:latin typeface="Courier New"/>
                <a:cs typeface="Courier New"/>
              </a:rPr>
              <a:t>models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action1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agent1.predict(obs1)</a:t>
            </a:r>
            <a:endParaRPr sz="12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359"/>
              </a:spcBef>
            </a:pP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87295" y="8066405"/>
            <a:ext cx="26777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#</a:t>
            </a:r>
            <a:r>
              <a:rPr sz="120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Update</a:t>
            </a:r>
            <a:r>
              <a:rPr sz="1200" spc="-2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&amp;</a:t>
            </a:r>
            <a:r>
              <a:rPr sz="1200" spc="-2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ADE80"/>
                </a:solidFill>
                <a:latin typeface="Courier New"/>
                <a:cs typeface="Courier New"/>
              </a:rPr>
              <a:t>Render</a:t>
            </a:r>
            <a:r>
              <a:rPr sz="1200" spc="-2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4ADE80"/>
                </a:solidFill>
                <a:latin typeface="Courier New"/>
                <a:cs typeface="Courier New"/>
              </a:rPr>
              <a:t>environment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env.step([action1,</a:t>
            </a:r>
            <a:r>
              <a:rPr sz="1200" spc="-1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action2]) env.render()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692205" y="1212850"/>
            <a:ext cx="255270" cy="279400"/>
            <a:chOff x="4692205" y="1212850"/>
            <a:chExt cx="255270" cy="279400"/>
          </a:xfrm>
        </p:grpSpPr>
        <p:sp>
          <p:nvSpPr>
            <p:cNvPr id="4" name="object 4"/>
            <p:cNvSpPr/>
            <p:nvPr/>
          </p:nvSpPr>
          <p:spPr>
            <a:xfrm>
              <a:off x="4704905" y="1225550"/>
              <a:ext cx="229870" cy="254000"/>
            </a:xfrm>
            <a:custGeom>
              <a:avLst/>
              <a:gdLst/>
              <a:ahLst/>
              <a:cxnLst/>
              <a:rect l="l" t="t" r="r" b="b"/>
              <a:pathLst>
                <a:path w="229870" h="254000">
                  <a:moveTo>
                    <a:pt x="117539" y="0"/>
                  </a:moveTo>
                  <a:lnTo>
                    <a:pt x="111951" y="0"/>
                  </a:lnTo>
                  <a:lnTo>
                    <a:pt x="108582" y="0"/>
                  </a:lnTo>
                  <a:lnTo>
                    <a:pt x="105342" y="644"/>
                  </a:lnTo>
                  <a:lnTo>
                    <a:pt x="88484" y="15679"/>
                  </a:lnTo>
                  <a:lnTo>
                    <a:pt x="87195" y="18791"/>
                  </a:lnTo>
                  <a:lnTo>
                    <a:pt x="86551" y="22031"/>
                  </a:lnTo>
                  <a:lnTo>
                    <a:pt x="86551" y="25400"/>
                  </a:lnTo>
                  <a:lnTo>
                    <a:pt x="86551" y="27686"/>
                  </a:lnTo>
                  <a:lnTo>
                    <a:pt x="86546" y="32218"/>
                  </a:lnTo>
                  <a:lnTo>
                    <a:pt x="85409" y="36447"/>
                  </a:lnTo>
                  <a:lnTo>
                    <a:pt x="83141" y="40371"/>
                  </a:lnTo>
                  <a:lnTo>
                    <a:pt x="80873" y="44295"/>
                  </a:lnTo>
                  <a:lnTo>
                    <a:pt x="77776" y="47390"/>
                  </a:lnTo>
                  <a:lnTo>
                    <a:pt x="73851" y="49657"/>
                  </a:lnTo>
                  <a:lnTo>
                    <a:pt x="68390" y="52832"/>
                  </a:lnTo>
                  <a:lnTo>
                    <a:pt x="64460" y="55100"/>
                  </a:lnTo>
                  <a:lnTo>
                    <a:pt x="60227" y="56234"/>
                  </a:lnTo>
                  <a:lnTo>
                    <a:pt x="55690" y="56234"/>
                  </a:lnTo>
                  <a:lnTo>
                    <a:pt x="51152" y="56234"/>
                  </a:lnTo>
                  <a:lnTo>
                    <a:pt x="46919" y="55100"/>
                  </a:lnTo>
                  <a:lnTo>
                    <a:pt x="42990" y="52832"/>
                  </a:lnTo>
                  <a:lnTo>
                    <a:pt x="41085" y="51816"/>
                  </a:lnTo>
                  <a:lnTo>
                    <a:pt x="38170" y="50134"/>
                  </a:lnTo>
                  <a:lnTo>
                    <a:pt x="35045" y="49074"/>
                  </a:lnTo>
                  <a:lnTo>
                    <a:pt x="31710" y="48635"/>
                  </a:lnTo>
                  <a:lnTo>
                    <a:pt x="28374" y="48195"/>
                  </a:lnTo>
                  <a:lnTo>
                    <a:pt x="439" y="75287"/>
                  </a:lnTo>
                  <a:lnTo>
                    <a:pt x="0" y="78623"/>
                  </a:lnTo>
                  <a:lnTo>
                    <a:pt x="214" y="81916"/>
                  </a:lnTo>
                  <a:lnTo>
                    <a:pt x="1083" y="85166"/>
                  </a:lnTo>
                  <a:lnTo>
                    <a:pt x="1953" y="88416"/>
                  </a:lnTo>
                  <a:lnTo>
                    <a:pt x="3410" y="91376"/>
                  </a:lnTo>
                  <a:lnTo>
                    <a:pt x="5455" y="94048"/>
                  </a:lnTo>
                  <a:lnTo>
                    <a:pt x="7501" y="96719"/>
                  </a:lnTo>
                  <a:lnTo>
                    <a:pt x="9979" y="98897"/>
                  </a:lnTo>
                  <a:lnTo>
                    <a:pt x="12891" y="100584"/>
                  </a:lnTo>
                  <a:lnTo>
                    <a:pt x="14796" y="101854"/>
                  </a:lnTo>
                  <a:lnTo>
                    <a:pt x="18701" y="104108"/>
                  </a:lnTo>
                  <a:lnTo>
                    <a:pt x="21788" y="107185"/>
                  </a:lnTo>
                  <a:lnTo>
                    <a:pt x="24054" y="111084"/>
                  </a:lnTo>
                  <a:lnTo>
                    <a:pt x="26321" y="114983"/>
                  </a:lnTo>
                  <a:lnTo>
                    <a:pt x="27468" y="119188"/>
                  </a:lnTo>
                  <a:lnTo>
                    <a:pt x="27496" y="123698"/>
                  </a:lnTo>
                  <a:lnTo>
                    <a:pt x="27496" y="130175"/>
                  </a:lnTo>
                  <a:lnTo>
                    <a:pt x="27514" y="134730"/>
                  </a:lnTo>
                  <a:lnTo>
                    <a:pt x="14796" y="152273"/>
                  </a:lnTo>
                  <a:lnTo>
                    <a:pt x="12891" y="153416"/>
                  </a:lnTo>
                  <a:lnTo>
                    <a:pt x="1083" y="168833"/>
                  </a:lnTo>
                  <a:lnTo>
                    <a:pt x="214" y="172084"/>
                  </a:lnTo>
                  <a:lnTo>
                    <a:pt x="12950" y="200348"/>
                  </a:lnTo>
                  <a:lnTo>
                    <a:pt x="15621" y="202393"/>
                  </a:lnTo>
                  <a:lnTo>
                    <a:pt x="18581" y="203851"/>
                  </a:lnTo>
                  <a:lnTo>
                    <a:pt x="21831" y="204720"/>
                  </a:lnTo>
                  <a:lnTo>
                    <a:pt x="25082" y="205589"/>
                  </a:lnTo>
                  <a:lnTo>
                    <a:pt x="28374" y="205804"/>
                  </a:lnTo>
                  <a:lnTo>
                    <a:pt x="31710" y="205364"/>
                  </a:lnTo>
                  <a:lnTo>
                    <a:pt x="35045" y="204925"/>
                  </a:lnTo>
                  <a:lnTo>
                    <a:pt x="38170" y="203865"/>
                  </a:lnTo>
                  <a:lnTo>
                    <a:pt x="41085" y="202184"/>
                  </a:lnTo>
                  <a:lnTo>
                    <a:pt x="42990" y="201168"/>
                  </a:lnTo>
                  <a:lnTo>
                    <a:pt x="46919" y="198899"/>
                  </a:lnTo>
                  <a:lnTo>
                    <a:pt x="51152" y="197765"/>
                  </a:lnTo>
                  <a:lnTo>
                    <a:pt x="55690" y="197765"/>
                  </a:lnTo>
                  <a:lnTo>
                    <a:pt x="60227" y="197765"/>
                  </a:lnTo>
                  <a:lnTo>
                    <a:pt x="64460" y="198899"/>
                  </a:lnTo>
                  <a:lnTo>
                    <a:pt x="68390" y="201168"/>
                  </a:lnTo>
                  <a:lnTo>
                    <a:pt x="73851" y="204343"/>
                  </a:lnTo>
                  <a:lnTo>
                    <a:pt x="77776" y="206609"/>
                  </a:lnTo>
                  <a:lnTo>
                    <a:pt x="80873" y="209704"/>
                  </a:lnTo>
                  <a:lnTo>
                    <a:pt x="83141" y="213628"/>
                  </a:lnTo>
                  <a:lnTo>
                    <a:pt x="85409" y="217552"/>
                  </a:lnTo>
                  <a:lnTo>
                    <a:pt x="86546" y="221781"/>
                  </a:lnTo>
                  <a:lnTo>
                    <a:pt x="86551" y="226314"/>
                  </a:lnTo>
                  <a:lnTo>
                    <a:pt x="86551" y="228600"/>
                  </a:lnTo>
                  <a:lnTo>
                    <a:pt x="86551" y="231968"/>
                  </a:lnTo>
                  <a:lnTo>
                    <a:pt x="87195" y="235208"/>
                  </a:lnTo>
                  <a:lnTo>
                    <a:pt x="88484" y="238320"/>
                  </a:lnTo>
                  <a:lnTo>
                    <a:pt x="89773" y="241432"/>
                  </a:lnTo>
                  <a:lnTo>
                    <a:pt x="91608" y="244178"/>
                  </a:lnTo>
                  <a:lnTo>
                    <a:pt x="93990" y="246560"/>
                  </a:lnTo>
                  <a:lnTo>
                    <a:pt x="96372" y="248942"/>
                  </a:lnTo>
                  <a:lnTo>
                    <a:pt x="111951" y="254000"/>
                  </a:lnTo>
                  <a:lnTo>
                    <a:pt x="117539" y="254000"/>
                  </a:lnTo>
                  <a:lnTo>
                    <a:pt x="120907" y="254000"/>
                  </a:lnTo>
                  <a:lnTo>
                    <a:pt x="124147" y="253355"/>
                  </a:lnTo>
                  <a:lnTo>
                    <a:pt x="127259" y="252066"/>
                  </a:lnTo>
                  <a:lnTo>
                    <a:pt x="130371" y="250777"/>
                  </a:lnTo>
                  <a:lnTo>
                    <a:pt x="142939" y="228600"/>
                  </a:lnTo>
                  <a:lnTo>
                    <a:pt x="142939" y="226314"/>
                  </a:lnTo>
                  <a:lnTo>
                    <a:pt x="142943" y="221781"/>
                  </a:lnTo>
                  <a:lnTo>
                    <a:pt x="155639" y="204343"/>
                  </a:lnTo>
                  <a:lnTo>
                    <a:pt x="161100" y="201168"/>
                  </a:lnTo>
                  <a:lnTo>
                    <a:pt x="165029" y="198899"/>
                  </a:lnTo>
                  <a:lnTo>
                    <a:pt x="169262" y="197765"/>
                  </a:lnTo>
                  <a:lnTo>
                    <a:pt x="173800" y="197765"/>
                  </a:lnTo>
                  <a:lnTo>
                    <a:pt x="178337" y="197765"/>
                  </a:lnTo>
                  <a:lnTo>
                    <a:pt x="182570" y="198899"/>
                  </a:lnTo>
                  <a:lnTo>
                    <a:pt x="186500" y="201168"/>
                  </a:lnTo>
                  <a:lnTo>
                    <a:pt x="188405" y="202184"/>
                  </a:lnTo>
                  <a:lnTo>
                    <a:pt x="191319" y="203865"/>
                  </a:lnTo>
                  <a:lnTo>
                    <a:pt x="194444" y="204925"/>
                  </a:lnTo>
                  <a:lnTo>
                    <a:pt x="197779" y="205364"/>
                  </a:lnTo>
                  <a:lnTo>
                    <a:pt x="201115" y="205804"/>
                  </a:lnTo>
                  <a:lnTo>
                    <a:pt x="204408" y="205589"/>
                  </a:lnTo>
                  <a:lnTo>
                    <a:pt x="225870" y="187960"/>
                  </a:lnTo>
                  <a:lnTo>
                    <a:pt x="227551" y="185045"/>
                  </a:lnTo>
                  <a:lnTo>
                    <a:pt x="228611" y="181920"/>
                  </a:lnTo>
                  <a:lnTo>
                    <a:pt x="229050" y="178585"/>
                  </a:lnTo>
                  <a:lnTo>
                    <a:pt x="229490" y="175249"/>
                  </a:lnTo>
                  <a:lnTo>
                    <a:pt x="229275" y="171957"/>
                  </a:lnTo>
                  <a:lnTo>
                    <a:pt x="228406" y="168706"/>
                  </a:lnTo>
                  <a:lnTo>
                    <a:pt x="227537" y="165456"/>
                  </a:lnTo>
                  <a:lnTo>
                    <a:pt x="214694" y="152273"/>
                  </a:lnTo>
                  <a:lnTo>
                    <a:pt x="210749" y="149995"/>
                  </a:lnTo>
                  <a:lnTo>
                    <a:pt x="207641" y="146881"/>
                  </a:lnTo>
                  <a:lnTo>
                    <a:pt x="205371" y="142932"/>
                  </a:lnTo>
                  <a:lnTo>
                    <a:pt x="203101" y="138982"/>
                  </a:lnTo>
                  <a:lnTo>
                    <a:pt x="201975" y="134730"/>
                  </a:lnTo>
                  <a:lnTo>
                    <a:pt x="201994" y="130175"/>
                  </a:lnTo>
                  <a:lnTo>
                    <a:pt x="201994" y="123825"/>
                  </a:lnTo>
                  <a:lnTo>
                    <a:pt x="214694" y="101727"/>
                  </a:lnTo>
                  <a:lnTo>
                    <a:pt x="216599" y="100584"/>
                  </a:lnTo>
                  <a:lnTo>
                    <a:pt x="228406" y="85166"/>
                  </a:lnTo>
                  <a:lnTo>
                    <a:pt x="229275" y="81916"/>
                  </a:lnTo>
                  <a:lnTo>
                    <a:pt x="216540" y="53651"/>
                  </a:lnTo>
                  <a:lnTo>
                    <a:pt x="213869" y="51606"/>
                  </a:lnTo>
                  <a:lnTo>
                    <a:pt x="210908" y="50149"/>
                  </a:lnTo>
                  <a:lnTo>
                    <a:pt x="207658" y="49279"/>
                  </a:lnTo>
                  <a:lnTo>
                    <a:pt x="204408" y="48410"/>
                  </a:lnTo>
                  <a:lnTo>
                    <a:pt x="201115" y="48195"/>
                  </a:lnTo>
                  <a:lnTo>
                    <a:pt x="197779" y="48635"/>
                  </a:lnTo>
                  <a:lnTo>
                    <a:pt x="194444" y="49074"/>
                  </a:lnTo>
                  <a:lnTo>
                    <a:pt x="191319" y="50134"/>
                  </a:lnTo>
                  <a:lnTo>
                    <a:pt x="188405" y="51816"/>
                  </a:lnTo>
                  <a:lnTo>
                    <a:pt x="186500" y="52832"/>
                  </a:lnTo>
                  <a:lnTo>
                    <a:pt x="182570" y="55100"/>
                  </a:lnTo>
                  <a:lnTo>
                    <a:pt x="178337" y="56234"/>
                  </a:lnTo>
                  <a:lnTo>
                    <a:pt x="173800" y="56234"/>
                  </a:lnTo>
                  <a:lnTo>
                    <a:pt x="169262" y="56234"/>
                  </a:lnTo>
                  <a:lnTo>
                    <a:pt x="165029" y="55100"/>
                  </a:lnTo>
                  <a:lnTo>
                    <a:pt x="161100" y="52832"/>
                  </a:lnTo>
                  <a:lnTo>
                    <a:pt x="155639" y="49657"/>
                  </a:lnTo>
                  <a:lnTo>
                    <a:pt x="151713" y="47390"/>
                  </a:lnTo>
                  <a:lnTo>
                    <a:pt x="148616" y="44295"/>
                  </a:lnTo>
                  <a:lnTo>
                    <a:pt x="146348" y="40371"/>
                  </a:lnTo>
                  <a:lnTo>
                    <a:pt x="144080" y="36447"/>
                  </a:lnTo>
                  <a:lnTo>
                    <a:pt x="142943" y="32218"/>
                  </a:lnTo>
                  <a:lnTo>
                    <a:pt x="142939" y="27686"/>
                  </a:lnTo>
                  <a:lnTo>
                    <a:pt x="142939" y="25400"/>
                  </a:lnTo>
                  <a:lnTo>
                    <a:pt x="142939" y="22031"/>
                  </a:lnTo>
                  <a:lnTo>
                    <a:pt x="120907" y="0"/>
                  </a:lnTo>
                  <a:lnTo>
                    <a:pt x="117539" y="0"/>
                  </a:lnTo>
                  <a:close/>
                </a:path>
              </a:pathLst>
            </a:custGeom>
            <a:ln w="25400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8850" y="1301750"/>
              <a:ext cx="101600" cy="101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219415"/>
            <a:ext cx="13187044" cy="13169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4950" spc="-145" dirty="0">
                <a:solidFill>
                  <a:srgbClr val="FF6A34"/>
                </a:solidFill>
              </a:rPr>
              <a:t>Hyperparameters</a:t>
            </a:r>
            <a:r>
              <a:rPr sz="4950" spc="-265" dirty="0">
                <a:solidFill>
                  <a:srgbClr val="FF6A34"/>
                </a:solidFill>
              </a:rPr>
              <a:t> </a:t>
            </a:r>
            <a:r>
              <a:rPr sz="4950" spc="-690" dirty="0">
                <a:solidFill>
                  <a:srgbClr val="FF6A34"/>
                </a:solidFill>
              </a:rPr>
              <a:t>Y</a:t>
            </a:r>
            <a:r>
              <a:rPr sz="4950" spc="-190" dirty="0">
                <a:solidFill>
                  <a:srgbClr val="FF6A34"/>
                </a:solidFill>
              </a:rPr>
              <a:t>ou</a:t>
            </a:r>
            <a:r>
              <a:rPr sz="4950" spc="-260" dirty="0">
                <a:solidFill>
                  <a:srgbClr val="FF6A34"/>
                </a:solidFill>
              </a:rPr>
              <a:t> </a:t>
            </a:r>
            <a:r>
              <a:rPr sz="4950" spc="-215" dirty="0">
                <a:solidFill>
                  <a:srgbClr val="FF6A34"/>
                </a:solidFill>
              </a:rPr>
              <a:t>Can</a:t>
            </a:r>
            <a:r>
              <a:rPr sz="4950" spc="-260" dirty="0">
                <a:solidFill>
                  <a:srgbClr val="FF6A34"/>
                </a:solidFill>
              </a:rPr>
              <a:t> </a:t>
            </a:r>
            <a:r>
              <a:rPr sz="4950" spc="-10" dirty="0">
                <a:solidFill>
                  <a:srgbClr val="FF6A34"/>
                </a:solidFill>
              </a:rPr>
              <a:t>Tweak</a:t>
            </a:r>
            <a:endParaRPr sz="4950"/>
          </a:p>
          <a:p>
            <a:pPr marL="4681220">
              <a:lnSpc>
                <a:spcPct val="100000"/>
              </a:lnSpc>
              <a:spcBef>
                <a:spcPts val="385"/>
              </a:spcBef>
            </a:pPr>
            <a:r>
              <a:rPr sz="2500" b="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These</a:t>
            </a:r>
            <a:r>
              <a:rPr sz="2500" b="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sz="2500" b="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b="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key</a:t>
            </a:r>
            <a:r>
              <a:rPr sz="2500" b="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600" b="0" spc="-60" dirty="0">
                <a:solidFill>
                  <a:srgbClr val="FFFFFF"/>
                </a:solidFill>
                <a:latin typeface="Sitka Text"/>
                <a:cs typeface="Sitka Text"/>
              </a:rPr>
              <a:t>'</a:t>
            </a:r>
            <a:r>
              <a:rPr sz="2500" b="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knobs</a:t>
            </a:r>
            <a:r>
              <a:rPr sz="2600" b="0" spc="-60" dirty="0">
                <a:solidFill>
                  <a:srgbClr val="FFFFFF"/>
                </a:solidFill>
                <a:latin typeface="Sitka Text"/>
                <a:cs typeface="Sitka Text"/>
              </a:rPr>
              <a:t>'</a:t>
            </a:r>
            <a:r>
              <a:rPr sz="2600" b="0" spc="-125" dirty="0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sz="25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00" b="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adjust</a:t>
            </a:r>
            <a:r>
              <a:rPr sz="2500" b="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your</a:t>
            </a:r>
            <a:r>
              <a:rPr sz="2500" b="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600" b="0" spc="-75" dirty="0">
                <a:solidFill>
                  <a:srgbClr val="FFFFFF"/>
                </a:solidFill>
                <a:latin typeface="Sitka Text"/>
                <a:cs typeface="Sitka Text"/>
              </a:rPr>
              <a:t>'</a:t>
            </a:r>
            <a:r>
              <a:rPr sz="2500" b="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500" b="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2500" b="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r>
              <a:rPr sz="2600" b="0" spc="-35" dirty="0">
                <a:solidFill>
                  <a:srgbClr val="FFFFFF"/>
                </a:solidFill>
                <a:latin typeface="Sitka Text"/>
                <a:cs typeface="Sitka Text"/>
              </a:rPr>
              <a:t>.</a:t>
            </a:r>
            <a:endParaRPr sz="2600">
              <a:latin typeface="Sitka Text"/>
              <a:cs typeface="Sitka Tex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1676400"/>
            <a:ext cx="17373600" cy="7620000"/>
          </a:xfrm>
          <a:custGeom>
            <a:avLst/>
            <a:gdLst/>
            <a:ahLst/>
            <a:cxnLst/>
            <a:rect l="l" t="t" r="r" b="b"/>
            <a:pathLst>
              <a:path w="17373600" h="7620000">
                <a:moveTo>
                  <a:pt x="17302402" y="7619999"/>
                </a:moveTo>
                <a:lnTo>
                  <a:pt x="71196" y="7619999"/>
                </a:lnTo>
                <a:lnTo>
                  <a:pt x="66241" y="7619511"/>
                </a:lnTo>
                <a:lnTo>
                  <a:pt x="29705" y="7604377"/>
                </a:lnTo>
                <a:lnTo>
                  <a:pt x="3885" y="7568337"/>
                </a:lnTo>
                <a:lnTo>
                  <a:pt x="0" y="7548803"/>
                </a:lnTo>
                <a:lnTo>
                  <a:pt x="0" y="7543800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7302402" y="0"/>
                </a:lnTo>
                <a:lnTo>
                  <a:pt x="17343892" y="15621"/>
                </a:lnTo>
                <a:lnTo>
                  <a:pt x="17369712" y="51661"/>
                </a:lnTo>
                <a:lnTo>
                  <a:pt x="17373599" y="71196"/>
                </a:lnTo>
                <a:lnTo>
                  <a:pt x="17373599" y="7548803"/>
                </a:lnTo>
                <a:lnTo>
                  <a:pt x="17357977" y="7590293"/>
                </a:lnTo>
                <a:lnTo>
                  <a:pt x="17321936" y="7616112"/>
                </a:lnTo>
                <a:lnTo>
                  <a:pt x="17307356" y="7619511"/>
                </a:lnTo>
                <a:lnTo>
                  <a:pt x="17302402" y="76199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200" y="1676399"/>
            <a:ext cx="4752975" cy="457200"/>
          </a:xfrm>
          <a:custGeom>
            <a:avLst/>
            <a:gdLst/>
            <a:ahLst/>
            <a:cxnLst/>
            <a:rect l="l" t="t" r="r" b="b"/>
            <a:pathLst>
              <a:path w="4752975" h="457200">
                <a:moveTo>
                  <a:pt x="4752975" y="457200"/>
                </a:moveTo>
                <a:lnTo>
                  <a:pt x="0" y="457200"/>
                </a:lnTo>
                <a:lnTo>
                  <a:pt x="0" y="76200"/>
                </a:lnTo>
                <a:lnTo>
                  <a:pt x="12830" y="33857"/>
                </a:lnTo>
                <a:lnTo>
                  <a:pt x="47039" y="5800"/>
                </a:lnTo>
                <a:lnTo>
                  <a:pt x="76200" y="0"/>
                </a:lnTo>
                <a:lnTo>
                  <a:pt x="4752975" y="0"/>
                </a:lnTo>
                <a:lnTo>
                  <a:pt x="4752975" y="457200"/>
                </a:lnTo>
                <a:close/>
              </a:path>
            </a:pathLst>
          </a:custGeom>
          <a:solidFill>
            <a:srgbClr val="38F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506700" y="1676399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23241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2247900" y="0"/>
                </a:lnTo>
                <a:lnTo>
                  <a:pt x="2255405" y="362"/>
                </a:lnTo>
                <a:lnTo>
                  <a:pt x="2296215" y="17266"/>
                </a:lnTo>
                <a:lnTo>
                  <a:pt x="2320835" y="54113"/>
                </a:lnTo>
                <a:lnTo>
                  <a:pt x="2324100" y="76200"/>
                </a:lnTo>
                <a:lnTo>
                  <a:pt x="2324100" y="457200"/>
                </a:lnTo>
                <a:close/>
              </a:path>
            </a:pathLst>
          </a:custGeom>
          <a:solidFill>
            <a:srgbClr val="38F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512523"/>
              </p:ext>
            </p:extLst>
          </p:nvPr>
        </p:nvGraphicFramePr>
        <p:xfrm>
          <a:off x="457200" y="1676399"/>
          <a:ext cx="17372326" cy="4642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2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Hyperparameter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b="1" spc="-80" dirty="0">
                          <a:latin typeface="Arial"/>
                          <a:cs typeface="Arial"/>
                        </a:rPr>
                        <a:t>What</a:t>
                      </a:r>
                      <a:r>
                        <a:rPr sz="20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35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20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Does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solidFill>
                      <a:srgbClr val="38FF13"/>
                    </a:solidFill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b="1" spc="-90" dirty="0">
                          <a:latin typeface="Arial"/>
                          <a:cs typeface="Arial"/>
                        </a:rPr>
                        <a:t>Typical</a:t>
                      </a:r>
                      <a:r>
                        <a:rPr sz="2000" b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Range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solidFill>
                      <a:srgbClr val="38FF1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950" b="1" spc="-100" dirty="0">
                          <a:solidFill>
                            <a:srgbClr val="00BEFF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sz="1950" b="1" spc="-70" dirty="0">
                          <a:solidFill>
                            <a:srgbClr val="00BE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10" dirty="0">
                          <a:solidFill>
                            <a:srgbClr val="00BEFF"/>
                          </a:solidFill>
                          <a:latin typeface="Arial"/>
                          <a:cs typeface="Arial"/>
                        </a:rPr>
                        <a:t>Default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0"/>
                        </a:spcBef>
                        <a:tabLst>
                          <a:tab pos="131064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Learning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Rate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7150" marB="0"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Controls</a:t>
                      </a:r>
                      <a:r>
                        <a:rPr sz="2000" spc="-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how</a:t>
                      </a:r>
                      <a:r>
                        <a:rPr sz="2000" spc="-8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2000" spc="-8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000" spc="-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model</a:t>
                      </a:r>
                      <a:r>
                        <a:rPr sz="2000" spc="-8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learns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0" marB="0"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50"/>
                        </a:spcBef>
                        <a:tabLst>
                          <a:tab pos="2426335" algn="l"/>
                          <a:tab pos="2700655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0.0001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7150" marB="0"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0.0003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7150" marB="0"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310640" algn="l"/>
                          <a:tab pos="227076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Discount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Factor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(γ)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spc="-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Balances</a:t>
                      </a:r>
                      <a:r>
                        <a:rPr sz="2000" spc="-7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immediate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vs</a:t>
                      </a:r>
                      <a:r>
                        <a:rPr sz="2050" spc="-35" dirty="0">
                          <a:solidFill>
                            <a:srgbClr val="FFFFFF"/>
                          </a:solidFill>
                          <a:latin typeface="Sitka Text"/>
                          <a:cs typeface="Sitka Text"/>
                        </a:rPr>
                        <a:t>.</a:t>
                      </a:r>
                      <a:r>
                        <a:rPr sz="2050" spc="-114" dirty="0">
                          <a:solidFill>
                            <a:srgbClr val="FFFFFF"/>
                          </a:solidFill>
                          <a:latin typeface="Sitka Text"/>
                          <a:cs typeface="Sitka Text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future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rewards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8895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2014855" algn="l"/>
                          <a:tab pos="228917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0.999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0.99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31064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Training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Episodes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Total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number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training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simulations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7405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877695" algn="l"/>
                          <a:tab pos="215201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1k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10k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1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3,000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89916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Batch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Size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8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Data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points</a:t>
                      </a:r>
                      <a:r>
                        <a:rPr sz="2000" spc="-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per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training</a:t>
                      </a:r>
                      <a:r>
                        <a:rPr sz="2000" spc="-7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update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877695" algn="l"/>
                          <a:tab pos="215201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512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128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762000" algn="l"/>
                        </a:tabLst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Clip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Range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4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Limits</a:t>
                      </a:r>
                      <a:r>
                        <a:rPr sz="2000" spc="-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000" spc="-10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change</a:t>
                      </a:r>
                      <a:r>
                        <a:rPr sz="2000" spc="-1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2000" spc="-9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policy</a:t>
                      </a:r>
                      <a:r>
                        <a:rPr sz="2000" spc="-9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per</a:t>
                      </a:r>
                      <a:r>
                        <a:rPr sz="2000" spc="-1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update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2014855" algn="l"/>
                          <a:tab pos="228917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0.1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0.2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17348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Network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Architecture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7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Size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2000" spc="-5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000" spc="-5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neural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network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Varies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[64,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64]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17348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Entropy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Coefficient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Encourages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3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agent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explore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2014855" algn="l"/>
                          <a:tab pos="228917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0.01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624840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GAE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Lambda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4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Factor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advantage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estimation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621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2014855" algn="l"/>
                          <a:tab pos="2289175" algn="l"/>
                        </a:tabLst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0.95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374050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644">
                <a:tc>
                  <a:txBody>
                    <a:bodyPr/>
                    <a:lstStyle/>
                    <a:p>
                      <a:pPr marL="75565" lvl="0">
                        <a:lnSpc>
                          <a:spcPct val="100000"/>
                        </a:lnSpc>
                        <a:spcBef>
                          <a:spcPts val="484"/>
                        </a:spcBef>
                        <a:buNone/>
                        <a:tabLst>
                          <a:tab pos="624840" algn="l"/>
                        </a:tabLst>
                      </a:pPr>
                      <a:r>
                        <a:rPr lang="en-US"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Continuous?</a:t>
                      </a:r>
                      <a:endParaRPr sz="1800" spc="-10" dirty="0">
                        <a:solidFill>
                          <a:srgbClr val="FFFFFF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 cap="flat" cmpd="sng" algn="ctr">
                      <a:solidFill>
                        <a:srgbClr val="37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4930" lvl="0">
                        <a:lnSpc>
                          <a:spcPct val="100000"/>
                        </a:lnSpc>
                        <a:spcBef>
                          <a:spcPts val="434"/>
                        </a:spcBef>
                        <a:buNone/>
                      </a:pPr>
                      <a:r>
                        <a:rPr lang="en-US"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Says whether decisions are continuous or discrete</a:t>
                      </a:r>
                      <a:endParaRPr sz="2000" spc="-10" dirty="0">
                        <a:solidFill>
                          <a:srgbClr val="FFFFFF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244" marB="0">
                    <a:lnT w="9525" cap="flat" cmpd="sng" algn="ctr">
                      <a:solidFill>
                        <a:srgbClr val="37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6215" lvl="0">
                        <a:lnSpc>
                          <a:spcPct val="100000"/>
                        </a:lnSpc>
                        <a:spcBef>
                          <a:spcPts val="484"/>
                        </a:spcBef>
                        <a:buNone/>
                        <a:tabLst>
                          <a:tab pos="2014855" algn="l"/>
                          <a:tab pos="2289175" algn="l"/>
                        </a:tabLst>
                      </a:pPr>
                      <a:r>
                        <a:rPr lang="en-US"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True/False</a:t>
                      </a:r>
                      <a:endParaRPr sz="1800" spc="-20" dirty="0">
                        <a:solidFill>
                          <a:srgbClr val="FFFFFF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 cap="flat" cmpd="sng" algn="ctr">
                      <a:solidFill>
                        <a:srgbClr val="37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565" lvl="0">
                        <a:lnSpc>
                          <a:spcPct val="100000"/>
                        </a:lnSpc>
                        <a:spcBef>
                          <a:spcPts val="484"/>
                        </a:spcBef>
                        <a:buNone/>
                      </a:pPr>
                      <a:r>
                        <a:rPr lang="en-US" sz="1800" spc="-20" dirty="0">
                          <a:solidFill>
                            <a:srgbClr val="00BEFF"/>
                          </a:solidFill>
                          <a:latin typeface="Courier New"/>
                          <a:cs typeface="Courier New"/>
                        </a:rPr>
                        <a:t>False</a:t>
                      </a:r>
                      <a:endParaRPr sz="1800" spc="-20" dirty="0">
                        <a:solidFill>
                          <a:srgbClr val="00BEFF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T w="9525" cap="flat" cmpd="sng" algn="ctr">
                      <a:solidFill>
                        <a:srgbClr val="37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374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050">
                        <a:alpha val="501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0773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44500" y="9894947"/>
            <a:ext cx="125095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00BEFF"/>
                </a:solidFill>
                <a:latin typeface="Microsoft Sans Serif"/>
                <a:cs typeface="Microsoft Sans Serif"/>
              </a:rPr>
              <a:t>Customization</a:t>
            </a:r>
            <a:r>
              <a:rPr sz="1300" spc="-55" dirty="0">
                <a:solidFill>
                  <a:srgbClr val="00BE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00BEFF"/>
                </a:solidFill>
                <a:latin typeface="Times New Roman"/>
                <a:cs typeface="Times New Roman"/>
              </a:rPr>
              <a:t>→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8269" y="9894947"/>
            <a:ext cx="81534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21/25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5" dirty="0">
                <a:solidFill>
                  <a:srgbClr val="00BEFF"/>
                </a:solidFill>
              </a:rPr>
              <a:t>Reward</a:t>
            </a:r>
            <a:r>
              <a:rPr spc="-345" dirty="0">
                <a:solidFill>
                  <a:srgbClr val="00BEFF"/>
                </a:solidFill>
              </a:rPr>
              <a:t> </a:t>
            </a:r>
            <a:r>
              <a:rPr spc="-315" dirty="0">
                <a:solidFill>
                  <a:srgbClr val="00BEFF"/>
                </a:solidFill>
              </a:rPr>
              <a:t>Function</a:t>
            </a:r>
            <a:r>
              <a:rPr spc="-340" dirty="0">
                <a:solidFill>
                  <a:srgbClr val="00BEFF"/>
                </a:solidFill>
              </a:rPr>
              <a:t> </a:t>
            </a:r>
            <a:r>
              <a:rPr spc="-270" dirty="0">
                <a:solidFill>
                  <a:srgbClr val="00BEFF"/>
                </a:solidFill>
              </a:rPr>
              <a:t>Customization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424096"/>
            <a:ext cx="8458200" cy="6615430"/>
            <a:chOff x="457200" y="1424096"/>
            <a:chExt cx="8458200" cy="6615430"/>
          </a:xfrm>
        </p:grpSpPr>
        <p:sp>
          <p:nvSpPr>
            <p:cNvPr id="4" name="object 4"/>
            <p:cNvSpPr/>
            <p:nvPr/>
          </p:nvSpPr>
          <p:spPr>
            <a:xfrm>
              <a:off x="477142" y="1434256"/>
              <a:ext cx="200025" cy="179705"/>
            </a:xfrm>
            <a:custGeom>
              <a:avLst/>
              <a:gdLst/>
              <a:ahLst/>
              <a:cxnLst/>
              <a:rect l="l" t="t" r="r" b="b"/>
              <a:pathLst>
                <a:path w="200025" h="179705">
                  <a:moveTo>
                    <a:pt x="19942" y="179486"/>
                  </a:moveTo>
                  <a:lnTo>
                    <a:pt x="19942" y="109686"/>
                  </a:lnTo>
                </a:path>
                <a:path w="200025" h="179705">
                  <a:moveTo>
                    <a:pt x="19942" y="69800"/>
                  </a:moveTo>
                  <a:lnTo>
                    <a:pt x="19942" y="0"/>
                  </a:lnTo>
                </a:path>
                <a:path w="200025" h="179705">
                  <a:moveTo>
                    <a:pt x="99714" y="179486"/>
                  </a:moveTo>
                  <a:lnTo>
                    <a:pt x="99714" y="89743"/>
                  </a:lnTo>
                </a:path>
                <a:path w="200025" h="179705">
                  <a:moveTo>
                    <a:pt x="99714" y="49857"/>
                  </a:moveTo>
                  <a:lnTo>
                    <a:pt x="99714" y="0"/>
                  </a:lnTo>
                </a:path>
                <a:path w="200025" h="179705">
                  <a:moveTo>
                    <a:pt x="179486" y="179486"/>
                  </a:moveTo>
                  <a:lnTo>
                    <a:pt x="179486" y="129629"/>
                  </a:lnTo>
                </a:path>
                <a:path w="200025" h="179705">
                  <a:moveTo>
                    <a:pt x="179486" y="89743"/>
                  </a:moveTo>
                  <a:lnTo>
                    <a:pt x="179486" y="0"/>
                  </a:lnTo>
                </a:path>
                <a:path w="200025" h="179705">
                  <a:moveTo>
                    <a:pt x="0" y="109686"/>
                  </a:moveTo>
                  <a:lnTo>
                    <a:pt x="39885" y="109686"/>
                  </a:lnTo>
                </a:path>
                <a:path w="200025" h="179705">
                  <a:moveTo>
                    <a:pt x="79771" y="49857"/>
                  </a:moveTo>
                  <a:lnTo>
                    <a:pt x="119657" y="49857"/>
                  </a:lnTo>
                </a:path>
                <a:path w="200025" h="179705">
                  <a:moveTo>
                    <a:pt x="159543" y="129629"/>
                  </a:moveTo>
                  <a:lnTo>
                    <a:pt x="199429" y="129629"/>
                  </a:lnTo>
                </a:path>
              </a:pathLst>
            </a:custGeom>
            <a:ln w="19942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87" y="2247899"/>
              <a:ext cx="8458200" cy="5791200"/>
            </a:xfrm>
            <a:custGeom>
              <a:avLst/>
              <a:gdLst/>
              <a:ahLst/>
              <a:cxnLst/>
              <a:rect l="l" t="t" r="r" b="b"/>
              <a:pathLst>
                <a:path w="8458200" h="5791200">
                  <a:moveTo>
                    <a:pt x="8458200" y="4528909"/>
                  </a:moveTo>
                  <a:lnTo>
                    <a:pt x="8442579" y="4487418"/>
                  </a:lnTo>
                  <a:lnTo>
                    <a:pt x="8406549" y="4461586"/>
                  </a:lnTo>
                  <a:lnTo>
                    <a:pt x="8387004" y="4457700"/>
                  </a:lnTo>
                  <a:lnTo>
                    <a:pt x="71208" y="4457700"/>
                  </a:lnTo>
                  <a:lnTo>
                    <a:pt x="29718" y="4473321"/>
                  </a:lnTo>
                  <a:lnTo>
                    <a:pt x="3886" y="4509363"/>
                  </a:lnTo>
                  <a:lnTo>
                    <a:pt x="0" y="4528909"/>
                  </a:lnTo>
                  <a:lnTo>
                    <a:pt x="12" y="5715000"/>
                  </a:lnTo>
                  <a:lnTo>
                    <a:pt x="0" y="5720004"/>
                  </a:lnTo>
                  <a:lnTo>
                    <a:pt x="15633" y="5761494"/>
                  </a:lnTo>
                  <a:lnTo>
                    <a:pt x="51663" y="5787314"/>
                  </a:lnTo>
                  <a:lnTo>
                    <a:pt x="71208" y="5791200"/>
                  </a:lnTo>
                  <a:lnTo>
                    <a:pt x="8387004" y="5791200"/>
                  </a:lnTo>
                  <a:lnTo>
                    <a:pt x="8428495" y="5775579"/>
                  </a:lnTo>
                  <a:lnTo>
                    <a:pt x="8454314" y="5739549"/>
                  </a:lnTo>
                  <a:lnTo>
                    <a:pt x="8458200" y="5720004"/>
                  </a:lnTo>
                  <a:lnTo>
                    <a:pt x="8458200" y="4528909"/>
                  </a:lnTo>
                  <a:close/>
                </a:path>
                <a:path w="8458200" h="5791200">
                  <a:moveTo>
                    <a:pt x="8458200" y="3043009"/>
                  </a:moveTo>
                  <a:lnTo>
                    <a:pt x="8442579" y="3001505"/>
                  </a:lnTo>
                  <a:lnTo>
                    <a:pt x="8406549" y="2975686"/>
                  </a:lnTo>
                  <a:lnTo>
                    <a:pt x="8387004" y="2971800"/>
                  </a:lnTo>
                  <a:lnTo>
                    <a:pt x="71208" y="2971800"/>
                  </a:lnTo>
                  <a:lnTo>
                    <a:pt x="29718" y="2987421"/>
                  </a:lnTo>
                  <a:lnTo>
                    <a:pt x="3886" y="3023463"/>
                  </a:lnTo>
                  <a:lnTo>
                    <a:pt x="0" y="3043009"/>
                  </a:lnTo>
                  <a:lnTo>
                    <a:pt x="12" y="4229100"/>
                  </a:lnTo>
                  <a:lnTo>
                    <a:pt x="0" y="4234104"/>
                  </a:lnTo>
                  <a:lnTo>
                    <a:pt x="15633" y="4275594"/>
                  </a:lnTo>
                  <a:lnTo>
                    <a:pt x="51663" y="4301414"/>
                  </a:lnTo>
                  <a:lnTo>
                    <a:pt x="71208" y="4305300"/>
                  </a:lnTo>
                  <a:lnTo>
                    <a:pt x="8387004" y="4305300"/>
                  </a:lnTo>
                  <a:lnTo>
                    <a:pt x="8428495" y="4289679"/>
                  </a:lnTo>
                  <a:lnTo>
                    <a:pt x="8454314" y="4253649"/>
                  </a:lnTo>
                  <a:lnTo>
                    <a:pt x="8458200" y="4234104"/>
                  </a:lnTo>
                  <a:lnTo>
                    <a:pt x="8458200" y="3043009"/>
                  </a:lnTo>
                  <a:close/>
                </a:path>
                <a:path w="8458200" h="5791200">
                  <a:moveTo>
                    <a:pt x="8458200" y="1557108"/>
                  </a:moveTo>
                  <a:lnTo>
                    <a:pt x="8442579" y="1515605"/>
                  </a:lnTo>
                  <a:lnTo>
                    <a:pt x="8406549" y="1489786"/>
                  </a:lnTo>
                  <a:lnTo>
                    <a:pt x="8387004" y="1485900"/>
                  </a:lnTo>
                  <a:lnTo>
                    <a:pt x="71208" y="1485900"/>
                  </a:lnTo>
                  <a:lnTo>
                    <a:pt x="29718" y="1501521"/>
                  </a:lnTo>
                  <a:lnTo>
                    <a:pt x="3886" y="1537563"/>
                  </a:lnTo>
                  <a:lnTo>
                    <a:pt x="0" y="1557108"/>
                  </a:lnTo>
                  <a:lnTo>
                    <a:pt x="12" y="2743200"/>
                  </a:lnTo>
                  <a:lnTo>
                    <a:pt x="0" y="2748203"/>
                  </a:lnTo>
                  <a:lnTo>
                    <a:pt x="15633" y="2789694"/>
                  </a:lnTo>
                  <a:lnTo>
                    <a:pt x="51663" y="2815513"/>
                  </a:lnTo>
                  <a:lnTo>
                    <a:pt x="71208" y="2819400"/>
                  </a:lnTo>
                  <a:lnTo>
                    <a:pt x="8387004" y="2819400"/>
                  </a:lnTo>
                  <a:lnTo>
                    <a:pt x="8428495" y="2803779"/>
                  </a:lnTo>
                  <a:lnTo>
                    <a:pt x="8454314" y="2767749"/>
                  </a:lnTo>
                  <a:lnTo>
                    <a:pt x="8458200" y="2748203"/>
                  </a:lnTo>
                  <a:lnTo>
                    <a:pt x="8458200" y="1557108"/>
                  </a:lnTo>
                  <a:close/>
                </a:path>
                <a:path w="8458200" h="5791200">
                  <a:moveTo>
                    <a:pt x="8458200" y="71208"/>
                  </a:moveTo>
                  <a:lnTo>
                    <a:pt x="8442579" y="29705"/>
                  </a:lnTo>
                  <a:lnTo>
                    <a:pt x="8406549" y="3886"/>
                  </a:lnTo>
                  <a:lnTo>
                    <a:pt x="8387004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1257300"/>
                  </a:lnTo>
                  <a:lnTo>
                    <a:pt x="0" y="1262303"/>
                  </a:lnTo>
                  <a:lnTo>
                    <a:pt x="15633" y="1303794"/>
                  </a:lnTo>
                  <a:lnTo>
                    <a:pt x="51663" y="1329613"/>
                  </a:lnTo>
                  <a:lnTo>
                    <a:pt x="71208" y="1333500"/>
                  </a:lnTo>
                  <a:lnTo>
                    <a:pt x="8387004" y="1333500"/>
                  </a:lnTo>
                  <a:lnTo>
                    <a:pt x="8428495" y="1317879"/>
                  </a:lnTo>
                  <a:lnTo>
                    <a:pt x="8454314" y="1281849"/>
                  </a:lnTo>
                  <a:lnTo>
                    <a:pt x="8458200" y="1262303"/>
                  </a:lnTo>
                  <a:lnTo>
                    <a:pt x="8458200" y="71208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8000" y="1126246"/>
            <a:ext cx="8331200" cy="749680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40360" marR="237490">
              <a:lnSpc>
                <a:spcPts val="2700"/>
              </a:lnSpc>
              <a:spcBef>
                <a:spcPts val="445"/>
              </a:spcBef>
            </a:pPr>
            <a:r>
              <a:rPr sz="2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reward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function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most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powerful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tool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5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shaping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your</a:t>
            </a: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600" spc="-80" dirty="0">
                <a:solidFill>
                  <a:srgbClr val="FFFFFF"/>
                </a:solidFill>
                <a:latin typeface="Gungsuh"/>
                <a:cs typeface="Gungsuh"/>
              </a:rPr>
              <a:t>'</a:t>
            </a:r>
            <a:r>
              <a:rPr sz="2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endParaRPr sz="2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01600">
              <a:lnSpc>
                <a:spcPts val="3410"/>
              </a:lnSpc>
              <a:tabLst>
                <a:tab pos="610235" algn="l"/>
              </a:tabLst>
            </a:pPr>
            <a:r>
              <a:rPr sz="3975" spc="2325" baseline="6289" dirty="0">
                <a:solidFill>
                  <a:srgbClr val="38FF13"/>
                </a:solidFill>
                <a:latin typeface="Segoe UI Symbol"/>
                <a:cs typeface="Segoe UI Symbol"/>
              </a:rPr>
              <a:t>⚡</a:t>
            </a:r>
            <a:r>
              <a:rPr sz="3975" baseline="6289" dirty="0">
                <a:solidFill>
                  <a:srgbClr val="38FF13"/>
                </a:solidFill>
                <a:latin typeface="Segoe UI Symbol"/>
                <a:cs typeface="Segoe UI Symbol"/>
              </a:rPr>
              <a:t>	</a:t>
            </a:r>
            <a:r>
              <a:rPr sz="2950" b="1" spc="-12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295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Rewards</a:t>
            </a:r>
            <a:endParaRPr sz="2950">
              <a:latin typeface="Arial"/>
              <a:cs typeface="Arial"/>
            </a:endParaRPr>
          </a:p>
          <a:p>
            <a:pPr marL="610235">
              <a:lnSpc>
                <a:spcPts val="2265"/>
              </a:lnSpc>
            </a:pP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Adjust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weight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forward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progress</a:t>
            </a:r>
            <a:endParaRPr sz="2000">
              <a:latin typeface="Microsoft Sans Serif"/>
              <a:cs typeface="Microsoft Sans Serif"/>
            </a:endParaRPr>
          </a:p>
          <a:p>
            <a:pPr marL="610235">
              <a:lnSpc>
                <a:spcPct val="100000"/>
              </a:lnSpc>
              <a:spcBef>
                <a:spcPts val="150"/>
              </a:spcBef>
            </a:pP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Higher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weight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i="1" spc="65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50" i="1" spc="-65" dirty="0">
                <a:solidFill>
                  <a:srgbClr val="FF6A34"/>
                </a:solidFill>
                <a:latin typeface="Arial"/>
                <a:cs typeface="Arial"/>
              </a:rPr>
              <a:t>More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aggressive</a:t>
            </a:r>
            <a:r>
              <a:rPr sz="2150" i="1" spc="-70" dirty="0">
                <a:solidFill>
                  <a:srgbClr val="FF6A34"/>
                </a:solidFill>
                <a:latin typeface="Arial"/>
                <a:cs typeface="Arial"/>
              </a:rPr>
              <a:t>,</a:t>
            </a:r>
            <a:r>
              <a:rPr sz="2150" i="1" spc="-9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45" dirty="0">
                <a:solidFill>
                  <a:srgbClr val="FF6A34"/>
                </a:solidFill>
                <a:latin typeface="Arial"/>
                <a:cs typeface="Arial"/>
              </a:rPr>
              <a:t>speed</a:t>
            </a:r>
            <a:r>
              <a:rPr sz="2150" i="1" spc="-45" dirty="0">
                <a:solidFill>
                  <a:srgbClr val="FF6A34"/>
                </a:solidFill>
                <a:latin typeface="Arial"/>
                <a:cs typeface="Arial"/>
              </a:rPr>
              <a:t>-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focused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FF6A34"/>
                </a:solidFill>
                <a:latin typeface="Arial"/>
                <a:cs typeface="Arial"/>
              </a:rPr>
              <a:t>driving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850">
              <a:latin typeface="Arial"/>
              <a:cs typeface="Arial"/>
            </a:endParaRPr>
          </a:p>
          <a:p>
            <a:pPr marL="101600">
              <a:lnSpc>
                <a:spcPts val="3404"/>
              </a:lnSpc>
              <a:tabLst>
                <a:tab pos="610235" algn="l"/>
              </a:tabLst>
            </a:pPr>
            <a:r>
              <a:rPr sz="3975" spc="120" baseline="6289" dirty="0">
                <a:solidFill>
                  <a:srgbClr val="00BEFF"/>
                </a:solidFill>
                <a:latin typeface="Segoe UI Symbol"/>
                <a:cs typeface="Segoe UI Symbol"/>
              </a:rPr>
              <a:t>🎯</a:t>
            </a:r>
            <a:r>
              <a:rPr sz="3975" baseline="6289" dirty="0">
                <a:solidFill>
                  <a:srgbClr val="00BEFF"/>
                </a:solidFill>
                <a:latin typeface="Segoe UI Symbol"/>
                <a:cs typeface="Segoe UI Symbol"/>
              </a:rPr>
              <a:t>	</a:t>
            </a:r>
            <a:r>
              <a:rPr sz="2950" b="1" spc="-100" dirty="0">
                <a:solidFill>
                  <a:srgbClr val="FFFFFF"/>
                </a:solidFill>
                <a:latin typeface="Arial"/>
                <a:cs typeface="Arial"/>
              </a:rPr>
              <a:t>Center </a:t>
            </a:r>
            <a:r>
              <a:rPr sz="2950" b="1" spc="-20" dirty="0">
                <a:solidFill>
                  <a:srgbClr val="FFFFFF"/>
                </a:solidFill>
                <a:latin typeface="Arial"/>
                <a:cs typeface="Arial"/>
              </a:rPr>
              <a:t>Bonus</a:t>
            </a:r>
            <a:endParaRPr sz="2950">
              <a:latin typeface="Arial"/>
              <a:cs typeface="Arial"/>
            </a:endParaRPr>
          </a:p>
          <a:p>
            <a:pPr marL="610235">
              <a:lnSpc>
                <a:spcPts val="2270"/>
              </a:lnSpc>
            </a:pP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staying</a:t>
            </a:r>
            <a:r>
              <a:rPr sz="200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near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center</a:t>
            </a:r>
            <a:endParaRPr sz="2000">
              <a:latin typeface="Microsoft Sans Serif"/>
              <a:cs typeface="Microsoft Sans Serif"/>
            </a:endParaRPr>
          </a:p>
          <a:p>
            <a:pPr marL="610235">
              <a:lnSpc>
                <a:spcPct val="100000"/>
              </a:lnSpc>
              <a:spcBef>
                <a:spcPts val="150"/>
              </a:spcBef>
            </a:pP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Higher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weight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i="1" spc="65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50" i="1" spc="-95" dirty="0">
                <a:solidFill>
                  <a:srgbClr val="FF6A34"/>
                </a:solidFill>
                <a:latin typeface="Arial"/>
                <a:cs typeface="Arial"/>
              </a:rPr>
              <a:t>Smoother</a:t>
            </a:r>
            <a:r>
              <a:rPr sz="2150" i="1" spc="-95" dirty="0">
                <a:solidFill>
                  <a:srgbClr val="FF6A34"/>
                </a:solidFill>
                <a:latin typeface="Arial"/>
                <a:cs typeface="Arial"/>
              </a:rPr>
              <a:t>,</a:t>
            </a:r>
            <a:r>
              <a:rPr sz="2150" i="1" spc="-8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safer 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racing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FF6A34"/>
                </a:solidFill>
                <a:latin typeface="Arial"/>
                <a:cs typeface="Arial"/>
              </a:rPr>
              <a:t>lines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50">
              <a:latin typeface="Arial"/>
              <a:cs typeface="Arial"/>
            </a:endParaRPr>
          </a:p>
          <a:p>
            <a:pPr marL="101600">
              <a:lnSpc>
                <a:spcPts val="3404"/>
              </a:lnSpc>
              <a:tabLst>
                <a:tab pos="610235" algn="l"/>
              </a:tabLst>
            </a:pPr>
            <a:r>
              <a:rPr sz="3975" spc="120" baseline="6289" dirty="0">
                <a:solidFill>
                  <a:srgbClr val="FF6A34"/>
                </a:solidFill>
                <a:latin typeface="Segoe UI Symbol"/>
                <a:cs typeface="Segoe UI Symbol"/>
              </a:rPr>
              <a:t>❌</a:t>
            </a:r>
            <a:r>
              <a:rPr sz="3975" baseline="6289" dirty="0">
                <a:solidFill>
                  <a:srgbClr val="FF6A34"/>
                </a:solidFill>
                <a:latin typeface="Segoe UI Symbol"/>
                <a:cs typeface="Segoe UI Symbol"/>
              </a:rPr>
              <a:t>	</a:t>
            </a:r>
            <a:r>
              <a:rPr sz="2950" b="1" spc="-145" dirty="0">
                <a:solidFill>
                  <a:srgbClr val="FFFFFF"/>
                </a:solidFill>
                <a:latin typeface="Arial"/>
                <a:cs typeface="Arial"/>
              </a:rPr>
              <a:t>Crash</a:t>
            </a:r>
            <a:r>
              <a:rPr sz="29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Penalty</a:t>
            </a:r>
            <a:endParaRPr sz="2950">
              <a:latin typeface="Arial"/>
              <a:cs typeface="Arial"/>
            </a:endParaRPr>
          </a:p>
          <a:p>
            <a:pPr marL="610235">
              <a:lnSpc>
                <a:spcPts val="2270"/>
              </a:lnSpc>
            </a:pP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Penalty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hitting</a:t>
            </a:r>
            <a:r>
              <a:rPr sz="20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boundaries</a:t>
            </a:r>
            <a:endParaRPr sz="2000">
              <a:latin typeface="Microsoft Sans Serif"/>
              <a:cs typeface="Microsoft Sans Serif"/>
            </a:endParaRPr>
          </a:p>
          <a:p>
            <a:pPr marL="610235">
              <a:lnSpc>
                <a:spcPct val="100000"/>
              </a:lnSpc>
              <a:spcBef>
                <a:spcPts val="150"/>
              </a:spcBef>
            </a:pP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Higher 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penalty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i="1" spc="65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50" i="1" spc="-65" dirty="0">
                <a:solidFill>
                  <a:srgbClr val="FF6A34"/>
                </a:solidFill>
                <a:latin typeface="Arial"/>
                <a:cs typeface="Arial"/>
              </a:rPr>
              <a:t>More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65" dirty="0">
                <a:solidFill>
                  <a:srgbClr val="FF6A34"/>
                </a:solidFill>
                <a:latin typeface="Arial"/>
                <a:cs typeface="Arial"/>
              </a:rPr>
              <a:t>cautious</a:t>
            </a:r>
            <a:r>
              <a:rPr sz="2150" i="1" spc="-65" dirty="0">
                <a:solidFill>
                  <a:srgbClr val="FF6A34"/>
                </a:solidFill>
                <a:latin typeface="Arial"/>
                <a:cs typeface="Arial"/>
              </a:rPr>
              <a:t>,</a:t>
            </a:r>
            <a:r>
              <a:rPr sz="2150" i="1" spc="-9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conservative</a:t>
            </a:r>
            <a:r>
              <a:rPr sz="2050" i="1" spc="-5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FF6A34"/>
                </a:solidFill>
                <a:latin typeface="Arial"/>
                <a:cs typeface="Arial"/>
              </a:rPr>
              <a:t>driving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850">
              <a:latin typeface="Arial"/>
              <a:cs typeface="Arial"/>
            </a:endParaRPr>
          </a:p>
          <a:p>
            <a:pPr marL="101600">
              <a:lnSpc>
                <a:spcPts val="3404"/>
              </a:lnSpc>
              <a:tabLst>
                <a:tab pos="610235" algn="l"/>
              </a:tabLst>
            </a:pPr>
            <a:r>
              <a:rPr sz="3975" spc="120" baseline="6289" dirty="0">
                <a:solidFill>
                  <a:srgbClr val="38FF13"/>
                </a:solidFill>
                <a:latin typeface="Segoe UI Symbol"/>
                <a:cs typeface="Segoe UI Symbol"/>
              </a:rPr>
              <a:t>📊</a:t>
            </a:r>
            <a:r>
              <a:rPr sz="3975" baseline="6289" dirty="0">
                <a:solidFill>
                  <a:srgbClr val="38FF13"/>
                </a:solidFill>
                <a:latin typeface="Segoe UI Symbol"/>
                <a:cs typeface="Segoe UI Symbol"/>
              </a:rPr>
              <a:t>	</a:t>
            </a:r>
            <a:r>
              <a:rPr sz="2950" b="1" spc="-150" dirty="0">
                <a:solidFill>
                  <a:srgbClr val="FFFFFF"/>
                </a:solidFill>
                <a:latin typeface="Arial"/>
                <a:cs typeface="Arial"/>
              </a:rPr>
              <a:t>Smoothness</a:t>
            </a:r>
            <a:r>
              <a:rPr sz="295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Reward</a:t>
            </a:r>
            <a:endParaRPr sz="2950">
              <a:latin typeface="Arial"/>
              <a:cs typeface="Arial"/>
            </a:endParaRPr>
          </a:p>
          <a:p>
            <a:pPr marL="610235">
              <a:lnSpc>
                <a:spcPts val="2270"/>
              </a:lnSpc>
            </a:pPr>
            <a:r>
              <a:rPr sz="2000" spc="-9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steady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steering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acceleration</a:t>
            </a:r>
            <a:endParaRPr sz="2000">
              <a:latin typeface="Microsoft Sans Serif"/>
              <a:cs typeface="Microsoft Sans Serif"/>
            </a:endParaRPr>
          </a:p>
          <a:p>
            <a:pPr marL="610235">
              <a:lnSpc>
                <a:spcPct val="100000"/>
              </a:lnSpc>
              <a:spcBef>
                <a:spcPts val="150"/>
              </a:spcBef>
            </a:pPr>
            <a:r>
              <a:rPr sz="2050" i="1" spc="-70" dirty="0">
                <a:solidFill>
                  <a:srgbClr val="FF6A34"/>
                </a:solidFill>
                <a:latin typeface="Arial"/>
                <a:cs typeface="Arial"/>
              </a:rPr>
              <a:t>Higher</a:t>
            </a:r>
            <a:r>
              <a:rPr sz="2050" i="1" spc="-65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FF6A34"/>
                </a:solidFill>
                <a:latin typeface="Arial"/>
                <a:cs typeface="Arial"/>
              </a:rPr>
              <a:t>weight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6A34"/>
                </a:solidFill>
                <a:latin typeface="Times New Roman"/>
                <a:cs typeface="Times New Roman"/>
              </a:rPr>
              <a:t>→</a:t>
            </a:r>
            <a:r>
              <a:rPr sz="1800" i="1" spc="70" dirty="0">
                <a:solidFill>
                  <a:srgbClr val="FF6A34"/>
                </a:solidFill>
                <a:latin typeface="Times New Roman"/>
                <a:cs typeface="Times New Roman"/>
              </a:rPr>
              <a:t> </a:t>
            </a:r>
            <a:r>
              <a:rPr sz="2050" i="1" spc="-100" dirty="0">
                <a:solidFill>
                  <a:srgbClr val="FF6A34"/>
                </a:solidFill>
                <a:latin typeface="Arial"/>
                <a:cs typeface="Arial"/>
              </a:rPr>
              <a:t>Less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jerky</a:t>
            </a:r>
            <a:r>
              <a:rPr sz="2150" i="1" spc="-60" dirty="0">
                <a:solidFill>
                  <a:srgbClr val="FF6A34"/>
                </a:solidFill>
                <a:latin typeface="Arial"/>
                <a:cs typeface="Arial"/>
              </a:rPr>
              <a:t>,</a:t>
            </a:r>
            <a:r>
              <a:rPr sz="2150" i="1" spc="-8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FF6A34"/>
                </a:solidFill>
                <a:latin typeface="Arial"/>
                <a:cs typeface="Arial"/>
              </a:rPr>
              <a:t>more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FF6A34"/>
                </a:solidFill>
                <a:latin typeface="Arial"/>
                <a:cs typeface="Arial"/>
              </a:rPr>
              <a:t>stable</a:t>
            </a:r>
            <a:r>
              <a:rPr sz="2050" i="1" spc="-50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FF6A34"/>
                </a:solidFill>
                <a:latin typeface="Arial"/>
                <a:cs typeface="Arial"/>
              </a:rPr>
              <a:t>control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8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500" b="1" spc="-95" dirty="0">
                <a:solidFill>
                  <a:srgbClr val="38FF13"/>
                </a:solidFill>
                <a:latin typeface="Arial"/>
                <a:cs typeface="Arial"/>
              </a:rPr>
              <a:t>The</a:t>
            </a:r>
            <a:r>
              <a:rPr sz="2500" b="1" spc="-11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30" dirty="0">
                <a:solidFill>
                  <a:srgbClr val="38FF13"/>
                </a:solidFill>
                <a:latin typeface="Arial"/>
                <a:cs typeface="Arial"/>
              </a:rPr>
              <a:t>Art</a:t>
            </a:r>
            <a:r>
              <a:rPr sz="2600" spc="-30" dirty="0">
                <a:solidFill>
                  <a:srgbClr val="38FF13"/>
                </a:solidFill>
                <a:latin typeface="Segoe UI Symbol"/>
                <a:cs typeface="Segoe UI Symbol"/>
              </a:rPr>
              <a:t>:</a:t>
            </a:r>
            <a:r>
              <a:rPr sz="2600" spc="-125" dirty="0">
                <a:solidFill>
                  <a:srgbClr val="38FF13"/>
                </a:solidFill>
                <a:latin typeface="Segoe UI Symbol"/>
                <a:cs typeface="Segoe UI Symbol"/>
              </a:rPr>
              <a:t> </a:t>
            </a:r>
            <a:r>
              <a:rPr sz="2500" b="1" spc="-140" dirty="0">
                <a:solidFill>
                  <a:srgbClr val="38FF13"/>
                </a:solidFill>
                <a:latin typeface="Arial"/>
                <a:cs typeface="Arial"/>
              </a:rPr>
              <a:t>Balancing</a:t>
            </a:r>
            <a:r>
              <a:rPr sz="2500" b="1" spc="-11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125" dirty="0">
                <a:solidFill>
                  <a:srgbClr val="38FF13"/>
                </a:solidFill>
                <a:latin typeface="Arial"/>
                <a:cs typeface="Arial"/>
              </a:rPr>
              <a:t>speed</a:t>
            </a:r>
            <a:r>
              <a:rPr sz="2500" b="1" spc="-10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35" dirty="0">
                <a:solidFill>
                  <a:srgbClr val="38FF13"/>
                </a:solidFill>
                <a:latin typeface="Arial"/>
                <a:cs typeface="Arial"/>
              </a:rPr>
              <a:t>vs</a:t>
            </a:r>
            <a:r>
              <a:rPr sz="2600" spc="-35" dirty="0">
                <a:solidFill>
                  <a:srgbClr val="38FF13"/>
                </a:solidFill>
                <a:latin typeface="Segoe UI Symbol"/>
                <a:cs typeface="Segoe UI Symbol"/>
              </a:rPr>
              <a:t>.</a:t>
            </a:r>
            <a:r>
              <a:rPr sz="2600" spc="-175" dirty="0">
                <a:solidFill>
                  <a:srgbClr val="38FF13"/>
                </a:solidFill>
                <a:latin typeface="Segoe UI Symbol"/>
                <a:cs typeface="Segoe UI Symbol"/>
              </a:rPr>
              <a:t> </a:t>
            </a:r>
            <a:r>
              <a:rPr sz="2500" b="1" spc="-80" dirty="0">
                <a:solidFill>
                  <a:srgbClr val="38FF13"/>
                </a:solidFill>
                <a:latin typeface="Arial"/>
                <a:cs typeface="Arial"/>
              </a:rPr>
              <a:t>safety</a:t>
            </a:r>
            <a:r>
              <a:rPr sz="2500" b="1" spc="-10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135" dirty="0">
                <a:solidFill>
                  <a:srgbClr val="38FF13"/>
                </a:solidFill>
                <a:latin typeface="Arial"/>
                <a:cs typeface="Arial"/>
              </a:rPr>
              <a:t>through</a:t>
            </a:r>
            <a:r>
              <a:rPr sz="2500" b="1" spc="-110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114" dirty="0">
                <a:solidFill>
                  <a:srgbClr val="38FF13"/>
                </a:solidFill>
                <a:latin typeface="Arial"/>
                <a:cs typeface="Arial"/>
              </a:rPr>
              <a:t>reward</a:t>
            </a:r>
            <a:r>
              <a:rPr sz="2500" b="1" spc="-105" dirty="0">
                <a:solidFill>
                  <a:srgbClr val="38FF13"/>
                </a:solidFill>
                <a:latin typeface="Arial"/>
                <a:cs typeface="Arial"/>
              </a:rPr>
              <a:t> </a:t>
            </a:r>
            <a:r>
              <a:rPr sz="2500" b="1" spc="-50" dirty="0">
                <a:solidFill>
                  <a:srgbClr val="38FF13"/>
                </a:solidFill>
                <a:latin typeface="Arial"/>
                <a:cs typeface="Arial"/>
              </a:rPr>
              <a:t>weights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72600" y="1181100"/>
            <a:ext cx="8458200" cy="8572500"/>
            <a:chOff x="9372600" y="1181100"/>
            <a:chExt cx="8458200" cy="8572500"/>
          </a:xfrm>
        </p:grpSpPr>
        <p:sp>
          <p:nvSpPr>
            <p:cNvPr id="8" name="object 8"/>
            <p:cNvSpPr/>
            <p:nvPr/>
          </p:nvSpPr>
          <p:spPr>
            <a:xfrm>
              <a:off x="9382125" y="1190625"/>
              <a:ext cx="8439150" cy="8553450"/>
            </a:xfrm>
            <a:custGeom>
              <a:avLst/>
              <a:gdLst/>
              <a:ahLst/>
              <a:cxnLst/>
              <a:rect l="l" t="t" r="r" b="b"/>
              <a:pathLst>
                <a:path w="8439150" h="8553450">
                  <a:moveTo>
                    <a:pt x="8376852" y="8553449"/>
                  </a:moveTo>
                  <a:lnTo>
                    <a:pt x="62297" y="8553449"/>
                  </a:lnTo>
                  <a:lnTo>
                    <a:pt x="57960" y="8553022"/>
                  </a:lnTo>
                  <a:lnTo>
                    <a:pt x="22623" y="8537016"/>
                  </a:lnTo>
                  <a:lnTo>
                    <a:pt x="2134" y="8504075"/>
                  </a:lnTo>
                  <a:lnTo>
                    <a:pt x="0" y="8491152"/>
                  </a:lnTo>
                  <a:lnTo>
                    <a:pt x="0" y="84867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2" y="3399"/>
                  </a:lnTo>
                  <a:lnTo>
                    <a:pt x="62297" y="0"/>
                  </a:lnTo>
                  <a:lnTo>
                    <a:pt x="8376852" y="0"/>
                  </a:lnTo>
                  <a:lnTo>
                    <a:pt x="8413154" y="13668"/>
                  </a:lnTo>
                  <a:lnTo>
                    <a:pt x="8435747" y="45204"/>
                  </a:lnTo>
                  <a:lnTo>
                    <a:pt x="8439150" y="62297"/>
                  </a:lnTo>
                  <a:lnTo>
                    <a:pt x="8439150" y="8491152"/>
                  </a:lnTo>
                  <a:lnTo>
                    <a:pt x="8425477" y="8527456"/>
                  </a:lnTo>
                  <a:lnTo>
                    <a:pt x="8393942" y="8550049"/>
                  </a:lnTo>
                  <a:lnTo>
                    <a:pt x="8381187" y="8553022"/>
                  </a:lnTo>
                  <a:lnTo>
                    <a:pt x="8376852" y="85534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82125" y="1190625"/>
              <a:ext cx="8439150" cy="8553450"/>
            </a:xfrm>
            <a:custGeom>
              <a:avLst/>
              <a:gdLst/>
              <a:ahLst/>
              <a:cxnLst/>
              <a:rect l="l" t="t" r="r" b="b"/>
              <a:pathLst>
                <a:path w="8439150" h="8553450">
                  <a:moveTo>
                    <a:pt x="0" y="84867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8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0" y="13668"/>
                  </a:lnTo>
                  <a:lnTo>
                    <a:pt x="29631" y="11236"/>
                  </a:lnTo>
                  <a:lnTo>
                    <a:pt x="33270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2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372475" y="0"/>
                  </a:lnTo>
                  <a:lnTo>
                    <a:pt x="8376852" y="0"/>
                  </a:lnTo>
                  <a:lnTo>
                    <a:pt x="8381187" y="427"/>
                  </a:lnTo>
                  <a:lnTo>
                    <a:pt x="8385480" y="1281"/>
                  </a:lnTo>
                  <a:lnTo>
                    <a:pt x="8389774" y="2135"/>
                  </a:lnTo>
                  <a:lnTo>
                    <a:pt x="8409513" y="11236"/>
                  </a:lnTo>
                  <a:lnTo>
                    <a:pt x="8413154" y="13668"/>
                  </a:lnTo>
                  <a:lnTo>
                    <a:pt x="8434072" y="41159"/>
                  </a:lnTo>
                  <a:lnTo>
                    <a:pt x="8435747" y="45204"/>
                  </a:lnTo>
                  <a:lnTo>
                    <a:pt x="8437012" y="49373"/>
                  </a:lnTo>
                  <a:lnTo>
                    <a:pt x="8437867" y="53667"/>
                  </a:lnTo>
                  <a:lnTo>
                    <a:pt x="8438722" y="57961"/>
                  </a:lnTo>
                  <a:lnTo>
                    <a:pt x="8439150" y="62297"/>
                  </a:lnTo>
                  <a:lnTo>
                    <a:pt x="8439150" y="66675"/>
                  </a:lnTo>
                  <a:lnTo>
                    <a:pt x="8439150" y="8486775"/>
                  </a:lnTo>
                  <a:lnTo>
                    <a:pt x="8439150" y="8491152"/>
                  </a:lnTo>
                  <a:lnTo>
                    <a:pt x="8438722" y="8495488"/>
                  </a:lnTo>
                  <a:lnTo>
                    <a:pt x="8422713" y="8530825"/>
                  </a:lnTo>
                  <a:lnTo>
                    <a:pt x="8397987" y="8548373"/>
                  </a:lnTo>
                  <a:lnTo>
                    <a:pt x="8393942" y="8550049"/>
                  </a:lnTo>
                  <a:lnTo>
                    <a:pt x="8389774" y="8551314"/>
                  </a:lnTo>
                  <a:lnTo>
                    <a:pt x="8385480" y="8552167"/>
                  </a:lnTo>
                  <a:lnTo>
                    <a:pt x="8381187" y="8553022"/>
                  </a:lnTo>
                  <a:lnTo>
                    <a:pt x="8376852" y="8553449"/>
                  </a:lnTo>
                  <a:lnTo>
                    <a:pt x="8372475" y="8553450"/>
                  </a:lnTo>
                  <a:lnTo>
                    <a:pt x="66675" y="8553450"/>
                  </a:lnTo>
                  <a:lnTo>
                    <a:pt x="62297" y="8553449"/>
                  </a:lnTo>
                  <a:lnTo>
                    <a:pt x="57960" y="8553022"/>
                  </a:lnTo>
                  <a:lnTo>
                    <a:pt x="53665" y="8552167"/>
                  </a:lnTo>
                  <a:lnTo>
                    <a:pt x="49372" y="8551314"/>
                  </a:lnTo>
                  <a:lnTo>
                    <a:pt x="45202" y="8550049"/>
                  </a:lnTo>
                  <a:lnTo>
                    <a:pt x="41158" y="8548373"/>
                  </a:lnTo>
                  <a:lnTo>
                    <a:pt x="37113" y="8546697"/>
                  </a:lnTo>
                  <a:lnTo>
                    <a:pt x="33271" y="8544643"/>
                  </a:lnTo>
                  <a:lnTo>
                    <a:pt x="29631" y="8542211"/>
                  </a:lnTo>
                  <a:lnTo>
                    <a:pt x="25991" y="8539779"/>
                  </a:lnTo>
                  <a:lnTo>
                    <a:pt x="22623" y="8537016"/>
                  </a:lnTo>
                  <a:lnTo>
                    <a:pt x="19528" y="8533920"/>
                  </a:lnTo>
                  <a:lnTo>
                    <a:pt x="16432" y="8530825"/>
                  </a:lnTo>
                  <a:lnTo>
                    <a:pt x="5074" y="8512289"/>
                  </a:lnTo>
                  <a:lnTo>
                    <a:pt x="3399" y="8508244"/>
                  </a:lnTo>
                  <a:lnTo>
                    <a:pt x="2134" y="8504075"/>
                  </a:lnTo>
                  <a:lnTo>
                    <a:pt x="1281" y="8499782"/>
                  </a:lnTo>
                  <a:lnTo>
                    <a:pt x="426" y="8495488"/>
                  </a:lnTo>
                  <a:lnTo>
                    <a:pt x="0" y="8491152"/>
                  </a:lnTo>
                  <a:lnTo>
                    <a:pt x="0" y="8486775"/>
                  </a:lnTo>
                  <a:close/>
                </a:path>
              </a:pathLst>
            </a:custGeom>
            <a:ln w="19050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20237" y="2038349"/>
              <a:ext cx="7962900" cy="3886200"/>
            </a:xfrm>
            <a:custGeom>
              <a:avLst/>
              <a:gdLst/>
              <a:ahLst/>
              <a:cxnLst/>
              <a:rect l="l" t="t" r="r" b="b"/>
              <a:pathLst>
                <a:path w="7962900" h="3886200">
                  <a:moveTo>
                    <a:pt x="7962900" y="2128609"/>
                  </a:moveTo>
                  <a:lnTo>
                    <a:pt x="7947279" y="2087105"/>
                  </a:lnTo>
                  <a:lnTo>
                    <a:pt x="7911236" y="2061286"/>
                  </a:lnTo>
                  <a:lnTo>
                    <a:pt x="7891704" y="2057400"/>
                  </a:lnTo>
                  <a:lnTo>
                    <a:pt x="71208" y="2057400"/>
                  </a:lnTo>
                  <a:lnTo>
                    <a:pt x="29705" y="2073033"/>
                  </a:lnTo>
                  <a:lnTo>
                    <a:pt x="3886" y="2109063"/>
                  </a:lnTo>
                  <a:lnTo>
                    <a:pt x="0" y="2128609"/>
                  </a:lnTo>
                  <a:lnTo>
                    <a:pt x="12" y="3810000"/>
                  </a:lnTo>
                  <a:lnTo>
                    <a:pt x="0" y="3815003"/>
                  </a:lnTo>
                  <a:lnTo>
                    <a:pt x="15621" y="3856494"/>
                  </a:lnTo>
                  <a:lnTo>
                    <a:pt x="51663" y="3882313"/>
                  </a:lnTo>
                  <a:lnTo>
                    <a:pt x="71208" y="3886200"/>
                  </a:lnTo>
                  <a:lnTo>
                    <a:pt x="7891704" y="3886200"/>
                  </a:lnTo>
                  <a:lnTo>
                    <a:pt x="7933195" y="3870579"/>
                  </a:lnTo>
                  <a:lnTo>
                    <a:pt x="7959014" y="3834549"/>
                  </a:lnTo>
                  <a:lnTo>
                    <a:pt x="7962900" y="3815003"/>
                  </a:lnTo>
                  <a:lnTo>
                    <a:pt x="7962900" y="2128609"/>
                  </a:lnTo>
                  <a:close/>
                </a:path>
                <a:path w="7962900" h="3886200">
                  <a:moveTo>
                    <a:pt x="7962900" y="71208"/>
                  </a:moveTo>
                  <a:lnTo>
                    <a:pt x="7947279" y="29705"/>
                  </a:lnTo>
                  <a:lnTo>
                    <a:pt x="7911236" y="3886"/>
                  </a:lnTo>
                  <a:lnTo>
                    <a:pt x="7891704" y="0"/>
                  </a:lnTo>
                  <a:lnTo>
                    <a:pt x="71208" y="0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12" y="1752600"/>
                  </a:lnTo>
                  <a:lnTo>
                    <a:pt x="0" y="1757603"/>
                  </a:lnTo>
                  <a:lnTo>
                    <a:pt x="15621" y="1799094"/>
                  </a:lnTo>
                  <a:lnTo>
                    <a:pt x="51663" y="1824913"/>
                  </a:lnTo>
                  <a:lnTo>
                    <a:pt x="71208" y="1828800"/>
                  </a:lnTo>
                  <a:lnTo>
                    <a:pt x="7891704" y="1828800"/>
                  </a:lnTo>
                  <a:lnTo>
                    <a:pt x="7933195" y="1813179"/>
                  </a:lnTo>
                  <a:lnTo>
                    <a:pt x="7959014" y="1777149"/>
                  </a:lnTo>
                  <a:lnTo>
                    <a:pt x="7962900" y="1757603"/>
                  </a:lnTo>
                  <a:lnTo>
                    <a:pt x="7962900" y="71208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759950" y="1333896"/>
            <a:ext cx="7571105" cy="5074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20"/>
              </a:spcBef>
            </a:pPr>
            <a:r>
              <a:rPr sz="3100" b="1" spc="-225" dirty="0">
                <a:solidFill>
                  <a:srgbClr val="FF6A34"/>
                </a:solidFill>
                <a:latin typeface="Arial"/>
                <a:cs typeface="Arial"/>
              </a:rPr>
              <a:t>[</a:t>
            </a:r>
            <a:r>
              <a:rPr sz="2950" b="1" spc="-225" dirty="0">
                <a:solidFill>
                  <a:srgbClr val="FF6A34"/>
                </a:solidFill>
                <a:latin typeface="Arial"/>
                <a:cs typeface="Arial"/>
              </a:rPr>
              <a:t>BEFORE</a:t>
            </a:r>
            <a:r>
              <a:rPr sz="3100" b="1" spc="-225" dirty="0">
                <a:solidFill>
                  <a:srgbClr val="FF6A34"/>
                </a:solidFill>
                <a:latin typeface="Arial"/>
                <a:cs typeface="Arial"/>
              </a:rPr>
              <a:t>/</a:t>
            </a:r>
            <a:r>
              <a:rPr sz="2950" b="1" spc="-225" dirty="0">
                <a:solidFill>
                  <a:srgbClr val="FF6A34"/>
                </a:solidFill>
                <a:latin typeface="Arial"/>
                <a:cs typeface="Arial"/>
              </a:rPr>
              <a:t>AFTER</a:t>
            </a:r>
            <a:r>
              <a:rPr sz="2950" b="1" spc="-114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950" b="1" spc="-190" dirty="0">
                <a:solidFill>
                  <a:srgbClr val="FF6A34"/>
                </a:solidFill>
                <a:latin typeface="Arial"/>
                <a:cs typeface="Arial"/>
              </a:rPr>
              <a:t>EXAMPLES</a:t>
            </a:r>
            <a:r>
              <a:rPr sz="2950" b="1" spc="-114" dirty="0">
                <a:solidFill>
                  <a:srgbClr val="FF6A34"/>
                </a:solidFill>
                <a:latin typeface="Arial"/>
                <a:cs typeface="Arial"/>
              </a:rPr>
              <a:t> </a:t>
            </a:r>
            <a:r>
              <a:rPr sz="2950" b="1" spc="-180" dirty="0">
                <a:solidFill>
                  <a:srgbClr val="FF6A34"/>
                </a:solidFill>
                <a:latin typeface="Arial"/>
                <a:cs typeface="Arial"/>
              </a:rPr>
              <a:t>PLACEHOLDER</a:t>
            </a:r>
            <a:r>
              <a:rPr sz="3100" b="1" spc="-180" dirty="0">
                <a:solidFill>
                  <a:srgbClr val="FF6A34"/>
                </a:solidFill>
                <a:latin typeface="Arial"/>
                <a:cs typeface="Arial"/>
              </a:rPr>
              <a:t>]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80"/>
              </a:spcBef>
            </a:pPr>
            <a:r>
              <a:rPr sz="2500" b="1" spc="-14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2600" b="1" spc="-140" dirty="0">
                <a:solidFill>
                  <a:srgbClr val="FFFFFF"/>
                </a:solidFill>
                <a:latin typeface="Berlin Sans FB"/>
                <a:cs typeface="Berlin Sans FB"/>
              </a:rPr>
              <a:t>-</a:t>
            </a:r>
            <a:r>
              <a:rPr sz="2500" b="1" spc="-120" dirty="0">
                <a:solidFill>
                  <a:srgbClr val="FFFFFF"/>
                </a:solidFill>
                <a:latin typeface="Arial"/>
                <a:cs typeface="Arial"/>
              </a:rPr>
              <a:t>Optimized</a:t>
            </a:r>
            <a:r>
              <a:rPr sz="25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Rewards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15"/>
              </a:spcBef>
              <a:tabLst>
                <a:tab pos="2070100" algn="l"/>
                <a:tab pos="2207260" algn="l"/>
                <a:tab pos="3304540" algn="l"/>
                <a:tab pos="3441700" algn="l"/>
                <a:tab pos="4402455" algn="l"/>
                <a:tab pos="4539615" algn="l"/>
                <a:tab pos="5088255" algn="l"/>
                <a:tab pos="5225415" algn="l"/>
                <a:tab pos="6048375" algn="l"/>
                <a:tab pos="6185535" algn="l"/>
                <a:tab pos="7008495" algn="l"/>
                <a:tab pos="7145655" algn="l"/>
              </a:tabLst>
            </a:pPr>
            <a:r>
              <a:rPr sz="1800" dirty="0">
                <a:solidFill>
                  <a:srgbClr val="FF6A34"/>
                </a:solidFill>
                <a:latin typeface="Courier New"/>
                <a:cs typeface="Courier New"/>
              </a:rPr>
              <a:t>Before: 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Forward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progress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weight: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0" dirty="0">
                <a:solidFill>
                  <a:srgbClr val="D0D5DA"/>
                </a:solidFill>
                <a:latin typeface="Courier New"/>
                <a:cs typeface="Courier New"/>
              </a:rPr>
              <a:t>1.0,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Center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bonus: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D0D5DA"/>
                </a:solidFill>
                <a:latin typeface="Courier New"/>
                <a:cs typeface="Courier New"/>
              </a:rPr>
              <a:t>0.5 </a:t>
            </a:r>
            <a:r>
              <a:rPr sz="1800" dirty="0">
                <a:solidFill>
                  <a:srgbClr val="38FF13"/>
                </a:solidFill>
                <a:latin typeface="Courier New"/>
                <a:cs typeface="Courier New"/>
              </a:rPr>
              <a:t>After: 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Forward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progress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weight: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0" dirty="0">
                <a:solidFill>
                  <a:srgbClr val="D0D5DA"/>
                </a:solidFill>
                <a:latin typeface="Courier New"/>
                <a:cs typeface="Courier New"/>
              </a:rPr>
              <a:t>2.0,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Center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bonus: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D0D5DA"/>
                </a:solidFill>
                <a:latin typeface="Courier New"/>
                <a:cs typeface="Courier New"/>
              </a:rPr>
              <a:t>0.2 </a:t>
            </a:r>
            <a:r>
              <a:rPr sz="2050" i="1" spc="-100" dirty="0">
                <a:solidFill>
                  <a:srgbClr val="00BEFF"/>
                </a:solidFill>
                <a:latin typeface="Arial"/>
                <a:cs typeface="Arial"/>
              </a:rPr>
              <a:t>Result</a:t>
            </a:r>
            <a:r>
              <a:rPr sz="2150" i="1" spc="-100" dirty="0">
                <a:solidFill>
                  <a:srgbClr val="00BEFF"/>
                </a:solidFill>
                <a:latin typeface="Rockwell"/>
                <a:cs typeface="Rockwell"/>
              </a:rPr>
              <a:t>:</a:t>
            </a:r>
            <a:r>
              <a:rPr sz="2150" i="1" spc="-35" dirty="0">
                <a:solidFill>
                  <a:srgbClr val="00BEFF"/>
                </a:solidFill>
                <a:latin typeface="Rockwell"/>
                <a:cs typeface="Rockwell"/>
              </a:rPr>
              <a:t> </a:t>
            </a:r>
            <a:r>
              <a:rPr sz="2050" i="1" spc="-114" dirty="0">
                <a:solidFill>
                  <a:srgbClr val="00BEFF"/>
                </a:solidFill>
                <a:latin typeface="Arial"/>
                <a:cs typeface="Arial"/>
              </a:rPr>
              <a:t>Car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75" dirty="0">
                <a:solidFill>
                  <a:srgbClr val="00BEFF"/>
                </a:solidFill>
                <a:latin typeface="Arial"/>
                <a:cs typeface="Arial"/>
              </a:rPr>
              <a:t>takes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00BEFF"/>
                </a:solidFill>
                <a:latin typeface="Arial"/>
                <a:cs typeface="Arial"/>
              </a:rPr>
              <a:t>riskier</a:t>
            </a:r>
            <a:r>
              <a:rPr sz="2050" i="1" spc="-10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lines</a:t>
            </a:r>
            <a:r>
              <a:rPr sz="2050" i="1" spc="-7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BEFF"/>
                </a:solidFill>
                <a:latin typeface="Arial"/>
                <a:cs typeface="Arial"/>
              </a:rPr>
              <a:t>but</a:t>
            </a:r>
            <a:r>
              <a:rPr sz="2050" i="1" spc="-75" dirty="0">
                <a:solidFill>
                  <a:srgbClr val="00BEFF"/>
                </a:solidFill>
                <a:latin typeface="Arial"/>
                <a:cs typeface="Arial"/>
              </a:rPr>
              <a:t> achieves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00BEFF"/>
                </a:solidFill>
                <a:latin typeface="Arial"/>
                <a:cs typeface="Arial"/>
              </a:rPr>
              <a:t>faster</a:t>
            </a:r>
            <a:r>
              <a:rPr sz="2050" i="1" spc="-7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65" dirty="0">
                <a:solidFill>
                  <a:srgbClr val="00BEFF"/>
                </a:solidFill>
                <a:latin typeface="Arial"/>
                <a:cs typeface="Arial"/>
              </a:rPr>
              <a:t>lap</a:t>
            </a:r>
            <a:r>
              <a:rPr sz="2050" i="1" spc="-75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BEFF"/>
                </a:solidFill>
                <a:latin typeface="Arial"/>
                <a:cs typeface="Arial"/>
              </a:rPr>
              <a:t>times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sz="2600" b="1" spc="-110" dirty="0">
                <a:solidFill>
                  <a:srgbClr val="FFFFFF"/>
                </a:solidFill>
                <a:latin typeface="Berlin Sans FB"/>
                <a:cs typeface="Berlin Sans FB"/>
              </a:rPr>
              <a:t>-</a:t>
            </a:r>
            <a:r>
              <a:rPr sz="2500" b="1" spc="-120" dirty="0">
                <a:solidFill>
                  <a:srgbClr val="FFFFFF"/>
                </a:solidFill>
                <a:latin typeface="Arial"/>
                <a:cs typeface="Arial"/>
              </a:rPr>
              <a:t>Optimized</a:t>
            </a:r>
            <a:r>
              <a:rPr sz="25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Arial"/>
                <a:cs typeface="Arial"/>
              </a:rPr>
              <a:t>Rewards</a:t>
            </a:r>
            <a:endParaRPr sz="2500">
              <a:latin typeface="Arial"/>
              <a:cs typeface="Arial"/>
            </a:endParaRPr>
          </a:p>
          <a:p>
            <a:pPr marL="12700" marR="1376680">
              <a:lnSpc>
                <a:spcPts val="3000"/>
              </a:lnSpc>
              <a:spcBef>
                <a:spcPts val="155"/>
              </a:spcBef>
              <a:tabLst>
                <a:tab pos="1795780" algn="l"/>
                <a:tab pos="1932939" algn="l"/>
                <a:tab pos="3030220" algn="l"/>
                <a:tab pos="3167380" algn="l"/>
                <a:tab pos="3853815" algn="l"/>
                <a:tab pos="4813935" algn="l"/>
                <a:tab pos="5774055" algn="l"/>
              </a:tabLst>
            </a:pPr>
            <a:r>
              <a:rPr sz="1800" dirty="0">
                <a:solidFill>
                  <a:srgbClr val="FF6A34"/>
                </a:solidFill>
                <a:latin typeface="Courier New"/>
                <a:cs typeface="Courier New"/>
              </a:rPr>
              <a:t>Before: 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Crash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penalty: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-</a:t>
            </a:r>
            <a:r>
              <a:rPr sz="1800" spc="-25" dirty="0">
                <a:solidFill>
                  <a:srgbClr val="D0D5DA"/>
                </a:solidFill>
                <a:latin typeface="Courier New"/>
                <a:cs typeface="Courier New"/>
              </a:rPr>
              <a:t>50,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Center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bonus: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D0D5DA"/>
                </a:solidFill>
                <a:latin typeface="Courier New"/>
                <a:cs typeface="Courier New"/>
              </a:rPr>
              <a:t>0.5 </a:t>
            </a:r>
            <a:r>
              <a:rPr sz="1800" dirty="0">
                <a:solidFill>
                  <a:srgbClr val="38FF13"/>
                </a:solidFill>
                <a:latin typeface="Courier New"/>
                <a:cs typeface="Courier New"/>
              </a:rPr>
              <a:t>After: 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Crash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penalty: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-</a:t>
            </a:r>
            <a:r>
              <a:rPr sz="1800" spc="-20" dirty="0">
                <a:solidFill>
                  <a:srgbClr val="D0D5DA"/>
                </a:solidFill>
                <a:latin typeface="Courier New"/>
                <a:cs typeface="Courier New"/>
              </a:rPr>
              <a:t>100,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Center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D0D5DA"/>
                </a:solidFill>
                <a:latin typeface="Courier New"/>
                <a:cs typeface="Courier New"/>
              </a:rPr>
              <a:t>bonus:</a:t>
            </a:r>
            <a:r>
              <a:rPr sz="1800" dirty="0">
                <a:solidFill>
                  <a:srgbClr val="D0D5DA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D0D5DA"/>
                </a:solidFill>
                <a:latin typeface="Courier New"/>
                <a:cs typeface="Courier New"/>
              </a:rPr>
              <a:t>1.0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50" i="1" spc="-100" dirty="0">
                <a:solidFill>
                  <a:srgbClr val="00BEFF"/>
                </a:solidFill>
                <a:latin typeface="Arial"/>
                <a:cs typeface="Arial"/>
              </a:rPr>
              <a:t>Result</a:t>
            </a:r>
            <a:r>
              <a:rPr sz="2150" i="1" spc="-100" dirty="0">
                <a:solidFill>
                  <a:srgbClr val="00BEFF"/>
                </a:solidFill>
                <a:latin typeface="Rockwell"/>
                <a:cs typeface="Rockwell"/>
              </a:rPr>
              <a:t>:</a:t>
            </a:r>
            <a:r>
              <a:rPr sz="2150" i="1" spc="-30" dirty="0">
                <a:solidFill>
                  <a:srgbClr val="00BEFF"/>
                </a:solidFill>
                <a:latin typeface="Rockwell"/>
                <a:cs typeface="Rockwell"/>
              </a:rPr>
              <a:t> </a:t>
            </a:r>
            <a:r>
              <a:rPr sz="2050" i="1" spc="-114" dirty="0">
                <a:solidFill>
                  <a:srgbClr val="00BEFF"/>
                </a:solidFill>
                <a:latin typeface="Arial"/>
                <a:cs typeface="Arial"/>
              </a:rPr>
              <a:t>Car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00BEFF"/>
                </a:solidFill>
                <a:latin typeface="Arial"/>
                <a:cs typeface="Arial"/>
              </a:rPr>
              <a:t>drives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85" dirty="0">
                <a:solidFill>
                  <a:srgbClr val="00BEFF"/>
                </a:solidFill>
                <a:latin typeface="Arial"/>
                <a:cs typeface="Arial"/>
              </a:rPr>
              <a:t>more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0" dirty="0">
                <a:solidFill>
                  <a:srgbClr val="00BEFF"/>
                </a:solidFill>
                <a:latin typeface="Arial"/>
                <a:cs typeface="Arial"/>
              </a:rPr>
              <a:t>conservatively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BEFF"/>
                </a:solidFill>
                <a:latin typeface="Arial"/>
                <a:cs typeface="Arial"/>
              </a:rPr>
              <a:t>but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55" dirty="0">
                <a:solidFill>
                  <a:srgbClr val="00BEFF"/>
                </a:solidFill>
                <a:latin typeface="Arial"/>
                <a:cs typeface="Arial"/>
              </a:rPr>
              <a:t>completes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00BEFF"/>
                </a:solidFill>
                <a:latin typeface="Arial"/>
                <a:cs typeface="Arial"/>
              </a:rPr>
              <a:t>laps</a:t>
            </a:r>
            <a:r>
              <a:rPr sz="2050" i="1" spc="-60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BEFF"/>
                </a:solidFill>
                <a:latin typeface="Arial"/>
                <a:cs typeface="Arial"/>
              </a:rPr>
              <a:t>reliably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85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</a:pPr>
            <a:r>
              <a:rPr sz="16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Will</a:t>
            </a:r>
            <a:r>
              <a:rPr sz="1650" spc="-6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include: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Side-</a:t>
            </a:r>
            <a:r>
              <a:rPr sz="1650" dirty="0">
                <a:solidFill>
                  <a:srgbClr val="9CA2AF"/>
                </a:solidFill>
                <a:latin typeface="Microsoft Sans Serif"/>
                <a:cs typeface="Microsoft Sans Serif"/>
              </a:rPr>
              <a:t>by-</a:t>
            </a:r>
            <a:r>
              <a:rPr sz="16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side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racing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9CA2AF"/>
                </a:solidFill>
                <a:latin typeface="Microsoft Sans Serif"/>
                <a:cs typeface="Microsoft Sans Serif"/>
              </a:rPr>
              <a:t>path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comparisons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showing</a:t>
            </a:r>
            <a:r>
              <a:rPr sz="1650" spc="-6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9CA2AF"/>
                </a:solidFill>
                <a:latin typeface="Microsoft Sans Serif"/>
                <a:cs typeface="Microsoft Sans Serif"/>
              </a:rPr>
              <a:t>trajectory</a:t>
            </a:r>
            <a:r>
              <a:rPr sz="16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differences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10" dirty="0"/>
              <a:t>21</a:t>
            </a:fld>
            <a:r>
              <a:rPr spc="-10" dirty="0"/>
              <a:t>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29709"/>
            <a:ext cx="3404870" cy="1341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900"/>
              </a:lnSpc>
              <a:spcBef>
                <a:spcPts val="125"/>
              </a:spcBef>
            </a:pPr>
            <a:r>
              <a:rPr sz="5900" spc="-80" dirty="0">
                <a:solidFill>
                  <a:srgbClr val="00BEFF"/>
                </a:solidFill>
              </a:rPr>
              <a:t>Summary</a:t>
            </a:r>
            <a:endParaRPr sz="5900"/>
          </a:p>
          <a:p>
            <a:pPr marL="12700">
              <a:lnSpc>
                <a:spcPts val="3425"/>
              </a:lnSpc>
            </a:pPr>
            <a:r>
              <a:rPr sz="3000" b="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What</a:t>
            </a:r>
            <a:r>
              <a:rPr sz="3000" b="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3000" b="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We</a:t>
            </a:r>
            <a:r>
              <a:rPr sz="2950" b="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'</a:t>
            </a:r>
            <a:r>
              <a:rPr sz="3000" b="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ve</a:t>
            </a:r>
            <a:r>
              <a:rPr sz="3000" b="0" spc="-1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3000" b="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Learned</a:t>
            </a:r>
            <a:endParaRPr sz="3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1797050"/>
            <a:ext cx="8534400" cy="2803525"/>
            <a:chOff x="457200" y="1797050"/>
            <a:chExt cx="8534400" cy="2803525"/>
          </a:xfrm>
        </p:grpSpPr>
        <p:sp>
          <p:nvSpPr>
            <p:cNvPr id="4" name="object 4"/>
            <p:cNvSpPr/>
            <p:nvPr/>
          </p:nvSpPr>
          <p:spPr>
            <a:xfrm>
              <a:off x="3949700" y="180975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127000" y="50800"/>
                  </a:moveTo>
                  <a:lnTo>
                    <a:pt x="127000" y="228600"/>
                  </a:lnTo>
                </a:path>
                <a:path w="254000" h="228600">
                  <a:moveTo>
                    <a:pt x="12700" y="190500"/>
                  </a:moveTo>
                  <a:lnTo>
                    <a:pt x="966" y="182660"/>
                  </a:lnTo>
                  <a:lnTo>
                    <a:pt x="322" y="181104"/>
                  </a:lnTo>
                  <a:lnTo>
                    <a:pt x="0" y="179484"/>
                  </a:lnTo>
                  <a:lnTo>
                    <a:pt x="0" y="177800"/>
                  </a:lnTo>
                  <a:lnTo>
                    <a:pt x="0" y="12700"/>
                  </a:lnTo>
                  <a:lnTo>
                    <a:pt x="0" y="11015"/>
                  </a:lnTo>
                  <a:lnTo>
                    <a:pt x="322" y="9395"/>
                  </a:lnTo>
                  <a:lnTo>
                    <a:pt x="7839" y="966"/>
                  </a:lnTo>
                  <a:lnTo>
                    <a:pt x="9395" y="322"/>
                  </a:lnTo>
                  <a:lnTo>
                    <a:pt x="11015" y="0"/>
                  </a:lnTo>
                  <a:lnTo>
                    <a:pt x="12700" y="0"/>
                  </a:lnTo>
                  <a:lnTo>
                    <a:pt x="76200" y="0"/>
                  </a:lnTo>
                  <a:lnTo>
                    <a:pt x="79535" y="0"/>
                  </a:lnTo>
                  <a:lnTo>
                    <a:pt x="82839" y="325"/>
                  </a:lnTo>
                  <a:lnTo>
                    <a:pt x="86110" y="976"/>
                  </a:lnTo>
                  <a:lnTo>
                    <a:pt x="89382" y="1626"/>
                  </a:lnTo>
                  <a:lnTo>
                    <a:pt x="92558" y="2590"/>
                  </a:lnTo>
                  <a:lnTo>
                    <a:pt x="95640" y="3866"/>
                  </a:lnTo>
                  <a:lnTo>
                    <a:pt x="98722" y="5143"/>
                  </a:lnTo>
                  <a:lnTo>
                    <a:pt x="112121" y="14878"/>
                  </a:lnTo>
                  <a:lnTo>
                    <a:pt x="114479" y="17237"/>
                  </a:lnTo>
                  <a:lnTo>
                    <a:pt x="126023" y="40889"/>
                  </a:lnTo>
                  <a:lnTo>
                    <a:pt x="126674" y="44160"/>
                  </a:lnTo>
                  <a:lnTo>
                    <a:pt x="127000" y="47464"/>
                  </a:lnTo>
                  <a:lnTo>
                    <a:pt x="127000" y="50800"/>
                  </a:lnTo>
                  <a:lnTo>
                    <a:pt x="127000" y="47464"/>
                  </a:lnTo>
                  <a:lnTo>
                    <a:pt x="135561" y="22577"/>
                  </a:lnTo>
                  <a:lnTo>
                    <a:pt x="137414" y="19803"/>
                  </a:lnTo>
                  <a:lnTo>
                    <a:pt x="139520" y="17237"/>
                  </a:lnTo>
                  <a:lnTo>
                    <a:pt x="141879" y="14878"/>
                  </a:lnTo>
                  <a:lnTo>
                    <a:pt x="144237" y="12520"/>
                  </a:lnTo>
                  <a:lnTo>
                    <a:pt x="146803" y="10414"/>
                  </a:lnTo>
                  <a:lnTo>
                    <a:pt x="149577" y="8561"/>
                  </a:lnTo>
                  <a:lnTo>
                    <a:pt x="152350" y="6708"/>
                  </a:lnTo>
                  <a:lnTo>
                    <a:pt x="155278" y="5143"/>
                  </a:lnTo>
                  <a:lnTo>
                    <a:pt x="158359" y="3866"/>
                  </a:lnTo>
                  <a:lnTo>
                    <a:pt x="161441" y="2590"/>
                  </a:lnTo>
                  <a:lnTo>
                    <a:pt x="164617" y="1626"/>
                  </a:lnTo>
                  <a:lnTo>
                    <a:pt x="167889" y="976"/>
                  </a:lnTo>
                  <a:lnTo>
                    <a:pt x="171160" y="325"/>
                  </a:lnTo>
                  <a:lnTo>
                    <a:pt x="174464" y="0"/>
                  </a:lnTo>
                  <a:lnTo>
                    <a:pt x="177800" y="0"/>
                  </a:lnTo>
                  <a:lnTo>
                    <a:pt x="241300" y="0"/>
                  </a:lnTo>
                  <a:lnTo>
                    <a:pt x="242984" y="0"/>
                  </a:lnTo>
                  <a:lnTo>
                    <a:pt x="244604" y="322"/>
                  </a:lnTo>
                  <a:lnTo>
                    <a:pt x="246160" y="966"/>
                  </a:lnTo>
                  <a:lnTo>
                    <a:pt x="247715" y="1611"/>
                  </a:lnTo>
                  <a:lnTo>
                    <a:pt x="254000" y="12700"/>
                  </a:lnTo>
                  <a:lnTo>
                    <a:pt x="254000" y="177800"/>
                  </a:lnTo>
                  <a:lnTo>
                    <a:pt x="241300" y="190500"/>
                  </a:lnTo>
                  <a:lnTo>
                    <a:pt x="165100" y="190500"/>
                  </a:lnTo>
                  <a:lnTo>
                    <a:pt x="160047" y="190500"/>
                  </a:lnTo>
                  <a:lnTo>
                    <a:pt x="155187" y="191466"/>
                  </a:lnTo>
                  <a:lnTo>
                    <a:pt x="150519" y="193400"/>
                  </a:lnTo>
                  <a:lnTo>
                    <a:pt x="145851" y="195333"/>
                  </a:lnTo>
                  <a:lnTo>
                    <a:pt x="141731" y="198086"/>
                  </a:lnTo>
                  <a:lnTo>
                    <a:pt x="138159" y="201659"/>
                  </a:lnTo>
                  <a:lnTo>
                    <a:pt x="134586" y="205231"/>
                  </a:lnTo>
                  <a:lnTo>
                    <a:pt x="131833" y="209351"/>
                  </a:lnTo>
                  <a:lnTo>
                    <a:pt x="129900" y="214019"/>
                  </a:lnTo>
                  <a:lnTo>
                    <a:pt x="127966" y="218687"/>
                  </a:lnTo>
                  <a:lnTo>
                    <a:pt x="127000" y="223547"/>
                  </a:lnTo>
                  <a:lnTo>
                    <a:pt x="127000" y="228600"/>
                  </a:lnTo>
                  <a:lnTo>
                    <a:pt x="127000" y="223547"/>
                  </a:lnTo>
                  <a:lnTo>
                    <a:pt x="115840" y="201659"/>
                  </a:lnTo>
                  <a:lnTo>
                    <a:pt x="112268" y="198086"/>
                  </a:lnTo>
                  <a:lnTo>
                    <a:pt x="108148" y="195333"/>
                  </a:lnTo>
                  <a:lnTo>
                    <a:pt x="103480" y="193400"/>
                  </a:lnTo>
                  <a:lnTo>
                    <a:pt x="98812" y="191466"/>
                  </a:lnTo>
                  <a:lnTo>
                    <a:pt x="93952" y="190500"/>
                  </a:lnTo>
                  <a:lnTo>
                    <a:pt x="88900" y="190500"/>
                  </a:lnTo>
                  <a:lnTo>
                    <a:pt x="12700" y="190500"/>
                  </a:lnTo>
                  <a:close/>
                </a:path>
              </a:pathLst>
            </a:custGeom>
            <a:ln w="25400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249" y="2324100"/>
              <a:ext cx="8515350" cy="2276475"/>
            </a:xfrm>
            <a:custGeom>
              <a:avLst/>
              <a:gdLst/>
              <a:ahLst/>
              <a:cxnLst/>
              <a:rect l="l" t="t" r="r" b="b"/>
              <a:pathLst>
                <a:path w="8515350" h="2276475">
                  <a:moveTo>
                    <a:pt x="8444153" y="2276474"/>
                  </a:moveTo>
                  <a:lnTo>
                    <a:pt x="53397" y="2276474"/>
                  </a:lnTo>
                  <a:lnTo>
                    <a:pt x="49680" y="2275986"/>
                  </a:lnTo>
                  <a:lnTo>
                    <a:pt x="14085" y="2250618"/>
                  </a:lnTo>
                  <a:lnTo>
                    <a:pt x="366" y="2210233"/>
                  </a:lnTo>
                  <a:lnTo>
                    <a:pt x="0" y="2205278"/>
                  </a:lnTo>
                  <a:lnTo>
                    <a:pt x="0" y="2200275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2205278"/>
                  </a:lnTo>
                  <a:lnTo>
                    <a:pt x="8499727" y="2246769"/>
                  </a:lnTo>
                  <a:lnTo>
                    <a:pt x="8463687" y="2272588"/>
                  </a:lnTo>
                  <a:lnTo>
                    <a:pt x="8449108" y="2275986"/>
                  </a:lnTo>
                  <a:lnTo>
                    <a:pt x="8444153" y="2276474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2324377"/>
              <a:ext cx="70485" cy="2276475"/>
            </a:xfrm>
            <a:custGeom>
              <a:avLst/>
              <a:gdLst/>
              <a:ahLst/>
              <a:cxnLst/>
              <a:rect l="l" t="t" r="r" b="b"/>
              <a:pathLst>
                <a:path w="70484" h="2276475">
                  <a:moveTo>
                    <a:pt x="70449" y="2275919"/>
                  </a:moveTo>
                  <a:lnTo>
                    <a:pt x="33857" y="2263366"/>
                  </a:lnTo>
                  <a:lnTo>
                    <a:pt x="5800" y="2229157"/>
                  </a:lnTo>
                  <a:lnTo>
                    <a:pt x="0" y="219999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2199997"/>
                  </a:lnTo>
                  <a:lnTo>
                    <a:pt x="44514" y="2242339"/>
                  </a:lnTo>
                  <a:lnTo>
                    <a:pt x="66287" y="2274263"/>
                  </a:lnTo>
                  <a:lnTo>
                    <a:pt x="70449" y="2275919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774" y="3216275"/>
              <a:ext cx="349249" cy="349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66716" y="1697746"/>
            <a:ext cx="1001204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Key</a:t>
            </a:r>
            <a:r>
              <a:rPr sz="2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Takeaways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5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Racing</a:t>
            </a:r>
            <a:r>
              <a:rPr sz="25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Cars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Reinforcement </a:t>
            </a:r>
            <a:r>
              <a:rPr sz="2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070" y="2233293"/>
            <a:ext cx="2936875" cy="770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350" b="1" spc="-1192" baseline="-16439" dirty="0">
                <a:solidFill>
                  <a:srgbClr val="00BEFF"/>
                </a:solidFill>
                <a:latin typeface="Arial"/>
                <a:cs typeface="Arial"/>
              </a:rPr>
              <a:t>1</a:t>
            </a:r>
            <a:r>
              <a:rPr sz="7350" b="1" spc="569" baseline="-16439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35" dirty="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endParaRPr sz="3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600" y="2971097"/>
            <a:ext cx="728408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Teaching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cars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race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autonomously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45" dirty="0">
                <a:solidFill>
                  <a:srgbClr val="D0D5DA"/>
                </a:solidFill>
                <a:latin typeface="Microsoft Sans Serif"/>
                <a:cs typeface="Microsoft Sans Serif"/>
              </a:rPr>
              <a:t>complex</a:t>
            </a:r>
            <a:r>
              <a:rPr sz="1950" spc="45" dirty="0">
                <a:solidFill>
                  <a:srgbClr val="D0D5DA"/>
                </a:solidFill>
                <a:latin typeface="Microsoft Sans Serif"/>
                <a:cs typeface="Microsoft Sans Serif"/>
              </a:rPr>
              <a:t>—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requiring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balance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speed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control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adapting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physics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without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explicit programming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296400" y="2324100"/>
            <a:ext cx="8534400" cy="2276475"/>
            <a:chOff x="9296400" y="2324100"/>
            <a:chExt cx="8534400" cy="2276475"/>
          </a:xfrm>
        </p:grpSpPr>
        <p:sp>
          <p:nvSpPr>
            <p:cNvPr id="12" name="object 12"/>
            <p:cNvSpPr/>
            <p:nvPr/>
          </p:nvSpPr>
          <p:spPr>
            <a:xfrm>
              <a:off x="9315449" y="2324100"/>
              <a:ext cx="8515350" cy="2276475"/>
            </a:xfrm>
            <a:custGeom>
              <a:avLst/>
              <a:gdLst/>
              <a:ahLst/>
              <a:cxnLst/>
              <a:rect l="l" t="t" r="r" b="b"/>
              <a:pathLst>
                <a:path w="8515350" h="2276475">
                  <a:moveTo>
                    <a:pt x="8444152" y="2276474"/>
                  </a:moveTo>
                  <a:lnTo>
                    <a:pt x="53397" y="2276474"/>
                  </a:lnTo>
                  <a:lnTo>
                    <a:pt x="49680" y="2275986"/>
                  </a:lnTo>
                  <a:lnTo>
                    <a:pt x="14084" y="2250618"/>
                  </a:lnTo>
                  <a:lnTo>
                    <a:pt x="365" y="2210233"/>
                  </a:lnTo>
                  <a:lnTo>
                    <a:pt x="0" y="2205278"/>
                  </a:lnTo>
                  <a:lnTo>
                    <a:pt x="0" y="2200275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1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2205278"/>
                  </a:lnTo>
                  <a:lnTo>
                    <a:pt x="8499727" y="2246769"/>
                  </a:lnTo>
                  <a:lnTo>
                    <a:pt x="8463686" y="2272588"/>
                  </a:lnTo>
                  <a:lnTo>
                    <a:pt x="8449106" y="2275986"/>
                  </a:lnTo>
                  <a:lnTo>
                    <a:pt x="8444152" y="2276474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96400" y="2324377"/>
              <a:ext cx="70485" cy="2276475"/>
            </a:xfrm>
            <a:custGeom>
              <a:avLst/>
              <a:gdLst/>
              <a:ahLst/>
              <a:cxnLst/>
              <a:rect l="l" t="t" r="r" b="b"/>
              <a:pathLst>
                <a:path w="70484" h="2276475">
                  <a:moveTo>
                    <a:pt x="70449" y="2275919"/>
                  </a:moveTo>
                  <a:lnTo>
                    <a:pt x="33856" y="2263366"/>
                  </a:lnTo>
                  <a:lnTo>
                    <a:pt x="5799" y="2229157"/>
                  </a:lnTo>
                  <a:lnTo>
                    <a:pt x="0" y="2199997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2199997"/>
                  </a:lnTo>
                  <a:lnTo>
                    <a:pt x="44514" y="2242339"/>
                  </a:lnTo>
                  <a:lnTo>
                    <a:pt x="66286" y="2274263"/>
                  </a:lnTo>
                  <a:lnTo>
                    <a:pt x="70449" y="2275919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94626" y="3231953"/>
              <a:ext cx="318135" cy="318135"/>
            </a:xfrm>
            <a:custGeom>
              <a:avLst/>
              <a:gdLst/>
              <a:ahLst/>
              <a:cxnLst/>
              <a:rect l="l" t="t" r="r" b="b"/>
              <a:pathLst>
                <a:path w="318134" h="318135">
                  <a:moveTo>
                    <a:pt x="158972" y="47821"/>
                  </a:moveTo>
                  <a:lnTo>
                    <a:pt x="158982" y="44646"/>
                  </a:lnTo>
                  <a:lnTo>
                    <a:pt x="158677" y="41502"/>
                  </a:lnTo>
                  <a:lnTo>
                    <a:pt x="158057" y="38388"/>
                  </a:lnTo>
                  <a:lnTo>
                    <a:pt x="157438" y="35274"/>
                  </a:lnTo>
                  <a:lnTo>
                    <a:pt x="156516" y="32253"/>
                  </a:lnTo>
                  <a:lnTo>
                    <a:pt x="155292" y="29323"/>
                  </a:lnTo>
                  <a:lnTo>
                    <a:pt x="154069" y="26394"/>
                  </a:lnTo>
                  <a:lnTo>
                    <a:pt x="144721" y="13704"/>
                  </a:lnTo>
                  <a:lnTo>
                    <a:pt x="142456" y="11480"/>
                  </a:lnTo>
                  <a:lnTo>
                    <a:pt x="119803" y="812"/>
                  </a:lnTo>
                  <a:lnTo>
                    <a:pt x="116678" y="248"/>
                  </a:lnTo>
                  <a:lnTo>
                    <a:pt x="113529" y="0"/>
                  </a:lnTo>
                  <a:lnTo>
                    <a:pt x="110355" y="66"/>
                  </a:lnTo>
                  <a:lnTo>
                    <a:pt x="107181" y="132"/>
                  </a:lnTo>
                  <a:lnTo>
                    <a:pt x="72498" y="19951"/>
                  </a:lnTo>
                  <a:lnTo>
                    <a:pt x="70829" y="22652"/>
                  </a:lnTo>
                  <a:lnTo>
                    <a:pt x="69161" y="25353"/>
                  </a:lnTo>
                  <a:lnTo>
                    <a:pt x="67777" y="28192"/>
                  </a:lnTo>
                  <a:lnTo>
                    <a:pt x="66676" y="31170"/>
                  </a:lnTo>
                  <a:lnTo>
                    <a:pt x="65575" y="34148"/>
                  </a:lnTo>
                  <a:lnTo>
                    <a:pt x="64780" y="37205"/>
                  </a:lnTo>
                  <a:lnTo>
                    <a:pt x="64291" y="40342"/>
                  </a:lnTo>
                  <a:lnTo>
                    <a:pt x="63802" y="43479"/>
                  </a:lnTo>
                  <a:lnTo>
                    <a:pt x="63628" y="46633"/>
                  </a:lnTo>
                  <a:lnTo>
                    <a:pt x="63770" y="49805"/>
                  </a:lnTo>
                  <a:lnTo>
                    <a:pt x="59104" y="51005"/>
                  </a:lnTo>
                  <a:lnTo>
                    <a:pt x="54633" y="52713"/>
                  </a:lnTo>
                  <a:lnTo>
                    <a:pt x="50356" y="54930"/>
                  </a:lnTo>
                  <a:lnTo>
                    <a:pt x="46079" y="57148"/>
                  </a:lnTo>
                  <a:lnTo>
                    <a:pt x="28622" y="73420"/>
                  </a:lnTo>
                  <a:lnTo>
                    <a:pt x="25748" y="77286"/>
                  </a:lnTo>
                  <a:lnTo>
                    <a:pt x="15940" y="109068"/>
                  </a:lnTo>
                  <a:lnTo>
                    <a:pt x="16135" y="113881"/>
                  </a:lnTo>
                  <a:lnTo>
                    <a:pt x="16331" y="118695"/>
                  </a:lnTo>
                  <a:lnTo>
                    <a:pt x="17065" y="123425"/>
                  </a:lnTo>
                  <a:lnTo>
                    <a:pt x="18337" y="128071"/>
                  </a:lnTo>
                  <a:lnTo>
                    <a:pt x="19609" y="132718"/>
                  </a:lnTo>
                  <a:lnTo>
                    <a:pt x="21386" y="137162"/>
                  </a:lnTo>
                  <a:lnTo>
                    <a:pt x="23670" y="141404"/>
                  </a:lnTo>
                  <a:lnTo>
                    <a:pt x="19655" y="144665"/>
                  </a:lnTo>
                  <a:lnTo>
                    <a:pt x="16092" y="148363"/>
                  </a:lnTo>
                  <a:lnTo>
                    <a:pt x="12980" y="152495"/>
                  </a:lnTo>
                  <a:lnTo>
                    <a:pt x="9869" y="156628"/>
                  </a:lnTo>
                  <a:lnTo>
                    <a:pt x="0" y="190875"/>
                  </a:lnTo>
                  <a:lnTo>
                    <a:pt x="435" y="196029"/>
                  </a:lnTo>
                  <a:lnTo>
                    <a:pt x="870" y="201184"/>
                  </a:lnTo>
                  <a:lnTo>
                    <a:pt x="20099" y="236845"/>
                  </a:lnTo>
                  <a:lnTo>
                    <a:pt x="32496" y="245988"/>
                  </a:lnTo>
                  <a:lnTo>
                    <a:pt x="31940" y="250292"/>
                  </a:lnTo>
                  <a:lnTo>
                    <a:pt x="31826" y="254608"/>
                  </a:lnTo>
                  <a:lnTo>
                    <a:pt x="32155" y="258935"/>
                  </a:lnTo>
                  <a:lnTo>
                    <a:pt x="32483" y="263263"/>
                  </a:lnTo>
                  <a:lnTo>
                    <a:pt x="39278" y="283699"/>
                  </a:lnTo>
                  <a:lnTo>
                    <a:pt x="41299" y="287540"/>
                  </a:lnTo>
                  <a:lnTo>
                    <a:pt x="43689" y="291135"/>
                  </a:lnTo>
                  <a:lnTo>
                    <a:pt x="46447" y="294486"/>
                  </a:lnTo>
                  <a:lnTo>
                    <a:pt x="49205" y="297836"/>
                  </a:lnTo>
                  <a:lnTo>
                    <a:pt x="78589" y="315342"/>
                  </a:lnTo>
                  <a:lnTo>
                    <a:pt x="82773" y="316496"/>
                  </a:lnTo>
                  <a:lnTo>
                    <a:pt x="87030" y="317214"/>
                  </a:lnTo>
                  <a:lnTo>
                    <a:pt x="91360" y="317495"/>
                  </a:lnTo>
                  <a:lnTo>
                    <a:pt x="95691" y="317776"/>
                  </a:lnTo>
                  <a:lnTo>
                    <a:pt x="100005" y="317614"/>
                  </a:lnTo>
                  <a:lnTo>
                    <a:pt x="104303" y="317011"/>
                  </a:lnTo>
                  <a:lnTo>
                    <a:pt x="108601" y="316407"/>
                  </a:lnTo>
                  <a:lnTo>
                    <a:pt x="112792" y="315374"/>
                  </a:lnTo>
                  <a:lnTo>
                    <a:pt x="116878" y="313911"/>
                  </a:lnTo>
                  <a:lnTo>
                    <a:pt x="120964" y="312448"/>
                  </a:lnTo>
                  <a:lnTo>
                    <a:pt x="124859" y="310586"/>
                  </a:lnTo>
                  <a:lnTo>
                    <a:pt x="128563" y="308325"/>
                  </a:lnTo>
                  <a:lnTo>
                    <a:pt x="132267" y="306063"/>
                  </a:lnTo>
                  <a:lnTo>
                    <a:pt x="135703" y="303449"/>
                  </a:lnTo>
                  <a:lnTo>
                    <a:pt x="138871" y="300483"/>
                  </a:lnTo>
                  <a:lnTo>
                    <a:pt x="142039" y="297517"/>
                  </a:lnTo>
                  <a:lnTo>
                    <a:pt x="144873" y="294261"/>
                  </a:lnTo>
                  <a:lnTo>
                    <a:pt x="147374" y="290714"/>
                  </a:lnTo>
                  <a:lnTo>
                    <a:pt x="149874" y="287167"/>
                  </a:lnTo>
                  <a:lnTo>
                    <a:pt x="151988" y="283403"/>
                  </a:lnTo>
                  <a:lnTo>
                    <a:pt x="153717" y="279422"/>
                  </a:lnTo>
                  <a:lnTo>
                    <a:pt x="155446" y="275441"/>
                  </a:lnTo>
                  <a:lnTo>
                    <a:pt x="156753" y="271327"/>
                  </a:lnTo>
                  <a:lnTo>
                    <a:pt x="157638" y="267078"/>
                  </a:lnTo>
                  <a:lnTo>
                    <a:pt x="158523" y="262830"/>
                  </a:lnTo>
                  <a:lnTo>
                    <a:pt x="158968" y="258535"/>
                  </a:lnTo>
                  <a:lnTo>
                    <a:pt x="158972" y="254196"/>
                  </a:lnTo>
                  <a:lnTo>
                    <a:pt x="158972" y="47821"/>
                  </a:lnTo>
                  <a:close/>
                </a:path>
                <a:path w="318134" h="318135">
                  <a:moveTo>
                    <a:pt x="158972" y="47821"/>
                  </a:moveTo>
                  <a:lnTo>
                    <a:pt x="158963" y="44646"/>
                  </a:lnTo>
                  <a:lnTo>
                    <a:pt x="159268" y="41502"/>
                  </a:lnTo>
                  <a:lnTo>
                    <a:pt x="159888" y="38388"/>
                  </a:lnTo>
                  <a:lnTo>
                    <a:pt x="160507" y="35274"/>
                  </a:lnTo>
                  <a:lnTo>
                    <a:pt x="186078" y="4585"/>
                  </a:lnTo>
                  <a:lnTo>
                    <a:pt x="189029" y="3414"/>
                  </a:lnTo>
                  <a:lnTo>
                    <a:pt x="191980" y="2243"/>
                  </a:lnTo>
                  <a:lnTo>
                    <a:pt x="195018" y="1376"/>
                  </a:lnTo>
                  <a:lnTo>
                    <a:pt x="198142" y="812"/>
                  </a:lnTo>
                  <a:lnTo>
                    <a:pt x="201266" y="248"/>
                  </a:lnTo>
                  <a:lnTo>
                    <a:pt x="204416" y="0"/>
                  </a:lnTo>
                  <a:lnTo>
                    <a:pt x="207590" y="66"/>
                  </a:lnTo>
                  <a:lnTo>
                    <a:pt x="210764" y="132"/>
                  </a:lnTo>
                  <a:lnTo>
                    <a:pt x="213900" y="512"/>
                  </a:lnTo>
                  <a:lnTo>
                    <a:pt x="216998" y="1205"/>
                  </a:lnTo>
                  <a:lnTo>
                    <a:pt x="220096" y="1898"/>
                  </a:lnTo>
                  <a:lnTo>
                    <a:pt x="234223" y="8886"/>
                  </a:lnTo>
                  <a:lnTo>
                    <a:pt x="236809" y="10728"/>
                  </a:lnTo>
                  <a:lnTo>
                    <a:pt x="239187" y="12807"/>
                  </a:lnTo>
                  <a:lnTo>
                    <a:pt x="241357" y="15125"/>
                  </a:lnTo>
                  <a:lnTo>
                    <a:pt x="243527" y="17442"/>
                  </a:lnTo>
                  <a:lnTo>
                    <a:pt x="245447" y="19951"/>
                  </a:lnTo>
                  <a:lnTo>
                    <a:pt x="247115" y="22652"/>
                  </a:lnTo>
                  <a:lnTo>
                    <a:pt x="248784" y="25353"/>
                  </a:lnTo>
                  <a:lnTo>
                    <a:pt x="250168" y="28192"/>
                  </a:lnTo>
                  <a:lnTo>
                    <a:pt x="251269" y="31170"/>
                  </a:lnTo>
                  <a:lnTo>
                    <a:pt x="252369" y="34148"/>
                  </a:lnTo>
                  <a:lnTo>
                    <a:pt x="253164" y="37205"/>
                  </a:lnTo>
                  <a:lnTo>
                    <a:pt x="253653" y="40342"/>
                  </a:lnTo>
                  <a:lnTo>
                    <a:pt x="254143" y="43479"/>
                  </a:lnTo>
                  <a:lnTo>
                    <a:pt x="254316" y="46633"/>
                  </a:lnTo>
                  <a:lnTo>
                    <a:pt x="254175" y="49805"/>
                  </a:lnTo>
                  <a:lnTo>
                    <a:pt x="258840" y="51005"/>
                  </a:lnTo>
                  <a:lnTo>
                    <a:pt x="289323" y="73420"/>
                  </a:lnTo>
                  <a:lnTo>
                    <a:pt x="292197" y="77286"/>
                  </a:lnTo>
                  <a:lnTo>
                    <a:pt x="302005" y="109068"/>
                  </a:lnTo>
                  <a:lnTo>
                    <a:pt x="301809" y="113881"/>
                  </a:lnTo>
                  <a:lnTo>
                    <a:pt x="301614" y="118695"/>
                  </a:lnTo>
                  <a:lnTo>
                    <a:pt x="300880" y="123425"/>
                  </a:lnTo>
                  <a:lnTo>
                    <a:pt x="299608" y="128071"/>
                  </a:lnTo>
                  <a:lnTo>
                    <a:pt x="298336" y="132718"/>
                  </a:lnTo>
                  <a:lnTo>
                    <a:pt x="296558" y="137162"/>
                  </a:lnTo>
                  <a:lnTo>
                    <a:pt x="294275" y="141404"/>
                  </a:lnTo>
                  <a:lnTo>
                    <a:pt x="298290" y="144665"/>
                  </a:lnTo>
                  <a:lnTo>
                    <a:pt x="301853" y="148363"/>
                  </a:lnTo>
                  <a:lnTo>
                    <a:pt x="304964" y="152495"/>
                  </a:lnTo>
                  <a:lnTo>
                    <a:pt x="308076" y="156628"/>
                  </a:lnTo>
                  <a:lnTo>
                    <a:pt x="310644" y="161074"/>
                  </a:lnTo>
                  <a:lnTo>
                    <a:pt x="312669" y="165834"/>
                  </a:lnTo>
                  <a:lnTo>
                    <a:pt x="314693" y="170594"/>
                  </a:lnTo>
                  <a:lnTo>
                    <a:pt x="316115" y="175528"/>
                  </a:lnTo>
                  <a:lnTo>
                    <a:pt x="316934" y="180636"/>
                  </a:lnTo>
                  <a:lnTo>
                    <a:pt x="317753" y="185744"/>
                  </a:lnTo>
                  <a:lnTo>
                    <a:pt x="317945" y="190875"/>
                  </a:lnTo>
                  <a:lnTo>
                    <a:pt x="317510" y="196029"/>
                  </a:lnTo>
                  <a:lnTo>
                    <a:pt x="317075" y="201184"/>
                  </a:lnTo>
                  <a:lnTo>
                    <a:pt x="307677" y="224986"/>
                  </a:lnTo>
                  <a:lnTo>
                    <a:pt x="304883" y="229339"/>
                  </a:lnTo>
                  <a:lnTo>
                    <a:pt x="285448" y="245988"/>
                  </a:lnTo>
                  <a:lnTo>
                    <a:pt x="286005" y="250292"/>
                  </a:lnTo>
                  <a:lnTo>
                    <a:pt x="286119" y="254608"/>
                  </a:lnTo>
                  <a:lnTo>
                    <a:pt x="285790" y="258935"/>
                  </a:lnTo>
                  <a:lnTo>
                    <a:pt x="285462" y="263263"/>
                  </a:lnTo>
                  <a:lnTo>
                    <a:pt x="284697" y="267512"/>
                  </a:lnTo>
                  <a:lnTo>
                    <a:pt x="283498" y="271682"/>
                  </a:lnTo>
                  <a:lnTo>
                    <a:pt x="282298" y="275853"/>
                  </a:lnTo>
                  <a:lnTo>
                    <a:pt x="280688" y="279859"/>
                  </a:lnTo>
                  <a:lnTo>
                    <a:pt x="278667" y="283699"/>
                  </a:lnTo>
                  <a:lnTo>
                    <a:pt x="276646" y="287540"/>
                  </a:lnTo>
                  <a:lnTo>
                    <a:pt x="274256" y="291135"/>
                  </a:lnTo>
                  <a:lnTo>
                    <a:pt x="271498" y="294486"/>
                  </a:lnTo>
                  <a:lnTo>
                    <a:pt x="268740" y="297836"/>
                  </a:lnTo>
                  <a:lnTo>
                    <a:pt x="239356" y="315342"/>
                  </a:lnTo>
                  <a:lnTo>
                    <a:pt x="235172" y="316496"/>
                  </a:lnTo>
                  <a:lnTo>
                    <a:pt x="230915" y="317214"/>
                  </a:lnTo>
                  <a:lnTo>
                    <a:pt x="226584" y="317495"/>
                  </a:lnTo>
                  <a:lnTo>
                    <a:pt x="222254" y="317776"/>
                  </a:lnTo>
                  <a:lnTo>
                    <a:pt x="217939" y="317614"/>
                  </a:lnTo>
                  <a:lnTo>
                    <a:pt x="213642" y="317011"/>
                  </a:lnTo>
                  <a:lnTo>
                    <a:pt x="209344" y="316407"/>
                  </a:lnTo>
                  <a:lnTo>
                    <a:pt x="205152" y="315374"/>
                  </a:lnTo>
                  <a:lnTo>
                    <a:pt x="201067" y="313911"/>
                  </a:lnTo>
                  <a:lnTo>
                    <a:pt x="196981" y="312448"/>
                  </a:lnTo>
                  <a:lnTo>
                    <a:pt x="193086" y="310586"/>
                  </a:lnTo>
                  <a:lnTo>
                    <a:pt x="189382" y="308325"/>
                  </a:lnTo>
                  <a:lnTo>
                    <a:pt x="185678" y="306063"/>
                  </a:lnTo>
                  <a:lnTo>
                    <a:pt x="182242" y="303449"/>
                  </a:lnTo>
                  <a:lnTo>
                    <a:pt x="179074" y="300483"/>
                  </a:lnTo>
                  <a:lnTo>
                    <a:pt x="175906" y="297517"/>
                  </a:lnTo>
                  <a:lnTo>
                    <a:pt x="164228" y="279422"/>
                  </a:lnTo>
                  <a:lnTo>
                    <a:pt x="162499" y="275441"/>
                  </a:lnTo>
                  <a:lnTo>
                    <a:pt x="161192" y="271327"/>
                  </a:lnTo>
                  <a:lnTo>
                    <a:pt x="160307" y="267078"/>
                  </a:lnTo>
                  <a:lnTo>
                    <a:pt x="159422" y="262830"/>
                  </a:lnTo>
                  <a:lnTo>
                    <a:pt x="158977" y="258535"/>
                  </a:lnTo>
                  <a:lnTo>
                    <a:pt x="158972" y="254196"/>
                  </a:lnTo>
                  <a:lnTo>
                    <a:pt x="158972" y="47821"/>
                  </a:lnTo>
                  <a:close/>
                </a:path>
              </a:pathLst>
            </a:custGeom>
            <a:ln w="3174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2422" y="3265884"/>
              <a:ext cx="302355" cy="15676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627123" y="3477958"/>
              <a:ext cx="253365" cy="8255"/>
            </a:xfrm>
            <a:custGeom>
              <a:avLst/>
              <a:gdLst/>
              <a:ahLst/>
              <a:cxnLst/>
              <a:rect l="l" t="t" r="r" b="b"/>
              <a:pathLst>
                <a:path w="253365" h="8254">
                  <a:moveTo>
                    <a:pt x="31226" y="8191"/>
                  </a:moveTo>
                  <a:lnTo>
                    <a:pt x="23015" y="7682"/>
                  </a:lnTo>
                  <a:lnTo>
                    <a:pt x="15074" y="6147"/>
                  </a:lnTo>
                  <a:lnTo>
                    <a:pt x="7402" y="3586"/>
                  </a:lnTo>
                  <a:lnTo>
                    <a:pt x="0" y="0"/>
                  </a:lnTo>
                </a:path>
                <a:path w="253365" h="8254">
                  <a:moveTo>
                    <a:pt x="252952" y="0"/>
                  </a:moveTo>
                  <a:lnTo>
                    <a:pt x="245549" y="3586"/>
                  </a:lnTo>
                  <a:lnTo>
                    <a:pt x="237877" y="6147"/>
                  </a:lnTo>
                  <a:lnTo>
                    <a:pt x="229936" y="7682"/>
                  </a:lnTo>
                  <a:lnTo>
                    <a:pt x="221726" y="8191"/>
                  </a:lnTo>
                </a:path>
              </a:pathLst>
            </a:custGeom>
            <a:ln w="3174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35417" y="2226874"/>
            <a:ext cx="4575175" cy="77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425" b="1" spc="-375" baseline="-16273" dirty="0">
                <a:solidFill>
                  <a:srgbClr val="38FF13"/>
                </a:solidFill>
                <a:latin typeface="Lucida Bright"/>
                <a:cs typeface="Lucida Bright"/>
              </a:rPr>
              <a:t>2</a:t>
            </a:r>
            <a:r>
              <a:rPr sz="7425" b="1" spc="-322" baseline="-16273" dirty="0">
                <a:solidFill>
                  <a:srgbClr val="38FF13"/>
                </a:solidFill>
                <a:latin typeface="Lucida Bright"/>
                <a:cs typeface="Lucida Bright"/>
              </a:rPr>
              <a:t> </a:t>
            </a:r>
            <a:r>
              <a:rPr sz="3050" b="1" spc="-185" dirty="0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35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3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83800" y="2971097"/>
            <a:ext cx="721804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204" dirty="0">
                <a:solidFill>
                  <a:srgbClr val="D0D5DA"/>
                </a:solidFill>
                <a:latin typeface="Microsoft Sans Serif"/>
                <a:cs typeface="Microsoft Sans Serif"/>
              </a:rPr>
              <a:t>RL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enables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1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trial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error</a:t>
            </a:r>
            <a:r>
              <a:rPr sz="19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receiving</a:t>
            </a:r>
            <a:r>
              <a:rPr sz="20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for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good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behavior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penalties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mistakes</a:t>
            </a:r>
            <a:r>
              <a:rPr sz="1950" dirty="0">
                <a:solidFill>
                  <a:srgbClr val="D0D5DA"/>
                </a:solidFill>
                <a:latin typeface="Microsoft Sans Serif"/>
                <a:cs typeface="Microsoft Sans Serif"/>
              </a:rPr>
              <a:t>—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like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teaching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 experience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4905375"/>
            <a:ext cx="8534400" cy="2266950"/>
            <a:chOff x="457200" y="4905375"/>
            <a:chExt cx="8534400" cy="2266950"/>
          </a:xfrm>
        </p:grpSpPr>
        <p:sp>
          <p:nvSpPr>
            <p:cNvPr id="20" name="object 20"/>
            <p:cNvSpPr/>
            <p:nvPr/>
          </p:nvSpPr>
          <p:spPr>
            <a:xfrm>
              <a:off x="476249" y="4905375"/>
              <a:ext cx="8515350" cy="2266950"/>
            </a:xfrm>
            <a:custGeom>
              <a:avLst/>
              <a:gdLst/>
              <a:ahLst/>
              <a:cxnLst/>
              <a:rect l="l" t="t" r="r" b="b"/>
              <a:pathLst>
                <a:path w="8515350" h="2266950">
                  <a:moveTo>
                    <a:pt x="8444153" y="2266949"/>
                  </a:moveTo>
                  <a:lnTo>
                    <a:pt x="53397" y="2266949"/>
                  </a:lnTo>
                  <a:lnTo>
                    <a:pt x="49680" y="2266461"/>
                  </a:lnTo>
                  <a:lnTo>
                    <a:pt x="14085" y="2241093"/>
                  </a:lnTo>
                  <a:lnTo>
                    <a:pt x="366" y="2200708"/>
                  </a:lnTo>
                  <a:lnTo>
                    <a:pt x="0" y="2195752"/>
                  </a:lnTo>
                  <a:lnTo>
                    <a:pt x="0" y="2190750"/>
                  </a:lnTo>
                  <a:lnTo>
                    <a:pt x="0" y="71197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2" y="51661"/>
                  </a:lnTo>
                  <a:lnTo>
                    <a:pt x="8515350" y="71197"/>
                  </a:lnTo>
                  <a:lnTo>
                    <a:pt x="8515350" y="2195752"/>
                  </a:lnTo>
                  <a:lnTo>
                    <a:pt x="8499727" y="2237244"/>
                  </a:lnTo>
                  <a:lnTo>
                    <a:pt x="8463687" y="2263062"/>
                  </a:lnTo>
                  <a:lnTo>
                    <a:pt x="8449108" y="2266461"/>
                  </a:lnTo>
                  <a:lnTo>
                    <a:pt x="8444153" y="22669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4905652"/>
              <a:ext cx="70485" cy="2266950"/>
            </a:xfrm>
            <a:custGeom>
              <a:avLst/>
              <a:gdLst/>
              <a:ahLst/>
              <a:cxnLst/>
              <a:rect l="l" t="t" r="r" b="b"/>
              <a:pathLst>
                <a:path w="70484" h="2266950">
                  <a:moveTo>
                    <a:pt x="70450" y="2266394"/>
                  </a:moveTo>
                  <a:lnTo>
                    <a:pt x="33857" y="2253841"/>
                  </a:lnTo>
                  <a:lnTo>
                    <a:pt x="5800" y="2219632"/>
                  </a:lnTo>
                  <a:lnTo>
                    <a:pt x="0" y="21904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2190472"/>
                  </a:lnTo>
                  <a:lnTo>
                    <a:pt x="44514" y="2232813"/>
                  </a:lnTo>
                  <a:lnTo>
                    <a:pt x="66287" y="2264738"/>
                  </a:lnTo>
                  <a:lnTo>
                    <a:pt x="70450" y="2266394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1524" y="5813425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222249" y="0"/>
                  </a:moveTo>
                  <a:lnTo>
                    <a:pt x="285749" y="63499"/>
                  </a:lnTo>
                  <a:lnTo>
                    <a:pt x="222249" y="126999"/>
                  </a:lnTo>
                </a:path>
                <a:path w="285750" h="317500">
                  <a:moveTo>
                    <a:pt x="0" y="142874"/>
                  </a:moveTo>
                  <a:lnTo>
                    <a:pt x="0" y="126999"/>
                  </a:lnTo>
                  <a:lnTo>
                    <a:pt x="0" y="122830"/>
                  </a:lnTo>
                  <a:lnTo>
                    <a:pt x="406" y="118701"/>
                  </a:lnTo>
                  <a:lnTo>
                    <a:pt x="1220" y="114611"/>
                  </a:lnTo>
                  <a:lnTo>
                    <a:pt x="2033" y="110522"/>
                  </a:lnTo>
                  <a:lnTo>
                    <a:pt x="3238" y="106551"/>
                  </a:lnTo>
                  <a:lnTo>
                    <a:pt x="4833" y="102699"/>
                  </a:lnTo>
                  <a:lnTo>
                    <a:pt x="6429" y="98847"/>
                  </a:lnTo>
                  <a:lnTo>
                    <a:pt x="8385" y="95188"/>
                  </a:lnTo>
                  <a:lnTo>
                    <a:pt x="10701" y="91721"/>
                  </a:lnTo>
                  <a:lnTo>
                    <a:pt x="13018" y="88254"/>
                  </a:lnTo>
                  <a:lnTo>
                    <a:pt x="15650" y="85046"/>
                  </a:lnTo>
                  <a:lnTo>
                    <a:pt x="18598" y="82098"/>
                  </a:lnTo>
                  <a:lnTo>
                    <a:pt x="21546" y="79150"/>
                  </a:lnTo>
                  <a:lnTo>
                    <a:pt x="24754" y="76518"/>
                  </a:lnTo>
                  <a:lnTo>
                    <a:pt x="28221" y="74201"/>
                  </a:lnTo>
                  <a:lnTo>
                    <a:pt x="31688" y="71885"/>
                  </a:lnTo>
                  <a:lnTo>
                    <a:pt x="35347" y="69929"/>
                  </a:lnTo>
                  <a:lnTo>
                    <a:pt x="39199" y="68333"/>
                  </a:lnTo>
                  <a:lnTo>
                    <a:pt x="43051" y="66738"/>
                  </a:lnTo>
                  <a:lnTo>
                    <a:pt x="47022" y="65533"/>
                  </a:lnTo>
                  <a:lnTo>
                    <a:pt x="51111" y="64720"/>
                  </a:lnTo>
                  <a:lnTo>
                    <a:pt x="55201" y="63906"/>
                  </a:lnTo>
                  <a:lnTo>
                    <a:pt x="59330" y="63499"/>
                  </a:lnTo>
                  <a:lnTo>
                    <a:pt x="63499" y="63499"/>
                  </a:lnTo>
                  <a:lnTo>
                    <a:pt x="285749" y="63499"/>
                  </a:lnTo>
                </a:path>
                <a:path w="285750" h="317500">
                  <a:moveTo>
                    <a:pt x="63499" y="317499"/>
                  </a:moveTo>
                  <a:lnTo>
                    <a:pt x="0" y="253999"/>
                  </a:lnTo>
                  <a:lnTo>
                    <a:pt x="63499" y="190499"/>
                  </a:lnTo>
                </a:path>
                <a:path w="285750" h="317500">
                  <a:moveTo>
                    <a:pt x="285749" y="174624"/>
                  </a:moveTo>
                  <a:lnTo>
                    <a:pt x="285749" y="190499"/>
                  </a:lnTo>
                  <a:lnTo>
                    <a:pt x="285749" y="194669"/>
                  </a:lnTo>
                  <a:lnTo>
                    <a:pt x="285343" y="198798"/>
                  </a:lnTo>
                  <a:lnTo>
                    <a:pt x="284529" y="202888"/>
                  </a:lnTo>
                  <a:lnTo>
                    <a:pt x="283716" y="206977"/>
                  </a:lnTo>
                  <a:lnTo>
                    <a:pt x="282511" y="210948"/>
                  </a:lnTo>
                  <a:lnTo>
                    <a:pt x="280916" y="214800"/>
                  </a:lnTo>
                  <a:lnTo>
                    <a:pt x="279320" y="218652"/>
                  </a:lnTo>
                  <a:lnTo>
                    <a:pt x="257528" y="243298"/>
                  </a:lnTo>
                  <a:lnTo>
                    <a:pt x="254061" y="245614"/>
                  </a:lnTo>
                  <a:lnTo>
                    <a:pt x="222249" y="253999"/>
                  </a:lnTo>
                  <a:lnTo>
                    <a:pt x="0" y="253999"/>
                  </a:lnTo>
                </a:path>
              </a:pathLst>
            </a:custGeom>
            <a:ln w="31749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1753" y="4808149"/>
            <a:ext cx="3817620" cy="77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425" b="1" spc="-427" baseline="-16273" dirty="0">
                <a:solidFill>
                  <a:srgbClr val="FF6A34"/>
                </a:solidFill>
                <a:latin typeface="Lucida Sans"/>
                <a:cs typeface="Lucida Sans"/>
              </a:rPr>
              <a:t>3</a:t>
            </a:r>
            <a:r>
              <a:rPr sz="7425" b="1" spc="-480" baseline="-16273" dirty="0">
                <a:solidFill>
                  <a:srgbClr val="FF6A34"/>
                </a:solidFill>
                <a:latin typeface="Lucida Sans"/>
                <a:cs typeface="Lucida Sans"/>
              </a:rPr>
              <a:t> 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05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85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305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80" dirty="0">
                <a:solidFill>
                  <a:srgbClr val="FFFFFF"/>
                </a:solidFill>
                <a:latin typeface="Arial"/>
                <a:cs typeface="Arial"/>
              </a:rPr>
              <a:t>Cycle</a:t>
            </a:r>
            <a:endParaRPr sz="3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600" y="5552372"/>
            <a:ext cx="72834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continuously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observes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acts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receives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rewards</a:t>
            </a:r>
            <a:r>
              <a:rPr sz="19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45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learns</a:t>
            </a:r>
            <a:r>
              <a:rPr sz="1950" spc="45" dirty="0">
                <a:solidFill>
                  <a:srgbClr val="D0D5DA"/>
                </a:solidFill>
                <a:latin typeface="Microsoft Sans Serif"/>
                <a:cs typeface="Microsoft Sans Serif"/>
              </a:rPr>
              <a:t>—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improving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its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thousands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episodes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practice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296400" y="4905375"/>
            <a:ext cx="8534400" cy="2266950"/>
            <a:chOff x="9296400" y="4905375"/>
            <a:chExt cx="8534400" cy="2266950"/>
          </a:xfrm>
        </p:grpSpPr>
        <p:sp>
          <p:nvSpPr>
            <p:cNvPr id="26" name="object 26"/>
            <p:cNvSpPr/>
            <p:nvPr/>
          </p:nvSpPr>
          <p:spPr>
            <a:xfrm>
              <a:off x="9315449" y="4905375"/>
              <a:ext cx="8515350" cy="2266950"/>
            </a:xfrm>
            <a:custGeom>
              <a:avLst/>
              <a:gdLst/>
              <a:ahLst/>
              <a:cxnLst/>
              <a:rect l="l" t="t" r="r" b="b"/>
              <a:pathLst>
                <a:path w="8515350" h="2266950">
                  <a:moveTo>
                    <a:pt x="8444152" y="2266949"/>
                  </a:moveTo>
                  <a:lnTo>
                    <a:pt x="53397" y="2266949"/>
                  </a:lnTo>
                  <a:lnTo>
                    <a:pt x="49680" y="2266461"/>
                  </a:lnTo>
                  <a:lnTo>
                    <a:pt x="14084" y="2241093"/>
                  </a:lnTo>
                  <a:lnTo>
                    <a:pt x="365" y="2200708"/>
                  </a:lnTo>
                  <a:lnTo>
                    <a:pt x="0" y="2195752"/>
                  </a:lnTo>
                  <a:lnTo>
                    <a:pt x="0" y="2190750"/>
                  </a:lnTo>
                  <a:lnTo>
                    <a:pt x="0" y="71197"/>
                  </a:lnTo>
                  <a:lnTo>
                    <a:pt x="11715" y="29704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1"/>
                  </a:lnTo>
                  <a:lnTo>
                    <a:pt x="8511462" y="51661"/>
                  </a:lnTo>
                  <a:lnTo>
                    <a:pt x="8515349" y="71197"/>
                  </a:lnTo>
                  <a:lnTo>
                    <a:pt x="8515349" y="2195752"/>
                  </a:lnTo>
                  <a:lnTo>
                    <a:pt x="8499727" y="2237244"/>
                  </a:lnTo>
                  <a:lnTo>
                    <a:pt x="8463686" y="2263062"/>
                  </a:lnTo>
                  <a:lnTo>
                    <a:pt x="8449106" y="2266461"/>
                  </a:lnTo>
                  <a:lnTo>
                    <a:pt x="8444152" y="2266949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96400" y="4905652"/>
              <a:ext cx="70485" cy="2266950"/>
            </a:xfrm>
            <a:custGeom>
              <a:avLst/>
              <a:gdLst/>
              <a:ahLst/>
              <a:cxnLst/>
              <a:rect l="l" t="t" r="r" b="b"/>
              <a:pathLst>
                <a:path w="70484" h="2266950">
                  <a:moveTo>
                    <a:pt x="70450" y="2266394"/>
                  </a:moveTo>
                  <a:lnTo>
                    <a:pt x="33856" y="2253841"/>
                  </a:lnTo>
                  <a:lnTo>
                    <a:pt x="5799" y="2219632"/>
                  </a:lnTo>
                  <a:lnTo>
                    <a:pt x="0" y="21904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2190472"/>
                  </a:lnTo>
                  <a:lnTo>
                    <a:pt x="44514" y="2232813"/>
                  </a:lnTo>
                  <a:lnTo>
                    <a:pt x="66286" y="2264738"/>
                  </a:lnTo>
                  <a:lnTo>
                    <a:pt x="70450" y="2266394"/>
                  </a:lnTo>
                  <a:close/>
                </a:path>
              </a:pathLst>
            </a:custGeom>
            <a:solidFill>
              <a:srgbClr val="00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26599" y="5845175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31750" y="0"/>
                  </a:moveTo>
                  <a:lnTo>
                    <a:pt x="222249" y="0"/>
                  </a:lnTo>
                  <a:lnTo>
                    <a:pt x="226460" y="0"/>
                  </a:lnTo>
                  <a:lnTo>
                    <a:pt x="230510" y="805"/>
                  </a:lnTo>
                  <a:lnTo>
                    <a:pt x="234400" y="2416"/>
                  </a:lnTo>
                  <a:lnTo>
                    <a:pt x="238289" y="4028"/>
                  </a:lnTo>
                  <a:lnTo>
                    <a:pt x="241723" y="6322"/>
                  </a:lnTo>
                  <a:lnTo>
                    <a:pt x="253999" y="31749"/>
                  </a:lnTo>
                  <a:lnTo>
                    <a:pt x="253999" y="222249"/>
                  </a:lnTo>
                  <a:lnTo>
                    <a:pt x="230510" y="253194"/>
                  </a:lnTo>
                  <a:lnTo>
                    <a:pt x="222249" y="253999"/>
                  </a:lnTo>
                  <a:lnTo>
                    <a:pt x="31750" y="253999"/>
                  </a:lnTo>
                  <a:lnTo>
                    <a:pt x="2416" y="234400"/>
                  </a:lnTo>
                  <a:lnTo>
                    <a:pt x="805" y="230510"/>
                  </a:lnTo>
                  <a:lnTo>
                    <a:pt x="0" y="226460"/>
                  </a:lnTo>
                  <a:lnTo>
                    <a:pt x="0" y="222249"/>
                  </a:lnTo>
                  <a:lnTo>
                    <a:pt x="0" y="31749"/>
                  </a:lnTo>
                  <a:lnTo>
                    <a:pt x="9299" y="9299"/>
                  </a:lnTo>
                  <a:lnTo>
                    <a:pt x="12276" y="6322"/>
                  </a:lnTo>
                  <a:lnTo>
                    <a:pt x="15709" y="4028"/>
                  </a:lnTo>
                  <a:lnTo>
                    <a:pt x="19599" y="2416"/>
                  </a:lnTo>
                  <a:lnTo>
                    <a:pt x="23489" y="805"/>
                  </a:lnTo>
                  <a:lnTo>
                    <a:pt x="27539" y="0"/>
                  </a:lnTo>
                  <a:lnTo>
                    <a:pt x="31750" y="0"/>
                  </a:lnTo>
                  <a:close/>
                </a:path>
              </a:pathLst>
            </a:custGeom>
            <a:ln w="31749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0099" y="5908675"/>
              <a:ext cx="127000" cy="1269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594849" y="5813425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206374" y="0"/>
                  </a:moveTo>
                  <a:lnTo>
                    <a:pt x="206374" y="31749"/>
                  </a:lnTo>
                </a:path>
                <a:path w="317500" h="317500">
                  <a:moveTo>
                    <a:pt x="206374" y="285749"/>
                  </a:moveTo>
                  <a:lnTo>
                    <a:pt x="206374" y="317499"/>
                  </a:lnTo>
                </a:path>
                <a:path w="317500" h="317500">
                  <a:moveTo>
                    <a:pt x="0" y="206374"/>
                  </a:moveTo>
                  <a:lnTo>
                    <a:pt x="31749" y="206374"/>
                  </a:lnTo>
                </a:path>
                <a:path w="317500" h="317500">
                  <a:moveTo>
                    <a:pt x="0" y="111124"/>
                  </a:moveTo>
                  <a:lnTo>
                    <a:pt x="31749" y="111124"/>
                  </a:lnTo>
                </a:path>
                <a:path w="317500" h="317500">
                  <a:moveTo>
                    <a:pt x="285749" y="206374"/>
                  </a:moveTo>
                  <a:lnTo>
                    <a:pt x="317499" y="206374"/>
                  </a:lnTo>
                </a:path>
                <a:path w="317500" h="317500">
                  <a:moveTo>
                    <a:pt x="285749" y="111124"/>
                  </a:moveTo>
                  <a:lnTo>
                    <a:pt x="317499" y="111124"/>
                  </a:lnTo>
                </a:path>
                <a:path w="317500" h="317500">
                  <a:moveTo>
                    <a:pt x="111124" y="0"/>
                  </a:moveTo>
                  <a:lnTo>
                    <a:pt x="111124" y="31749"/>
                  </a:lnTo>
                </a:path>
                <a:path w="317500" h="317500">
                  <a:moveTo>
                    <a:pt x="111124" y="285749"/>
                  </a:moveTo>
                  <a:lnTo>
                    <a:pt x="111124" y="317499"/>
                  </a:lnTo>
                </a:path>
              </a:pathLst>
            </a:custGeom>
            <a:ln w="31749">
              <a:solidFill>
                <a:srgbClr val="00B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525000" y="4814568"/>
            <a:ext cx="3038475" cy="770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350" b="1" spc="442" baseline="-16439" dirty="0">
                <a:solidFill>
                  <a:srgbClr val="00BEFF"/>
                </a:solidFill>
                <a:latin typeface="Arial"/>
                <a:cs typeface="Arial"/>
              </a:rPr>
              <a:t>4</a:t>
            </a:r>
            <a:r>
              <a:rPr sz="7350" b="1" spc="-240" baseline="-16439" dirty="0">
                <a:solidFill>
                  <a:srgbClr val="00BEFF"/>
                </a:solidFill>
                <a:latin typeface="Arial"/>
                <a:cs typeface="Arial"/>
              </a:rPr>
              <a:t> </a:t>
            </a:r>
            <a:r>
              <a:rPr sz="3050" b="1" spc="-310" dirty="0">
                <a:solidFill>
                  <a:srgbClr val="FFFFFF"/>
                </a:solidFill>
                <a:latin typeface="Arial"/>
                <a:cs typeface="Arial"/>
              </a:rPr>
              <a:t>PPO</a:t>
            </a:r>
            <a:r>
              <a:rPr sz="305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3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89306" y="5552372"/>
            <a:ext cx="68402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D0D5DA"/>
                </a:solidFill>
                <a:latin typeface="Microsoft Sans Serif"/>
                <a:cs typeface="Microsoft Sans Serif"/>
              </a:rPr>
              <a:t>PPO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provides</a:t>
            </a:r>
            <a:r>
              <a:rPr sz="20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stable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efficient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training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by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carefully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updating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the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policy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in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controlled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80" dirty="0">
                <a:solidFill>
                  <a:srgbClr val="D0D5DA"/>
                </a:solidFill>
                <a:latin typeface="Microsoft Sans Serif"/>
                <a:cs typeface="Microsoft Sans Serif"/>
              </a:rPr>
              <a:t>steps</a:t>
            </a:r>
            <a:r>
              <a:rPr sz="1950" spc="80" dirty="0">
                <a:solidFill>
                  <a:srgbClr val="D0D5DA"/>
                </a:solidFill>
                <a:latin typeface="Microsoft Sans Serif"/>
                <a:cs typeface="Microsoft Sans Serif"/>
              </a:rPr>
              <a:t>—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avoiding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wild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swings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in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behavior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7200" y="7477125"/>
            <a:ext cx="8534400" cy="2276475"/>
            <a:chOff x="457200" y="7477125"/>
            <a:chExt cx="8534400" cy="2276475"/>
          </a:xfrm>
        </p:grpSpPr>
        <p:sp>
          <p:nvSpPr>
            <p:cNvPr id="34" name="object 34"/>
            <p:cNvSpPr/>
            <p:nvPr/>
          </p:nvSpPr>
          <p:spPr>
            <a:xfrm>
              <a:off x="476249" y="7477125"/>
              <a:ext cx="8515350" cy="2276475"/>
            </a:xfrm>
            <a:custGeom>
              <a:avLst/>
              <a:gdLst/>
              <a:ahLst/>
              <a:cxnLst/>
              <a:rect l="l" t="t" r="r" b="b"/>
              <a:pathLst>
                <a:path w="8515350" h="2276475">
                  <a:moveTo>
                    <a:pt x="8444153" y="2276474"/>
                  </a:moveTo>
                  <a:lnTo>
                    <a:pt x="53397" y="2276474"/>
                  </a:lnTo>
                  <a:lnTo>
                    <a:pt x="49680" y="2275985"/>
                  </a:lnTo>
                  <a:lnTo>
                    <a:pt x="14085" y="2250618"/>
                  </a:lnTo>
                  <a:lnTo>
                    <a:pt x="366" y="2210233"/>
                  </a:lnTo>
                  <a:lnTo>
                    <a:pt x="0" y="2205278"/>
                  </a:lnTo>
                  <a:lnTo>
                    <a:pt x="0" y="2200275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2" y="51661"/>
                  </a:lnTo>
                  <a:lnTo>
                    <a:pt x="8515350" y="71196"/>
                  </a:lnTo>
                  <a:lnTo>
                    <a:pt x="8515350" y="2205278"/>
                  </a:lnTo>
                  <a:lnTo>
                    <a:pt x="8499727" y="2246768"/>
                  </a:lnTo>
                  <a:lnTo>
                    <a:pt x="8463687" y="2272587"/>
                  </a:lnTo>
                  <a:lnTo>
                    <a:pt x="8449108" y="2275986"/>
                  </a:lnTo>
                  <a:lnTo>
                    <a:pt x="8444153" y="2276474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7477402"/>
              <a:ext cx="70485" cy="2276475"/>
            </a:xfrm>
            <a:custGeom>
              <a:avLst/>
              <a:gdLst/>
              <a:ahLst/>
              <a:cxnLst/>
              <a:rect l="l" t="t" r="r" b="b"/>
              <a:pathLst>
                <a:path w="70484" h="2276475">
                  <a:moveTo>
                    <a:pt x="70450" y="2275919"/>
                  </a:moveTo>
                  <a:lnTo>
                    <a:pt x="33857" y="2263366"/>
                  </a:lnTo>
                  <a:lnTo>
                    <a:pt x="5800" y="2229157"/>
                  </a:lnTo>
                  <a:lnTo>
                    <a:pt x="0" y="2199997"/>
                  </a:lnTo>
                  <a:lnTo>
                    <a:pt x="0" y="75922"/>
                  </a:lnTo>
                  <a:lnTo>
                    <a:pt x="12830" y="33578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099" y="75922"/>
                  </a:lnTo>
                  <a:lnTo>
                    <a:pt x="38099" y="2199997"/>
                  </a:lnTo>
                  <a:lnTo>
                    <a:pt x="44514" y="2242338"/>
                  </a:lnTo>
                  <a:lnTo>
                    <a:pt x="66287" y="2274262"/>
                  </a:lnTo>
                  <a:lnTo>
                    <a:pt x="70450" y="2275919"/>
                  </a:lnTo>
                  <a:close/>
                </a:path>
              </a:pathLst>
            </a:custGeom>
            <a:solidFill>
              <a:srgbClr val="38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5649" y="8448675"/>
              <a:ext cx="317500" cy="190500"/>
            </a:xfrm>
            <a:custGeom>
              <a:avLst/>
              <a:gdLst/>
              <a:ahLst/>
              <a:cxnLst/>
              <a:rect l="l" t="t" r="r" b="b"/>
              <a:pathLst>
                <a:path w="317500" h="190500">
                  <a:moveTo>
                    <a:pt x="222249" y="190499"/>
                  </a:moveTo>
                  <a:lnTo>
                    <a:pt x="317499" y="95249"/>
                  </a:lnTo>
                  <a:lnTo>
                    <a:pt x="222249" y="0"/>
                  </a:lnTo>
                </a:path>
                <a:path w="317500" h="190500">
                  <a:moveTo>
                    <a:pt x="95249" y="0"/>
                  </a:moveTo>
                  <a:lnTo>
                    <a:pt x="0" y="95249"/>
                  </a:lnTo>
                  <a:lnTo>
                    <a:pt x="95249" y="190499"/>
                  </a:lnTo>
                </a:path>
              </a:pathLst>
            </a:custGeom>
            <a:ln w="31749">
              <a:solidFill>
                <a:srgbClr val="38F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98450" y="7379899"/>
            <a:ext cx="3177540" cy="77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425" b="1" spc="-465" baseline="-16273" dirty="0">
                <a:solidFill>
                  <a:srgbClr val="38FF13"/>
                </a:solidFill>
                <a:latin typeface="Lucida Bright"/>
                <a:cs typeface="Lucida Bright"/>
              </a:rPr>
              <a:t>5</a:t>
            </a:r>
            <a:r>
              <a:rPr sz="7425" b="1" spc="-367" baseline="-16273" dirty="0">
                <a:solidFill>
                  <a:srgbClr val="38FF13"/>
                </a:solidFill>
                <a:latin typeface="Lucida Bright"/>
                <a:cs typeface="Lucida Bright"/>
              </a:rPr>
              <a:t> </a:t>
            </a:r>
            <a:r>
              <a:rPr sz="3050" b="1" spc="-145" dirty="0">
                <a:solidFill>
                  <a:srgbClr val="FFFFFF"/>
                </a:solidFill>
                <a:latin typeface="Arial"/>
                <a:cs typeface="Arial"/>
              </a:rPr>
              <a:t>Implementation</a:t>
            </a:r>
            <a:endParaRPr sz="3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44600" y="8124122"/>
            <a:ext cx="749744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Four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main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components</a:t>
            </a:r>
            <a:r>
              <a:rPr sz="200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work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together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:</a:t>
            </a:r>
            <a:r>
              <a:rPr sz="19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environment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150" dirty="0">
                <a:solidFill>
                  <a:srgbClr val="D0D5DA"/>
                </a:solidFill>
                <a:latin typeface="Microsoft Sans Serif"/>
                <a:cs typeface="Microsoft Sans Serif"/>
              </a:rPr>
              <a:t>&amp;</a:t>
            </a:r>
            <a:r>
              <a:rPr sz="19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physics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),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neural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network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brain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),</a:t>
            </a:r>
            <a:r>
              <a:rPr sz="19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training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loop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process</a:t>
            </a:r>
            <a:r>
              <a:rPr sz="19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),</a:t>
            </a:r>
            <a:r>
              <a:rPr sz="195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script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(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visualization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)</a:t>
            </a:r>
            <a:endParaRPr sz="195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296400" y="7477125"/>
            <a:ext cx="8534400" cy="2276475"/>
            <a:chOff x="9296400" y="7477125"/>
            <a:chExt cx="8534400" cy="2276475"/>
          </a:xfrm>
        </p:grpSpPr>
        <p:sp>
          <p:nvSpPr>
            <p:cNvPr id="40" name="object 40"/>
            <p:cNvSpPr/>
            <p:nvPr/>
          </p:nvSpPr>
          <p:spPr>
            <a:xfrm>
              <a:off x="9315449" y="7477125"/>
              <a:ext cx="8515350" cy="2276475"/>
            </a:xfrm>
            <a:custGeom>
              <a:avLst/>
              <a:gdLst/>
              <a:ahLst/>
              <a:cxnLst/>
              <a:rect l="l" t="t" r="r" b="b"/>
              <a:pathLst>
                <a:path w="8515350" h="2276475">
                  <a:moveTo>
                    <a:pt x="8444152" y="2276474"/>
                  </a:moveTo>
                  <a:lnTo>
                    <a:pt x="53397" y="2276474"/>
                  </a:lnTo>
                  <a:lnTo>
                    <a:pt x="49680" y="2275985"/>
                  </a:lnTo>
                  <a:lnTo>
                    <a:pt x="14084" y="2250618"/>
                  </a:lnTo>
                  <a:lnTo>
                    <a:pt x="365" y="2210233"/>
                  </a:lnTo>
                  <a:lnTo>
                    <a:pt x="0" y="2205278"/>
                  </a:lnTo>
                  <a:lnTo>
                    <a:pt x="0" y="2200275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8444152" y="0"/>
                  </a:lnTo>
                  <a:lnTo>
                    <a:pt x="8485642" y="15621"/>
                  </a:lnTo>
                  <a:lnTo>
                    <a:pt x="8511462" y="51661"/>
                  </a:lnTo>
                  <a:lnTo>
                    <a:pt x="8515349" y="71196"/>
                  </a:lnTo>
                  <a:lnTo>
                    <a:pt x="8515349" y="2205278"/>
                  </a:lnTo>
                  <a:lnTo>
                    <a:pt x="8499727" y="2246768"/>
                  </a:lnTo>
                  <a:lnTo>
                    <a:pt x="8463686" y="2272587"/>
                  </a:lnTo>
                  <a:lnTo>
                    <a:pt x="8449106" y="2275986"/>
                  </a:lnTo>
                  <a:lnTo>
                    <a:pt x="8444152" y="2276474"/>
                  </a:lnTo>
                  <a:close/>
                </a:path>
              </a:pathLst>
            </a:custGeom>
            <a:solidFill>
              <a:srgbClr val="1F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296400" y="7477402"/>
              <a:ext cx="70485" cy="2276475"/>
            </a:xfrm>
            <a:custGeom>
              <a:avLst/>
              <a:gdLst/>
              <a:ahLst/>
              <a:cxnLst/>
              <a:rect l="l" t="t" r="r" b="b"/>
              <a:pathLst>
                <a:path w="70484" h="2276475">
                  <a:moveTo>
                    <a:pt x="70450" y="2275919"/>
                  </a:moveTo>
                  <a:lnTo>
                    <a:pt x="33856" y="2263366"/>
                  </a:lnTo>
                  <a:lnTo>
                    <a:pt x="5799" y="2229157"/>
                  </a:lnTo>
                  <a:lnTo>
                    <a:pt x="0" y="2199997"/>
                  </a:lnTo>
                  <a:lnTo>
                    <a:pt x="0" y="75922"/>
                  </a:lnTo>
                  <a:lnTo>
                    <a:pt x="12829" y="33578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0"/>
                  </a:lnTo>
                  <a:lnTo>
                    <a:pt x="38099" y="75922"/>
                  </a:lnTo>
                  <a:lnTo>
                    <a:pt x="38099" y="2199997"/>
                  </a:lnTo>
                  <a:lnTo>
                    <a:pt x="44514" y="2242338"/>
                  </a:lnTo>
                  <a:lnTo>
                    <a:pt x="66286" y="2274262"/>
                  </a:lnTo>
                  <a:lnTo>
                    <a:pt x="70450" y="2275919"/>
                  </a:lnTo>
                  <a:close/>
                </a:path>
              </a:pathLst>
            </a:custGeom>
            <a:solidFill>
              <a:srgbClr val="FF6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94849" y="8401050"/>
              <a:ext cx="317500" cy="285750"/>
            </a:xfrm>
            <a:custGeom>
              <a:avLst/>
              <a:gdLst/>
              <a:ahLst/>
              <a:cxnLst/>
              <a:rect l="l" t="t" r="r" b="b"/>
              <a:pathLst>
                <a:path w="317500" h="285750">
                  <a:moveTo>
                    <a:pt x="31749" y="285749"/>
                  </a:moveTo>
                  <a:lnTo>
                    <a:pt x="31749" y="174624"/>
                  </a:lnTo>
                </a:path>
                <a:path w="317500" h="285750">
                  <a:moveTo>
                    <a:pt x="31749" y="111124"/>
                  </a:moveTo>
                  <a:lnTo>
                    <a:pt x="31749" y="0"/>
                  </a:lnTo>
                </a:path>
                <a:path w="317500" h="285750">
                  <a:moveTo>
                    <a:pt x="158749" y="285749"/>
                  </a:moveTo>
                  <a:lnTo>
                    <a:pt x="158749" y="142874"/>
                  </a:lnTo>
                </a:path>
                <a:path w="317500" h="285750">
                  <a:moveTo>
                    <a:pt x="158749" y="79374"/>
                  </a:moveTo>
                  <a:lnTo>
                    <a:pt x="158749" y="0"/>
                  </a:lnTo>
                </a:path>
                <a:path w="317500" h="285750">
                  <a:moveTo>
                    <a:pt x="285749" y="285749"/>
                  </a:moveTo>
                  <a:lnTo>
                    <a:pt x="285749" y="206374"/>
                  </a:lnTo>
                </a:path>
                <a:path w="317500" h="285750">
                  <a:moveTo>
                    <a:pt x="285749" y="142874"/>
                  </a:moveTo>
                  <a:lnTo>
                    <a:pt x="285749" y="0"/>
                  </a:lnTo>
                </a:path>
                <a:path w="317500" h="285750">
                  <a:moveTo>
                    <a:pt x="0" y="174624"/>
                  </a:moveTo>
                  <a:lnTo>
                    <a:pt x="63499" y="174624"/>
                  </a:lnTo>
                </a:path>
                <a:path w="317500" h="285750">
                  <a:moveTo>
                    <a:pt x="126999" y="79374"/>
                  </a:moveTo>
                  <a:lnTo>
                    <a:pt x="190499" y="79374"/>
                  </a:lnTo>
                </a:path>
                <a:path w="317500" h="285750">
                  <a:moveTo>
                    <a:pt x="253999" y="206374"/>
                  </a:moveTo>
                  <a:lnTo>
                    <a:pt x="317499" y="206374"/>
                  </a:lnTo>
                </a:path>
              </a:pathLst>
            </a:custGeom>
            <a:ln w="31749">
              <a:solidFill>
                <a:srgbClr val="FF6A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529911" y="7379899"/>
            <a:ext cx="3001010" cy="77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7425" b="1" spc="-382" baseline="-16273" dirty="0">
                <a:solidFill>
                  <a:srgbClr val="FF6A34"/>
                </a:solidFill>
                <a:latin typeface="Lucida Sans"/>
                <a:cs typeface="Lucida Sans"/>
              </a:rPr>
              <a:t>6</a:t>
            </a:r>
            <a:r>
              <a:rPr sz="7425" b="1" spc="-517" baseline="-16273" dirty="0">
                <a:solidFill>
                  <a:srgbClr val="FF6A34"/>
                </a:solidFill>
                <a:latin typeface="Lucida Sans"/>
                <a:cs typeface="Lucida Sans"/>
              </a:rPr>
              <a:t> </a:t>
            </a:r>
            <a:r>
              <a:rPr sz="3050" b="1" spc="-150" dirty="0">
                <a:solidFill>
                  <a:srgbClr val="FFFFFF"/>
                </a:solidFill>
                <a:latin typeface="Arial"/>
                <a:cs typeface="Arial"/>
              </a:rPr>
              <a:t>Customization</a:t>
            </a:r>
            <a:endParaRPr sz="305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pc="-20" dirty="0"/>
              <a:t>Slide</a:t>
            </a:r>
            <a:r>
              <a:rPr spc="-40" dirty="0"/>
              <a:t> </a:t>
            </a:r>
            <a:fld id="{81D60167-4931-47E6-BA6A-407CBD079E47}" type="slidenum">
              <a:rPr spc="-10" dirty="0"/>
              <a:t>22</a:t>
            </a:fld>
            <a:r>
              <a:rPr spc="-10" dirty="0"/>
              <a:t>/25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0083800" y="8124122"/>
            <a:ext cx="75139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25" dirty="0">
                <a:solidFill>
                  <a:srgbClr val="D0D5DA"/>
                </a:solidFill>
                <a:latin typeface="Microsoft Sans Serif"/>
                <a:cs typeface="Microsoft Sans Serif"/>
              </a:rPr>
              <a:t>You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can</a:t>
            </a:r>
            <a:r>
              <a:rPr sz="2000" spc="-10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customize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hyperparameters</a:t>
            </a:r>
            <a:r>
              <a:rPr sz="19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reward</a:t>
            </a:r>
            <a:r>
              <a:rPr sz="20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functions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9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track</a:t>
            </a:r>
            <a:r>
              <a:rPr sz="20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layouts</a:t>
            </a:r>
            <a:r>
              <a:rPr sz="19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,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physics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create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unique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challenges</a:t>
            </a:r>
            <a:r>
              <a:rPr sz="20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7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behaviors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909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99409" y="1039308"/>
            <a:ext cx="7889240" cy="957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100" spc="-335" dirty="0"/>
              <a:t>Questions</a:t>
            </a:r>
            <a:r>
              <a:rPr sz="6100" spc="-409" dirty="0"/>
              <a:t> </a:t>
            </a:r>
            <a:r>
              <a:rPr sz="5900" spc="-405" dirty="0">
                <a:latin typeface="Century Gothic"/>
                <a:cs typeface="Century Gothic"/>
              </a:rPr>
              <a:t>&amp;</a:t>
            </a:r>
            <a:r>
              <a:rPr sz="5900" spc="-365" dirty="0">
                <a:latin typeface="Century Gothic"/>
                <a:cs typeface="Century Gothic"/>
              </a:rPr>
              <a:t> </a:t>
            </a:r>
            <a:r>
              <a:rPr sz="6100" spc="-225" dirty="0"/>
              <a:t>Next</a:t>
            </a:r>
            <a:r>
              <a:rPr sz="6100" spc="-409" dirty="0"/>
              <a:t> </a:t>
            </a:r>
            <a:r>
              <a:rPr sz="6100" spc="-340" dirty="0"/>
              <a:t>Steps</a:t>
            </a:r>
            <a:endParaRPr sz="6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26500" y="2323866"/>
            <a:ext cx="603885" cy="603885"/>
          </a:xfrm>
          <a:custGeom>
            <a:avLst/>
            <a:gdLst/>
            <a:ahLst/>
            <a:cxnLst/>
            <a:rect l="l" t="t" r="r" b="b"/>
            <a:pathLst>
              <a:path w="603884" h="603885">
                <a:moveTo>
                  <a:pt x="187324" y="539983"/>
                </a:moveTo>
                <a:lnTo>
                  <a:pt x="226084" y="556383"/>
                </a:lnTo>
                <a:lnTo>
                  <a:pt x="266825" y="566910"/>
                </a:lnTo>
                <a:lnTo>
                  <a:pt x="308671" y="571340"/>
                </a:lnTo>
                <a:lnTo>
                  <a:pt x="317097" y="571483"/>
                </a:lnTo>
                <a:lnTo>
                  <a:pt x="325524" y="571378"/>
                </a:lnTo>
                <a:lnTo>
                  <a:pt x="367389" y="567139"/>
                </a:lnTo>
                <a:lnTo>
                  <a:pt x="408178" y="556798"/>
                </a:lnTo>
                <a:lnTo>
                  <a:pt x="447012" y="540575"/>
                </a:lnTo>
                <a:lnTo>
                  <a:pt x="483042" y="518825"/>
                </a:lnTo>
                <a:lnTo>
                  <a:pt x="515481" y="492023"/>
                </a:lnTo>
                <a:lnTo>
                  <a:pt x="543633" y="460747"/>
                </a:lnTo>
                <a:lnTo>
                  <a:pt x="566889" y="425670"/>
                </a:lnTo>
                <a:lnTo>
                  <a:pt x="584741" y="387557"/>
                </a:lnTo>
                <a:lnTo>
                  <a:pt x="596800" y="347243"/>
                </a:lnTo>
                <a:lnTo>
                  <a:pt x="602808" y="305595"/>
                </a:lnTo>
                <a:lnTo>
                  <a:pt x="603483" y="288755"/>
                </a:lnTo>
                <a:lnTo>
                  <a:pt x="603448" y="280335"/>
                </a:lnTo>
                <a:lnTo>
                  <a:pt x="599557" y="238436"/>
                </a:lnTo>
                <a:lnTo>
                  <a:pt x="589553" y="197556"/>
                </a:lnTo>
                <a:lnTo>
                  <a:pt x="573654" y="158589"/>
                </a:lnTo>
                <a:lnTo>
                  <a:pt x="552207" y="122385"/>
                </a:lnTo>
                <a:lnTo>
                  <a:pt x="525675" y="89724"/>
                </a:lnTo>
                <a:lnTo>
                  <a:pt x="494629" y="61309"/>
                </a:lnTo>
                <a:lnTo>
                  <a:pt x="459746" y="37762"/>
                </a:lnTo>
                <a:lnTo>
                  <a:pt x="421790" y="19597"/>
                </a:lnTo>
                <a:lnTo>
                  <a:pt x="381577" y="7204"/>
                </a:lnTo>
                <a:lnTo>
                  <a:pt x="339973" y="849"/>
                </a:lnTo>
                <a:lnTo>
                  <a:pt x="314727" y="0"/>
                </a:lnTo>
                <a:lnTo>
                  <a:pt x="306302" y="213"/>
                </a:lnTo>
                <a:lnTo>
                  <a:pt x="264488" y="4991"/>
                </a:lnTo>
                <a:lnTo>
                  <a:pt x="223836" y="15857"/>
                </a:lnTo>
                <a:lnTo>
                  <a:pt x="185220" y="32575"/>
                </a:lnTo>
                <a:lnTo>
                  <a:pt x="149473" y="54787"/>
                </a:lnTo>
                <a:lnTo>
                  <a:pt x="117375" y="82009"/>
                </a:lnTo>
                <a:lnTo>
                  <a:pt x="89629" y="113644"/>
                </a:lnTo>
                <a:lnTo>
                  <a:pt x="66830" y="149012"/>
                </a:lnTo>
                <a:lnTo>
                  <a:pt x="49469" y="187351"/>
                </a:lnTo>
                <a:lnTo>
                  <a:pt x="37928" y="227824"/>
                </a:lnTo>
                <a:lnTo>
                  <a:pt x="32457" y="269546"/>
                </a:lnTo>
                <a:lnTo>
                  <a:pt x="31999" y="286385"/>
                </a:lnTo>
                <a:lnTo>
                  <a:pt x="32143" y="294812"/>
                </a:lnTo>
                <a:lnTo>
                  <a:pt x="36572" y="336657"/>
                </a:lnTo>
                <a:lnTo>
                  <a:pt x="47100" y="377398"/>
                </a:lnTo>
                <a:lnTo>
                  <a:pt x="63499" y="416158"/>
                </a:lnTo>
                <a:lnTo>
                  <a:pt x="0" y="603483"/>
                </a:lnTo>
                <a:lnTo>
                  <a:pt x="187324" y="539983"/>
                </a:lnTo>
                <a:close/>
              </a:path>
            </a:pathLst>
          </a:custGeom>
          <a:ln w="63499">
            <a:solidFill>
              <a:srgbClr val="38FF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700" y="4679950"/>
            <a:ext cx="273050" cy="2730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5223013" y="2778489"/>
            <a:ext cx="7841972" cy="3860030"/>
          </a:xfrm>
          <a:prstGeom prst="rect">
            <a:avLst/>
          </a:prstGeom>
        </p:spPr>
        <p:txBody>
          <a:bodyPr vert="horz" wrap="square" lIns="0" tIns="104139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pc="-345" dirty="0"/>
              <a:t>Questions</a:t>
            </a:r>
            <a:r>
              <a:rPr sz="5900" spc="-345" dirty="0">
                <a:latin typeface="Century Gothic"/>
                <a:cs typeface="Century Gothic"/>
              </a:rPr>
              <a:t>?</a:t>
            </a:r>
            <a:endParaRPr sz="59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500" b="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Open</a:t>
            </a:r>
            <a:r>
              <a:rPr sz="2500" b="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2500" b="0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discussion</a:t>
            </a:r>
            <a:r>
              <a:rPr sz="2500" b="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2500" b="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200" dirty="0">
                <a:solidFill>
                  <a:srgbClr val="D0D5DA"/>
                </a:solidFill>
                <a:latin typeface="Microsoft Sans Serif"/>
                <a:cs typeface="Microsoft Sans Serif"/>
              </a:rPr>
              <a:t>RL</a:t>
            </a:r>
            <a:r>
              <a:rPr sz="2600" b="0" spc="-200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600" b="0" spc="-15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500" b="0" spc="-85" dirty="0">
                <a:solidFill>
                  <a:srgbClr val="D0D5DA"/>
                </a:solidFill>
                <a:latin typeface="Microsoft Sans Serif"/>
                <a:cs typeface="Microsoft Sans Serif"/>
              </a:rPr>
              <a:t>AI</a:t>
            </a:r>
            <a:r>
              <a:rPr sz="2500" b="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racing</a:t>
            </a:r>
            <a:r>
              <a:rPr sz="2600" b="0" spc="-45" dirty="0">
                <a:solidFill>
                  <a:srgbClr val="D0D5DA"/>
                </a:solidFill>
                <a:latin typeface="Britannic Bold"/>
                <a:cs typeface="Britannic Bold"/>
              </a:rPr>
              <a:t>,</a:t>
            </a:r>
            <a:r>
              <a:rPr sz="2600" b="0" spc="-150" dirty="0">
                <a:solidFill>
                  <a:srgbClr val="D0D5DA"/>
                </a:solidFill>
                <a:latin typeface="Britannic Bold"/>
                <a:cs typeface="Britannic Bold"/>
              </a:rPr>
              <a:t> </a:t>
            </a:r>
            <a:r>
              <a:rPr sz="2500" b="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500" b="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500" b="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implementation</a:t>
            </a:r>
            <a:r>
              <a:rPr sz="2600" b="0" spc="-35" dirty="0">
                <a:solidFill>
                  <a:srgbClr val="D0D5DA"/>
                </a:solidFill>
                <a:latin typeface="Britannic Bold"/>
                <a:cs typeface="Britannic Bold"/>
              </a:rPr>
              <a:t>.</a:t>
            </a:r>
            <a:endParaRPr sz="26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Britannic Bold"/>
              <a:cs typeface="Britannic Bold"/>
            </a:endParaRPr>
          </a:p>
          <a:p>
            <a:pPr marL="2342515">
              <a:lnSpc>
                <a:spcPct val="100000"/>
              </a:lnSpc>
              <a:spcBef>
                <a:spcPts val="5"/>
              </a:spcBef>
            </a:pPr>
            <a:r>
              <a:rPr sz="2950" spc="-150" dirty="0">
                <a:solidFill>
                  <a:srgbClr val="FF6A34"/>
                </a:solidFill>
              </a:rPr>
              <a:t>Ready</a:t>
            </a:r>
            <a:r>
              <a:rPr sz="2950" spc="-110" dirty="0">
                <a:solidFill>
                  <a:srgbClr val="FF6A34"/>
                </a:solidFill>
              </a:rPr>
              <a:t> </a:t>
            </a:r>
            <a:r>
              <a:rPr sz="2950" spc="-125" dirty="0">
                <a:solidFill>
                  <a:srgbClr val="FF6A34"/>
                </a:solidFill>
              </a:rPr>
              <a:t>to</a:t>
            </a:r>
            <a:r>
              <a:rPr sz="2950" spc="-114" dirty="0">
                <a:solidFill>
                  <a:srgbClr val="FF6A34"/>
                </a:solidFill>
              </a:rPr>
              <a:t> </a:t>
            </a:r>
            <a:r>
              <a:rPr sz="2950" spc="-130" dirty="0">
                <a:solidFill>
                  <a:srgbClr val="FF6A34"/>
                </a:solidFill>
              </a:rPr>
              <a:t>Get</a:t>
            </a:r>
            <a:r>
              <a:rPr sz="2950" spc="-114" dirty="0">
                <a:solidFill>
                  <a:srgbClr val="FF6A34"/>
                </a:solidFill>
              </a:rPr>
              <a:t> </a:t>
            </a:r>
            <a:r>
              <a:rPr sz="2950" spc="-10" dirty="0">
                <a:solidFill>
                  <a:srgbClr val="FF6A34"/>
                </a:solidFill>
              </a:rPr>
              <a:t>Started</a:t>
            </a:r>
            <a:r>
              <a:rPr sz="2950" spc="-10" dirty="0">
                <a:solidFill>
                  <a:srgbClr val="FF6A34"/>
                </a:solidFill>
                <a:latin typeface="Georgia"/>
                <a:cs typeface="Georgia"/>
              </a:rPr>
              <a:t>?</a:t>
            </a:r>
            <a:endParaRPr sz="2950">
              <a:latin typeface="Georgia"/>
              <a:cs typeface="Georgia"/>
            </a:endParaRPr>
          </a:p>
          <a:p>
            <a:pPr marL="1507490" indent="-438150">
              <a:lnSpc>
                <a:spcPct val="100000"/>
              </a:lnSpc>
              <a:spcBef>
                <a:spcPts val="935"/>
              </a:spcBef>
              <a:buClr>
                <a:srgbClr val="00BEFF"/>
              </a:buClr>
              <a:buSzPct val="90000"/>
              <a:buFont typeface="Arial"/>
              <a:buAutoNum type="arabicPeriod"/>
              <a:tabLst>
                <a:tab pos="1508125" algn="l"/>
              </a:tabLst>
            </a:pPr>
            <a:r>
              <a:rPr sz="2000" b="0" spc="-55" dirty="0">
                <a:latin typeface="Microsoft Sans Serif"/>
                <a:cs typeface="Microsoft Sans Serif"/>
              </a:rPr>
              <a:t>Clone</a:t>
            </a:r>
            <a:r>
              <a:rPr sz="2000" b="0" spc="-80" dirty="0">
                <a:latin typeface="Microsoft Sans Serif"/>
                <a:cs typeface="Microsoft Sans Serif"/>
              </a:rPr>
              <a:t> </a:t>
            </a:r>
            <a:r>
              <a:rPr sz="2000" b="0" dirty="0">
                <a:latin typeface="Microsoft Sans Serif"/>
                <a:cs typeface="Microsoft Sans Serif"/>
              </a:rPr>
              <a:t>the</a:t>
            </a:r>
            <a:r>
              <a:rPr sz="2000" b="0" spc="-120" dirty="0">
                <a:latin typeface="Microsoft Sans Serif"/>
                <a:cs typeface="Microsoft Sans Serif"/>
              </a:rPr>
              <a:t> </a:t>
            </a:r>
            <a:r>
              <a:rPr sz="2000" b="0" spc="-65" dirty="0">
                <a:latin typeface="Microsoft Sans Serif"/>
                <a:cs typeface="Microsoft Sans Serif"/>
              </a:rPr>
              <a:t>DcmHighwayEnv </a:t>
            </a:r>
            <a:r>
              <a:rPr sz="2000" b="0" spc="-10" dirty="0">
                <a:latin typeface="Microsoft Sans Serif"/>
                <a:cs typeface="Microsoft Sans Serif"/>
              </a:rPr>
              <a:t>repo</a:t>
            </a:r>
            <a:r>
              <a:rPr sz="2000" b="0" spc="-90" dirty="0">
                <a:latin typeface="Microsoft Sans Serif"/>
                <a:cs typeface="Microsoft Sans Serif"/>
              </a:rPr>
              <a:t> </a:t>
            </a:r>
            <a:r>
              <a:rPr sz="2000" b="0" dirty="0">
                <a:latin typeface="Microsoft Sans Serif"/>
                <a:cs typeface="Microsoft Sans Serif"/>
              </a:rPr>
              <a:t>from</a:t>
            </a:r>
            <a:r>
              <a:rPr sz="2000" b="0" spc="-90" dirty="0"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latin typeface="Microsoft Sans Serif"/>
                <a:cs typeface="Microsoft Sans Serif"/>
              </a:rPr>
              <a:t>GitHub</a:t>
            </a:r>
            <a:endParaRPr sz="2000">
              <a:latin typeface="Microsoft Sans Serif"/>
              <a:cs typeface="Microsoft Sans Serif"/>
            </a:endParaRPr>
          </a:p>
          <a:p>
            <a:pPr marL="1507490" indent="-438150">
              <a:lnSpc>
                <a:spcPct val="100000"/>
              </a:lnSpc>
              <a:spcBef>
                <a:spcPts val="600"/>
              </a:spcBef>
              <a:buClr>
                <a:srgbClr val="38FF13"/>
              </a:buClr>
              <a:buSzPct val="90000"/>
              <a:buFont typeface="Georgia"/>
              <a:buAutoNum type="arabicPeriod"/>
              <a:tabLst>
                <a:tab pos="1508125" algn="l"/>
              </a:tabLst>
            </a:pPr>
            <a:r>
              <a:rPr sz="2000" b="0" spc="-35" dirty="0">
                <a:latin typeface="Microsoft Sans Serif"/>
                <a:cs typeface="Microsoft Sans Serif"/>
              </a:rPr>
              <a:t>Install</a:t>
            </a:r>
            <a:r>
              <a:rPr sz="2000" b="0" spc="-40" dirty="0">
                <a:latin typeface="Microsoft Sans Serif"/>
                <a:cs typeface="Microsoft Sans Serif"/>
              </a:rPr>
              <a:t> </a:t>
            </a:r>
            <a:r>
              <a:rPr sz="2000" b="0" spc="-35" dirty="0">
                <a:latin typeface="Microsoft Sans Serif"/>
                <a:cs typeface="Microsoft Sans Serif"/>
              </a:rPr>
              <a:t>dependencies </a:t>
            </a:r>
            <a:r>
              <a:rPr sz="1950" b="0" spc="-45" dirty="0">
                <a:latin typeface="Comic Sans MS"/>
                <a:cs typeface="Comic Sans MS"/>
              </a:rPr>
              <a:t>(</a:t>
            </a:r>
            <a:r>
              <a:rPr sz="2000" b="0" spc="-45" dirty="0">
                <a:latin typeface="Microsoft Sans Serif"/>
                <a:cs typeface="Microsoft Sans Serif"/>
              </a:rPr>
              <a:t>Python</a:t>
            </a:r>
            <a:r>
              <a:rPr sz="1950" b="0" spc="-45" dirty="0">
                <a:latin typeface="Comic Sans MS"/>
                <a:cs typeface="Comic Sans MS"/>
              </a:rPr>
              <a:t>,</a:t>
            </a:r>
            <a:r>
              <a:rPr sz="1950" b="0" spc="-85" dirty="0">
                <a:latin typeface="Comic Sans MS"/>
                <a:cs typeface="Comic Sans MS"/>
              </a:rPr>
              <a:t> </a:t>
            </a:r>
            <a:r>
              <a:rPr sz="2000" b="0" spc="-80" dirty="0">
                <a:latin typeface="Microsoft Sans Serif"/>
                <a:cs typeface="Microsoft Sans Serif"/>
              </a:rPr>
              <a:t>PyTorch</a:t>
            </a:r>
            <a:r>
              <a:rPr sz="1950" b="0" spc="-80" dirty="0">
                <a:latin typeface="Comic Sans MS"/>
                <a:cs typeface="Comic Sans MS"/>
              </a:rPr>
              <a:t>, </a:t>
            </a:r>
            <a:r>
              <a:rPr sz="2000" b="0" spc="-10" dirty="0">
                <a:latin typeface="Microsoft Sans Serif"/>
                <a:cs typeface="Microsoft Sans Serif"/>
              </a:rPr>
              <a:t>PyGame</a:t>
            </a:r>
            <a:r>
              <a:rPr sz="1950" b="0" spc="-10" dirty="0">
                <a:latin typeface="Comic Sans MS"/>
                <a:cs typeface="Comic Sans MS"/>
              </a:rPr>
              <a:t>)</a:t>
            </a:r>
            <a:endParaRPr sz="1950">
              <a:latin typeface="Comic Sans MS"/>
              <a:cs typeface="Comic Sans MS"/>
            </a:endParaRPr>
          </a:p>
          <a:p>
            <a:pPr marL="1507490" indent="-438150">
              <a:lnSpc>
                <a:spcPct val="100000"/>
              </a:lnSpc>
              <a:spcBef>
                <a:spcPts val="600"/>
              </a:spcBef>
              <a:buClr>
                <a:srgbClr val="FF6A34"/>
              </a:buClr>
              <a:buSzPct val="90000"/>
              <a:buFont typeface="Arial"/>
              <a:buAutoNum type="arabicPeriod"/>
              <a:tabLst>
                <a:tab pos="1508125" algn="l"/>
              </a:tabLst>
            </a:pPr>
            <a:r>
              <a:rPr sz="2000" b="0" spc="-135" dirty="0">
                <a:latin typeface="Microsoft Sans Serif"/>
                <a:cs typeface="Microsoft Sans Serif"/>
              </a:rPr>
              <a:t>Run</a:t>
            </a:r>
            <a:r>
              <a:rPr sz="2000" b="0" spc="-25" dirty="0">
                <a:latin typeface="Microsoft Sans Serif"/>
                <a:cs typeface="Microsoft Sans Serif"/>
              </a:rPr>
              <a:t> </a:t>
            </a:r>
            <a:r>
              <a:rPr sz="2000" b="0" dirty="0">
                <a:latin typeface="Microsoft Sans Serif"/>
                <a:cs typeface="Microsoft Sans Serif"/>
              </a:rPr>
              <a:t>the</a:t>
            </a:r>
            <a:r>
              <a:rPr sz="2000" b="0" spc="-130" dirty="0"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latin typeface="Microsoft Sans Serif"/>
                <a:cs typeface="Microsoft Sans Serif"/>
              </a:rPr>
              <a:t>default</a:t>
            </a:r>
            <a:r>
              <a:rPr sz="2000" b="0" spc="-75" dirty="0">
                <a:latin typeface="Microsoft Sans Serif"/>
                <a:cs typeface="Microsoft Sans Serif"/>
              </a:rPr>
              <a:t> </a:t>
            </a:r>
            <a:r>
              <a:rPr sz="2000" b="0" spc="-25" dirty="0">
                <a:latin typeface="Microsoft Sans Serif"/>
                <a:cs typeface="Microsoft Sans Serif"/>
              </a:rPr>
              <a:t>training</a:t>
            </a:r>
            <a:r>
              <a:rPr sz="2000" b="0" spc="-80" dirty="0"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latin typeface="Microsoft Sans Serif"/>
                <a:cs typeface="Microsoft Sans Serif"/>
              </a:rPr>
              <a:t>script</a:t>
            </a:r>
            <a:endParaRPr sz="2000">
              <a:latin typeface="Microsoft Sans Serif"/>
              <a:cs typeface="Microsoft Sans Serif"/>
            </a:endParaRPr>
          </a:p>
          <a:p>
            <a:pPr marL="1507490" indent="-438150">
              <a:lnSpc>
                <a:spcPct val="100000"/>
              </a:lnSpc>
              <a:spcBef>
                <a:spcPts val="600"/>
              </a:spcBef>
              <a:buClr>
                <a:srgbClr val="00BEFF"/>
              </a:buClr>
              <a:buSzPct val="90000"/>
              <a:buFont typeface="Arial"/>
              <a:buAutoNum type="arabicPeriod"/>
              <a:tabLst>
                <a:tab pos="1508125" algn="l"/>
              </a:tabLst>
            </a:pPr>
            <a:r>
              <a:rPr sz="2000" b="0" spc="-50" dirty="0">
                <a:latin typeface="Microsoft Sans Serif"/>
                <a:cs typeface="Microsoft Sans Serif"/>
              </a:rPr>
              <a:t>Experiment</a:t>
            </a:r>
            <a:r>
              <a:rPr sz="2000" b="0" spc="-85" dirty="0">
                <a:latin typeface="Microsoft Sans Serif"/>
                <a:cs typeface="Microsoft Sans Serif"/>
              </a:rPr>
              <a:t> </a:t>
            </a:r>
            <a:r>
              <a:rPr sz="2000" b="0" dirty="0">
                <a:latin typeface="Microsoft Sans Serif"/>
                <a:cs typeface="Microsoft Sans Serif"/>
              </a:rPr>
              <a:t>with</a:t>
            </a:r>
            <a:r>
              <a:rPr sz="2000" b="0" spc="-70" dirty="0">
                <a:latin typeface="Microsoft Sans Serif"/>
                <a:cs typeface="Microsoft Sans Serif"/>
              </a:rPr>
              <a:t> </a:t>
            </a:r>
            <a:r>
              <a:rPr sz="2000" b="0" spc="-35" dirty="0">
                <a:latin typeface="Microsoft Sans Serif"/>
                <a:cs typeface="Microsoft Sans Serif"/>
              </a:rPr>
              <a:t>rewards</a:t>
            </a:r>
            <a:r>
              <a:rPr sz="2000" b="0" spc="-60" dirty="0">
                <a:latin typeface="Microsoft Sans Serif"/>
                <a:cs typeface="Microsoft Sans Serif"/>
              </a:rPr>
              <a:t> </a:t>
            </a:r>
            <a:r>
              <a:rPr sz="1950" b="0" spc="-120" dirty="0">
                <a:latin typeface="Comic Sans MS"/>
                <a:cs typeface="Comic Sans MS"/>
              </a:rPr>
              <a:t>&amp;</a:t>
            </a:r>
            <a:r>
              <a:rPr sz="1950" b="0" spc="-80" dirty="0">
                <a:latin typeface="Comic Sans MS"/>
                <a:cs typeface="Comic Sans MS"/>
              </a:rPr>
              <a:t> </a:t>
            </a:r>
            <a:r>
              <a:rPr lang="en-US" sz="2000" b="0" spc="-10" dirty="0">
                <a:latin typeface="Microsoft Sans Serif"/>
                <a:cs typeface="Microsoft Sans Serif"/>
              </a:rPr>
              <a:t>hyperparameters</a:t>
            </a:r>
            <a:endParaRPr sz="2000" dirty="0">
              <a:solidFill>
                <a:srgbClr val="FFFFFF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500" y="9492487"/>
            <a:ext cx="122364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0" dirty="0">
                <a:solidFill>
                  <a:srgbClr val="38FF13"/>
                </a:solidFill>
                <a:latin typeface="Microsoft Sans Serif"/>
                <a:cs typeface="Microsoft Sans Serif"/>
              </a:rPr>
              <a:t>Thank</a:t>
            </a:r>
            <a:r>
              <a:rPr sz="1950" spc="-114" dirty="0">
                <a:solidFill>
                  <a:srgbClr val="38FF13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38FF13"/>
                </a:solidFill>
                <a:latin typeface="Microsoft Sans Serif"/>
                <a:cs typeface="Microsoft Sans Serif"/>
              </a:rPr>
              <a:t>you!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99842" y="9552047"/>
            <a:ext cx="84391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Slide</a:t>
            </a:r>
            <a:r>
              <a:rPr sz="130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25/25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0D5D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What We're Building</vt:lpstr>
      <vt:lpstr>Competition Format</vt:lpstr>
      <vt:lpstr>Why This Is Challenging</vt:lpstr>
      <vt:lpstr>Traditional Programming vs. AI Learning</vt:lpstr>
      <vt:lpstr>Enter Reinforcement Learning</vt:lpstr>
      <vt:lpstr>What is Reinforcement Learning?</vt:lpstr>
      <vt:lpstr>Why RL for Racing?</vt:lpstr>
      <vt:lpstr>The RL Learning Cycle</vt:lpstr>
      <vt:lpstr>Rewards and Penalties</vt:lpstr>
      <vt:lpstr>Learning Over Time</vt:lpstr>
      <vt:lpstr>Essential Vocabulary Part 1 Understanding the Core Components</vt:lpstr>
      <vt:lpstr>Essential Vocabulary Part 2 Understanding Feedback and Learning</vt:lpstr>
      <vt:lpstr>PPO Algorithm Introduction</vt:lpstr>
      <vt:lpstr>DQN Algorithm Introduction</vt:lpstr>
      <vt:lpstr>The Neural Network network.py</vt:lpstr>
      <vt:lpstr>The Training Loop</vt:lpstr>
      <vt:lpstr>PPO Algorithm in Action</vt:lpstr>
      <vt:lpstr>Racing Trained Agents race.py</vt:lpstr>
      <vt:lpstr>Hyperparameters You Can Tweak These are the key 'knobs' to adjust your AI's learning behavior.</vt:lpstr>
      <vt:lpstr>Reward Function Customization</vt:lpstr>
      <vt:lpstr>Summary What We've Learned</vt:lpstr>
      <vt:lpstr>Questions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148</cp:revision>
  <dcterms:created xsi:type="dcterms:W3CDTF">2025-10-15T11:49:35Z</dcterms:created>
  <dcterms:modified xsi:type="dcterms:W3CDTF">2026-01-07T10:29:28Z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LastSaved">
    <vt:filetime>2025-10-15T00:00:00Z</vt:filetime>
  </property>
</Properties>
</file>